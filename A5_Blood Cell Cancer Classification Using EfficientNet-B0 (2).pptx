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5" r:id="rId15"/>
    <p:sldId id="268" r:id="rId16"/>
    <p:sldId id="269" r:id="rId17"/>
    <p:sldId id="270" r:id="rId18"/>
    <p:sldId id="271" r:id="rId19"/>
    <p:sldId id="272" r:id="rId20"/>
    <p:sldId id="283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4" r:id="rId29"/>
    <p:sldId id="280" r:id="rId30"/>
    <p:sldId id="281" r:id="rId31"/>
    <p:sldId id="285" r:id="rId32"/>
    <p:sldId id="282" r:id="rId33"/>
  </p:sldIdLst>
  <p:sldSz cx="12192000" cy="6858000"/>
  <p:notesSz cx="6858000" cy="12192000"/>
  <p:embeddedFontLst>
    <p:embeddedFont>
      <p:font typeface="Oranienbaum" panose="02000506080000020003" pitchFamily="34" charset="0"/>
      <p:regular r:id="rId37"/>
    </p:embeddedFont>
    <p:embeddedFont>
      <p:font typeface="Oranienbaum" panose="02000506080000020003" pitchFamily="34" charset="-122"/>
      <p:regular r:id="rId38"/>
    </p:embeddedFont>
    <p:embeddedFont>
      <p:font typeface="Oranienbaum" panose="02000506080000020003" pitchFamily="34" charset="-120"/>
      <p:regular r:id="rId39"/>
    </p:embeddedFont>
    <p:embeddedFont>
      <p:font typeface="Sorts Mill Goudy" panose="02000503000000000000" pitchFamily="34" charset="0"/>
      <p:regular r:id="rId40"/>
    </p:embeddedFont>
    <p:embeddedFont>
      <p:font typeface="Sorts Mill Goudy" panose="02000503000000000000" pitchFamily="34" charset="-122"/>
      <p:regular r:id="rId41"/>
    </p:embeddedFont>
    <p:embeddedFont>
      <p:font typeface="Sorts Mill Goudy" panose="02000503000000000000" pitchFamily="34" charset="-120"/>
      <p:regular r:id="rId42"/>
    </p:embeddedFont>
    <p:embeddedFont>
      <p:font typeface="Quattrocento Sans" panose="020B0502050000020003" pitchFamily="34" charset="0"/>
      <p:regular r:id="rId43"/>
      <p:bold r:id="rId44"/>
      <p:italic r:id="rId45"/>
      <p:boldItalic r:id="rId46"/>
    </p:embeddedFont>
    <p:embeddedFont>
      <p:font typeface="Quattrocento Sans" panose="020B0502050000020003" pitchFamily="34" charset="-122"/>
      <p:regular r:id="rId47"/>
      <p:bold r:id="rId48"/>
      <p:italic r:id="rId49"/>
      <p:boldItalic r:id="rId50"/>
    </p:embeddedFont>
    <p:embeddedFont>
      <p:font typeface="Quattrocento Sans" panose="020B0502050000020003" pitchFamily="34" charset="-120"/>
      <p:regular r:id="rId51"/>
      <p:bold r:id="rId52"/>
      <p:italic r:id="rId53"/>
      <p:boldItalic r:id="rId54"/>
    </p:embeddedFont>
    <p:embeddedFont>
      <p:font typeface="Calibri" panose="020F0502020204030204" charset="0"/>
      <p:regular r:id="rId55"/>
      <p:bold r:id="rId56"/>
      <p:italic r:id="rId57"/>
      <p:boldItalic r:id="rId58"/>
    </p:embeddedFont>
    <p:embeddedFont>
      <p:font typeface="Microsoft YaHei" panose="020B0503020204020204" charset="-122"/>
      <p:regular r:id="rId59"/>
      <p:bold r:id="rId60"/>
    </p:embeddedFont>
    <p:embeddedFont>
      <p:font typeface="Noto Sans SC" panose="020B0200000000000000" pitchFamily="34" charset="-122"/>
      <p:regular r:id="rId61"/>
    </p:embeddedFont>
    <p:embeddedFont>
      <p:font typeface="Noto Sans SC" panose="020B0200000000000000" pitchFamily="34" charset="-120"/>
      <p:regular r:id="rId62"/>
    </p:embeddedFont>
    <p:embeddedFont>
      <p:font typeface="MiSans" pitchFamily="34" charset="-122"/>
      <p:regular r:id="rId63"/>
    </p:embeddedFont>
    <p:embeddedFont>
      <p:font typeface="MiSans" pitchFamily="34" charset="-120"/>
      <p:regular r:id="rId64"/>
    </p:embeddedFont>
    <p:embeddedFont>
      <p:font typeface="Microsoft YaHei" panose="020B0503020204020204" pitchFamily="34" charset="-120"/>
      <p:regular r:id="rId65"/>
      <p:bold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0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6" Type="http://schemas.openxmlformats.org/officeDocument/2006/relationships/font" Target="fonts/font30.fntdata"/><Relationship Id="rId65" Type="http://schemas.openxmlformats.org/officeDocument/2006/relationships/font" Target="fonts/font29.fntdata"/><Relationship Id="rId64" Type="http://schemas.openxmlformats.org/officeDocument/2006/relationships/font" Target="fonts/font28.fntdata"/><Relationship Id="rId63" Type="http://schemas.openxmlformats.org/officeDocument/2006/relationships/font" Target="fonts/font27.fntdata"/><Relationship Id="rId62" Type="http://schemas.openxmlformats.org/officeDocument/2006/relationships/font" Target="fonts/font26.fntdata"/><Relationship Id="rId61" Type="http://schemas.openxmlformats.org/officeDocument/2006/relationships/font" Target="fonts/font25.fntdata"/><Relationship Id="rId60" Type="http://schemas.openxmlformats.org/officeDocument/2006/relationships/font" Target="fonts/font24.fntdata"/><Relationship Id="rId6" Type="http://schemas.openxmlformats.org/officeDocument/2006/relationships/slide" Target="slides/slide3.xml"/><Relationship Id="rId59" Type="http://schemas.openxmlformats.org/officeDocument/2006/relationships/font" Target="fonts/font23.fntdata"/><Relationship Id="rId58" Type="http://schemas.openxmlformats.org/officeDocument/2006/relationships/font" Target="fonts/font22.fntdata"/><Relationship Id="rId57" Type="http://schemas.openxmlformats.org/officeDocument/2006/relationships/font" Target="fonts/font21.fntdata"/><Relationship Id="rId56" Type="http://schemas.openxmlformats.org/officeDocument/2006/relationships/font" Target="fonts/font20.fntdata"/><Relationship Id="rId55" Type="http://schemas.openxmlformats.org/officeDocument/2006/relationships/font" Target="fonts/font19.fntdata"/><Relationship Id="rId54" Type="http://schemas.openxmlformats.org/officeDocument/2006/relationships/font" Target="fonts/font18.fntdata"/><Relationship Id="rId53" Type="http://schemas.openxmlformats.org/officeDocument/2006/relationships/font" Target="fonts/font17.fntdata"/><Relationship Id="rId52" Type="http://schemas.openxmlformats.org/officeDocument/2006/relationships/font" Target="fonts/font16.fntdata"/><Relationship Id="rId51" Type="http://schemas.openxmlformats.org/officeDocument/2006/relationships/font" Target="fonts/font15.fntdata"/><Relationship Id="rId50" Type="http://schemas.openxmlformats.org/officeDocument/2006/relationships/font" Target="fonts/font14.fntdata"/><Relationship Id="rId5" Type="http://schemas.openxmlformats.org/officeDocument/2006/relationships/slide" Target="slides/slide2.xml"/><Relationship Id="rId49" Type="http://schemas.openxmlformats.org/officeDocument/2006/relationships/font" Target="fonts/font13.fntdata"/><Relationship Id="rId48" Type="http://schemas.openxmlformats.org/officeDocument/2006/relationships/font" Target="fonts/font12.fntdata"/><Relationship Id="rId47" Type="http://schemas.openxmlformats.org/officeDocument/2006/relationships/font" Target="fonts/font11.fntdata"/><Relationship Id="rId46" Type="http://schemas.openxmlformats.org/officeDocument/2006/relationships/font" Target="fonts/font10.fntdata"/><Relationship Id="rId45" Type="http://schemas.openxmlformats.org/officeDocument/2006/relationships/font" Target="fonts/font9.fntdata"/><Relationship Id="rId44" Type="http://schemas.openxmlformats.org/officeDocument/2006/relationships/font" Target="fonts/font8.fntdata"/><Relationship Id="rId43" Type="http://schemas.openxmlformats.org/officeDocument/2006/relationships/font" Target="fonts/font7.fntdata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359929" y="2048874"/>
            <a:ext cx="739140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Blood Cell Cancer Classification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Using EfficientNet-B0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82305" y="3483246"/>
            <a:ext cx="5746649" cy="193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Deep Learning Approach for Acute Lymphoblastic Leukemia Detection</a:t>
            </a:r>
            <a:endParaRPr lang="en-US" sz="1300" dirty="0"/>
          </a:p>
        </p:txBody>
      </p:sp>
      <p:pic>
        <p:nvPicPr>
          <p:cNvPr id="11" name="Picture 2" descr="ANNUAL REPORTS ON EXAMINATIONS AND RESULT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204" y="368696"/>
            <a:ext cx="1363473" cy="136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1"/>
          <p:cNvSpPr/>
          <p:nvPr/>
        </p:nvSpPr>
        <p:spPr>
          <a:xfrm>
            <a:off x="1950606" y="465300"/>
            <a:ext cx="8048106" cy="1266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1F2937"/>
                </a:solidFill>
                <a:latin typeface="Oranienbaum" panose="02000506080000020003" pitchFamily="34" charset="0"/>
              </a:rPr>
              <a:t>Seshadri Rao Gudlavalleru Engineering College</a:t>
            </a:r>
            <a:endParaRPr lang="en-US" sz="3000" b="1" dirty="0">
              <a:solidFill>
                <a:srgbClr val="1F2937"/>
              </a:solidFill>
              <a:latin typeface="Oranienbaum" panose="02000506080000020003" pitchFamily="34" charset="0"/>
            </a:endParaRPr>
          </a:p>
          <a:p>
            <a:pPr algn="ctr"/>
            <a:r>
              <a:rPr lang="en-GB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Department of Artificial Intelligence and Data Science</a:t>
            </a:r>
            <a:endParaRPr lang="en-GB" sz="2000" dirty="0">
              <a:solidFill>
                <a:schemeClr val="tx2">
                  <a:lumMod val="60000"/>
                  <a:lumOff val="4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(An Autonomous Institute with Permanent Affiliation to JNTUK, Kakinada)</a:t>
            </a:r>
            <a:endParaRPr lang="en-GB" sz="1300" dirty="0">
              <a:solidFill>
                <a:schemeClr val="tx2">
                  <a:lumMod val="60000"/>
                  <a:lumOff val="4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Seshadri Rao Knowledge Village, Gudlavalleru -521356, Andhra Pradesh</a:t>
            </a: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Sorts Mill Goudy" panose="02000503000000000000" pitchFamily="34" charset="0"/>
              </a:rPr>
              <a:t> </a:t>
            </a:r>
            <a:endParaRPr lang="en-US" sz="1300" dirty="0">
              <a:solidFill>
                <a:schemeClr val="tx2">
                  <a:lumMod val="60000"/>
                  <a:lumOff val="40000"/>
                </a:schemeClr>
              </a:solidFill>
              <a:latin typeface="Sorts Mill Goudy" panose="02000503000000000000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81510" y="4214474"/>
            <a:ext cx="27758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K. Lakshmi Sowjanya          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Ch. Charvi Sri                      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D. Hima Naga Sree              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K. Mamatha                          </a:t>
            </a:r>
            <a:endParaRPr lang="en-IN" sz="1600" dirty="0">
              <a:solidFill>
                <a:schemeClr val="bg2">
                  <a:lumMod val="1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57366" y="4221958"/>
            <a:ext cx="18505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(22481A5454)         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(23485A5403)                      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(22481A5414)              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Sorts Mill Goudy" panose="02000503000000000000" pitchFamily="34" charset="0"/>
                <a:cs typeface="Times New Roman" panose="02020603050405020304" pitchFamily="18" charset="0"/>
              </a:rPr>
              <a:t>(22481A5440)                         </a:t>
            </a:r>
            <a:endParaRPr lang="en-IN" sz="1600" dirty="0">
              <a:solidFill>
                <a:schemeClr val="bg2">
                  <a:lumMod val="10000"/>
                </a:schemeClr>
              </a:solidFill>
              <a:latin typeface="Sorts Mill Goudy" panose="02000503000000000000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59528" y="5851462"/>
            <a:ext cx="35604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Sorts Mill Goudy" panose="02000503000000000000" pitchFamily="34" charset="0"/>
                <a:cs typeface="Times New Roman" panose="02020603050405020304" pitchFamily="18" charset="0"/>
              </a:rPr>
              <a:t>Under the Gudiance of  Ms.G.Madhuri,</a:t>
            </a:r>
            <a:endParaRPr lang="en-IN" sz="1500" dirty="0">
              <a:latin typeface="Sorts Mill Goudy" panose="02000503000000000000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93624" y="5833926"/>
            <a:ext cx="128622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Sorts Mill Goudy" panose="02000503000000000000" pitchFamily="34" charset="0"/>
                <a:cs typeface="Times New Roman" panose="02020603050405020304" pitchFamily="18" charset="0"/>
              </a:rPr>
              <a:t>M.Tech</a:t>
            </a:r>
            <a:endParaRPr lang="en-IN" sz="1500" dirty="0">
              <a:latin typeface="Sorts Mill Goudy" panose="02000503000000000000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83580" y="5841737"/>
            <a:ext cx="285827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Sorts Mill Goudy" panose="02000503000000000000" pitchFamily="34" charset="0"/>
                <a:cs typeface="Times New Roman" panose="02020603050405020304" pitchFamily="18" charset="0"/>
              </a:rPr>
              <a:t>(Assistant professor)</a:t>
            </a:r>
            <a:endParaRPr lang="en-IN" sz="1500" dirty="0">
              <a:latin typeface="Sorts Mill Goudy" panose="02000503000000000000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Shape 0"/>
          <p:cNvSpPr/>
          <p:nvPr/>
        </p:nvSpPr>
        <p:spPr>
          <a:xfrm>
            <a:off x="0" y="5842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33375" y="1409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1485900"/>
            <a:ext cx="2790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Abstract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790700"/>
            <a:ext cx="2771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Research overview and key achievements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46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76975" y="1409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34200" y="1485900"/>
            <a:ext cx="2638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4200" y="1790700"/>
            <a:ext cx="2619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Blood cancer and diagnostic challenges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2171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3375" y="2171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2247900"/>
            <a:ext cx="2266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25527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Need for automated classification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24600" y="2171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76975" y="2171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4200" y="2247900"/>
            <a:ext cx="2095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Objectives &amp; Scope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0" y="2552700"/>
            <a:ext cx="2076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Research goals and boundaries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2933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3375" y="2933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34200" y="2945823"/>
            <a:ext cx="2686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Technologies &amp; Methodologies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4200" y="3194166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Tools and frameworks used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4600" y="2933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76975" y="2933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600" y="2961755"/>
            <a:ext cx="2114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0125" y="3266555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 source and characteristics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3695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3375" y="3695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0600" y="3771900"/>
            <a:ext cx="1990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4076700"/>
            <a:ext cx="1971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Pipeline and transformations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4600" y="3695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76975" y="3695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34200" y="3771900"/>
            <a:ext cx="2562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EfficientNet-B0 Architecture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34200" y="4076700"/>
            <a:ext cx="2543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Algorithm and neural network design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000" y="4457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3375" y="4457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0600" y="4533900"/>
            <a:ext cx="2924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Model Design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90600" y="4838700"/>
            <a:ext cx="2905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Proposed architecture and transfer learning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4600" y="4457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76975" y="4457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34200" y="4533900"/>
            <a:ext cx="2171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Training Process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34200" y="48387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Configuration and optimization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1000" y="521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33375" y="5219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11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90600" y="5295900"/>
            <a:ext cx="2343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90600" y="5600700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Performance measurement criteria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521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276975" y="5219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12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34200" y="5295900"/>
            <a:ext cx="2400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Results &amp; Analysis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34200" y="5600700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Performance evaluation and graphs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1000" y="5981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33375" y="5981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13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90600" y="6057900"/>
            <a:ext cx="2400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90600" y="6362700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Summary and research directions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RESEARCH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Abstract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490" y="1371481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7700" y="1333500"/>
            <a:ext cx="6972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Research </a:t>
            </a: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6160" y="1978218"/>
            <a:ext cx="694372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Blood cancer, specifically </a:t>
            </a:r>
            <a:r>
              <a:rPr lang="en-US" sz="14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Acute Lymphoblastic Leukemia (ALL)</a:t>
            </a: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, is a fatal hematological condition marked by unregulated multiplication of abnormal white blood cells. Early and precise diagnosis is essential to increase survival chances and treatment outcomes.</a:t>
            </a:r>
            <a:endParaRPr lang="en-US" sz="1400" dirty="0"/>
          </a:p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5871" y="3175365"/>
            <a:ext cx="45719" cy="129540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7700" y="3174026"/>
            <a:ext cx="6972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F2937"/>
                </a:solidFill>
                <a:latin typeface="Sorts Mill Goudy" panose="02000503000000000000" pitchFamily="34" charset="0"/>
              </a:rPr>
              <a:t>Problem Statement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6159" y="3908790"/>
            <a:ext cx="69437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Traditional diagnostic tools depend on microscopic analysis by hematologists, which are </a:t>
            </a:r>
            <a:r>
              <a:rPr lang="en-US" sz="1400" dirty="0">
                <a:solidFill>
                  <a:srgbClr val="1F2937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time-consuming, subjective, and susceptible to inter-observer variation </a:t>
            </a: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. These restrictions create demand for automated and dependable diagnostic systems.</a:t>
            </a:r>
            <a:endParaRPr lang="en-US" sz="1400" dirty="0"/>
          </a:p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H="1">
            <a:off x="423490" y="5063372"/>
            <a:ext cx="45719" cy="129540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7700" y="5092906"/>
            <a:ext cx="6972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6160" y="5803857"/>
            <a:ext cx="69437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This research presents an automated blood cancer cell classification system based on </a:t>
            </a:r>
            <a:r>
              <a:rPr lang="en-US" sz="14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EfficientNet-B0</a:t>
            </a: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using transfer learning. The model categorizes microscopic blood cell images into four clinically significant groups.</a:t>
            </a:r>
            <a:endParaRPr lang="en-US" sz="1400" dirty="0"/>
          </a:p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0500" y="1333500"/>
            <a:ext cx="4000500" cy="2971800"/>
          </a:xfrm>
          <a:custGeom>
            <a:avLst/>
            <a:gdLst/>
            <a:ahLst/>
            <a:cxnLst/>
            <a:rect l="l" t="t" r="r" b="b"/>
            <a:pathLst>
              <a:path w="4000500" h="2971800">
                <a:moveTo>
                  <a:pt x="0" y="0"/>
                </a:moveTo>
                <a:lnTo>
                  <a:pt x="4000500" y="0"/>
                </a:lnTo>
                <a:lnTo>
                  <a:pt x="40005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39100" y="1562100"/>
            <a:ext cx="365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Key Achievement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96225" y="2019181"/>
            <a:ext cx="38290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98.92%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91475" y="2666881"/>
            <a:ext cx="3638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Validation Accuracy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39100" y="3085981"/>
            <a:ext cx="36195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proposed system achieves exceptional performance with high generalization capability, making it applicable for real-world medical applications.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18120" y="4465201"/>
            <a:ext cx="3987165" cy="1920240"/>
          </a:xfrm>
          <a:custGeom>
            <a:avLst/>
            <a:gdLst/>
            <a:ahLst/>
            <a:cxnLst/>
            <a:rect l="l" t="t" r="r" b="b"/>
            <a:pathLst>
              <a:path w="3987165" h="1920240">
                <a:moveTo>
                  <a:pt x="0" y="0"/>
                </a:moveTo>
                <a:lnTo>
                  <a:pt x="3987165" y="0"/>
                </a:lnTo>
                <a:lnTo>
                  <a:pt x="3987165" y="1920240"/>
                </a:lnTo>
                <a:lnTo>
                  <a:pt x="0" y="1920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16240" y="4663321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Classification Classes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16240" y="510147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06740" y="5044322"/>
            <a:ext cx="542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Benign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16240" y="540627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06740" y="5349122"/>
            <a:ext cx="1152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Pro-B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16240" y="571107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06740" y="565392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Pre-B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16240" y="601587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06740" y="5958722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Early Pre-B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Introduction to Blood Cancer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333500"/>
            <a:ext cx="6667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What is Blood Cancer?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790581"/>
            <a:ext cx="663892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Blood cancer</a:t>
            </a:r>
            <a:r>
              <a:rPr lang="en-US" sz="13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is a critical hematological condition that significantly influences global mortality rates. It affects the production and function of blood cells, beginning in the bone marrow where blood is produced.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2778800"/>
            <a:ext cx="6534150" cy="800100"/>
          </a:xfrm>
          <a:custGeom>
            <a:avLst/>
            <a:gdLst/>
            <a:ahLst/>
            <a:cxnLst/>
            <a:rect l="l" t="t" r="r" b="b"/>
            <a:pathLst>
              <a:path w="6534150" h="800100">
                <a:moveTo>
                  <a:pt x="0" y="0"/>
                </a:moveTo>
                <a:lnTo>
                  <a:pt x="6534150" y="0"/>
                </a:lnTo>
                <a:lnTo>
                  <a:pt x="65341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0050" y="27788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1500" y="2931200"/>
            <a:ext cx="6286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Acute Lymphoblastic Leukemia (ALL)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is a disease predominantly seen in children and young adults, characterized by the rapid proliferation of immature lymphocytes.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3896439"/>
            <a:ext cx="6667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Why Early Diagnosis Matters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4357330"/>
            <a:ext cx="3188970" cy="998220"/>
          </a:xfrm>
          <a:custGeom>
            <a:avLst/>
            <a:gdLst/>
            <a:ahLst/>
            <a:cxnLst/>
            <a:rect l="l" t="t" r="r" b="b"/>
            <a:pathLst>
              <a:path w="3188970" h="998220">
                <a:moveTo>
                  <a:pt x="0" y="0"/>
                </a:moveTo>
                <a:lnTo>
                  <a:pt x="3188970" y="0"/>
                </a:lnTo>
                <a:lnTo>
                  <a:pt x="3188970" y="998220"/>
                </a:lnTo>
                <a:lnTo>
                  <a:pt x="0" y="998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5295" y="4513541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85%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4970741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Survival Rate with Early Detection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37610" y="4357330"/>
            <a:ext cx="3188970" cy="998220"/>
          </a:xfrm>
          <a:custGeom>
            <a:avLst/>
            <a:gdLst/>
            <a:ahLst/>
            <a:cxnLst/>
            <a:rect l="l" t="t" r="r" b="b"/>
            <a:pathLst>
              <a:path w="3188970" h="998220">
                <a:moveTo>
                  <a:pt x="0" y="0"/>
                </a:moveTo>
                <a:lnTo>
                  <a:pt x="3188970" y="0"/>
                </a:lnTo>
                <a:lnTo>
                  <a:pt x="3188970" y="998220"/>
                </a:lnTo>
                <a:lnTo>
                  <a:pt x="0" y="998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08095" y="4513541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&lt;40%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55720" y="4970741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Survival Rate with Late Diagnosis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5676900"/>
            <a:ext cx="6553200" cy="800100"/>
          </a:xfrm>
          <a:custGeom>
            <a:avLst/>
            <a:gdLst/>
            <a:ahLst/>
            <a:cxnLst/>
            <a:rect l="l" t="t" r="r" b="b"/>
            <a:pathLst>
              <a:path w="6553200" h="800100">
                <a:moveTo>
                  <a:pt x="0" y="0"/>
                </a:moveTo>
                <a:lnTo>
                  <a:pt x="6553200" y="0"/>
                </a:lnTo>
                <a:lnTo>
                  <a:pt x="65532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3400" y="5829300"/>
            <a:ext cx="63246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Critical Need:</a:t>
            </a: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Late or incorrect diagnosis usually results in disease progression and loss of lives, making effective and prompt diagnostic systems essential for improved clinical outcomes.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42810" y="1337310"/>
            <a:ext cx="4560570" cy="4284345"/>
          </a:xfrm>
          <a:custGeom>
            <a:avLst/>
            <a:gdLst/>
            <a:ahLst/>
            <a:cxnLst/>
            <a:rect l="l" t="t" r="r" b="b"/>
            <a:pathLst>
              <a:path w="4560570" h="4284345">
                <a:moveTo>
                  <a:pt x="0" y="0"/>
                </a:moveTo>
                <a:lnTo>
                  <a:pt x="4560570" y="0"/>
                </a:lnTo>
                <a:lnTo>
                  <a:pt x="4560570" y="4284345"/>
                </a:lnTo>
                <a:lnTo>
                  <a:pt x="0" y="42843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0" descr="https://kimi-web-img.moonshot.cn/img/www.researchgate.net/3091db1ef6e1d5e128eb0f39818cf74d54b68485.png"/>
          <p:cNvPicPr>
            <a:picLocks noChangeAspect="1"/>
          </p:cNvPicPr>
          <p:nvPr/>
        </p:nvPicPr>
        <p:blipFill>
          <a:blip r:embed="rId1"/>
          <a:srcRect l="16616" t="1772" r="16616"/>
          <a:stretch>
            <a:fillRect/>
          </a:stretch>
        </p:blipFill>
        <p:spPr>
          <a:xfrm>
            <a:off x="7246620" y="1416908"/>
            <a:ext cx="4552950" cy="4200937"/>
          </a:xfrm>
          <a:prstGeom prst="roundRect">
            <a:avLst>
              <a:gd name="adj" fmla="val 0"/>
            </a:avLst>
          </a:prstGeom>
        </p:spPr>
      </p:pic>
      <p:sp>
        <p:nvSpPr>
          <p:cNvPr id="20" name="Shape 17"/>
          <p:cNvSpPr/>
          <p:nvPr/>
        </p:nvSpPr>
        <p:spPr>
          <a:xfrm>
            <a:off x="7242810" y="5779771"/>
            <a:ext cx="4560570" cy="693420"/>
          </a:xfrm>
          <a:custGeom>
            <a:avLst/>
            <a:gdLst/>
            <a:ahLst/>
            <a:cxnLst/>
            <a:rect l="l" t="t" r="r" b="b"/>
            <a:pathLst>
              <a:path w="4560570" h="693420">
                <a:moveTo>
                  <a:pt x="0" y="0"/>
                </a:moveTo>
                <a:lnTo>
                  <a:pt x="4560570" y="0"/>
                </a:lnTo>
                <a:lnTo>
                  <a:pt x="4560570" y="693420"/>
                </a:lnTo>
                <a:lnTo>
                  <a:pt x="0" y="693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365682" y="5935980"/>
            <a:ext cx="43148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Figure 1:</a:t>
            </a:r>
            <a:r>
              <a:rPr lang="en-US" sz="1050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Microscopic blood smear images showing Acute Lymphoblastic Leukemia (ALL) and Acute Myeloid Leukemia (AML) cells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Challenges in Traditional Diagnosis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7700" y="13335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81088" y="1343025"/>
            <a:ext cx="1562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Time-Consuming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733550"/>
            <a:ext cx="35052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Manual microscopic analysis requires extensive time per sample, creating bottlenecks in diagnostic workflows and delaying treatment initiation.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86250" y="13335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51759" y="13335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4465"/>
                </a:move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lose/>
                <a:moveTo>
                  <a:pt x="158502" y="179040"/>
                </a:moveTo>
                <a:cubicBezTo>
                  <a:pt x="155488" y="178761"/>
                  <a:pt x="152363" y="178594"/>
                  <a:pt x="149237" y="178594"/>
                </a:cubicBezTo>
                <a:lnTo>
                  <a:pt x="100738" y="178594"/>
                </a:lnTo>
                <a:cubicBezTo>
                  <a:pt x="97613" y="178594"/>
                  <a:pt x="94543" y="178761"/>
                  <a:pt x="91473" y="179040"/>
                </a:cubicBezTo>
                <a:lnTo>
                  <a:pt x="91473" y="216712"/>
                </a:lnTo>
                <a:cubicBezTo>
                  <a:pt x="100682" y="220954"/>
                  <a:pt x="107100" y="230274"/>
                  <a:pt x="107100" y="241046"/>
                </a:cubicBezTo>
                <a:cubicBezTo>
                  <a:pt x="107100" y="255836"/>
                  <a:pt x="95101" y="267835"/>
                  <a:pt x="80311" y="267835"/>
                </a:cubicBezTo>
                <a:cubicBezTo>
                  <a:pt x="65522" y="267835"/>
                  <a:pt x="53522" y="255836"/>
                  <a:pt x="53522" y="241046"/>
                </a:cubicBezTo>
                <a:cubicBezTo>
                  <a:pt x="53522" y="230219"/>
                  <a:pt x="59941" y="220898"/>
                  <a:pt x="69149" y="216712"/>
                </a:cubicBezTo>
                <a:lnTo>
                  <a:pt x="69149" y="184119"/>
                </a:lnTo>
                <a:cubicBezTo>
                  <a:pt x="34044" y="197011"/>
                  <a:pt x="8930" y="230832"/>
                  <a:pt x="8930" y="270458"/>
                </a:cubicBezTo>
                <a:cubicBezTo>
                  <a:pt x="8930" y="278885"/>
                  <a:pt x="15794" y="285750"/>
                  <a:pt x="24222" y="285750"/>
                </a:cubicBezTo>
                <a:lnTo>
                  <a:pt x="225754" y="285750"/>
                </a:lnTo>
                <a:cubicBezTo>
                  <a:pt x="234181" y="285750"/>
                  <a:pt x="241046" y="278885"/>
                  <a:pt x="241046" y="270458"/>
                </a:cubicBezTo>
                <a:cubicBezTo>
                  <a:pt x="241046" y="230832"/>
                  <a:pt x="215931" y="197067"/>
                  <a:pt x="180770" y="184175"/>
                </a:cubicBezTo>
                <a:lnTo>
                  <a:pt x="180770" y="205048"/>
                </a:lnTo>
                <a:cubicBezTo>
                  <a:pt x="193774" y="209624"/>
                  <a:pt x="203095" y="222070"/>
                  <a:pt x="203095" y="236637"/>
                </a:cubicBezTo>
                <a:lnTo>
                  <a:pt x="203095" y="254496"/>
                </a:lnTo>
                <a:cubicBezTo>
                  <a:pt x="203095" y="260635"/>
                  <a:pt x="198072" y="265658"/>
                  <a:pt x="191932" y="265658"/>
                </a:cubicBezTo>
                <a:cubicBezTo>
                  <a:pt x="185793" y="265658"/>
                  <a:pt x="180770" y="260635"/>
                  <a:pt x="180770" y="254496"/>
                </a:cubicBezTo>
                <a:lnTo>
                  <a:pt x="180770" y="236637"/>
                </a:lnTo>
                <a:cubicBezTo>
                  <a:pt x="180770" y="230498"/>
                  <a:pt x="175747" y="225475"/>
                  <a:pt x="169608" y="225475"/>
                </a:cubicBezTo>
                <a:cubicBezTo>
                  <a:pt x="163469" y="225475"/>
                  <a:pt x="158446" y="230498"/>
                  <a:pt x="158446" y="236637"/>
                </a:cubicBezTo>
                <a:lnTo>
                  <a:pt x="158446" y="254496"/>
                </a:lnTo>
                <a:cubicBezTo>
                  <a:pt x="158446" y="260635"/>
                  <a:pt x="153423" y="265658"/>
                  <a:pt x="147284" y="265658"/>
                </a:cubicBezTo>
                <a:cubicBezTo>
                  <a:pt x="141145" y="265658"/>
                  <a:pt x="136122" y="260635"/>
                  <a:pt x="136122" y="254496"/>
                </a:cubicBezTo>
                <a:lnTo>
                  <a:pt x="136122" y="236637"/>
                </a:lnTo>
                <a:cubicBezTo>
                  <a:pt x="136122" y="222070"/>
                  <a:pt x="145442" y="209680"/>
                  <a:pt x="158446" y="205048"/>
                </a:cubicBezTo>
                <a:lnTo>
                  <a:pt x="158446" y="17904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67288" y="1343025"/>
            <a:ext cx="2152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Subjective Interpretation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5800" y="1733550"/>
            <a:ext cx="35052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Diagnosis relies heavily on expert interpretation, introducing variability based on individual experience and visual assessment capabilities.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72450" y="13335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437959" y="13335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1299" y="45653"/>
                </a:moveTo>
                <a:cubicBezTo>
                  <a:pt x="216768" y="37449"/>
                  <a:pt x="214536" y="26343"/>
                  <a:pt x="206332" y="20873"/>
                </a:cubicBezTo>
                <a:cubicBezTo>
                  <a:pt x="198127" y="15404"/>
                  <a:pt x="187021" y="17636"/>
                  <a:pt x="181552" y="25840"/>
                </a:cubicBezTo>
                <a:lnTo>
                  <a:pt x="151191" y="71438"/>
                </a:lnTo>
                <a:lnTo>
                  <a:pt x="17859" y="71438"/>
                </a:lnTo>
                <a:cubicBezTo>
                  <a:pt x="7981" y="71438"/>
                  <a:pt x="0" y="79418"/>
                  <a:pt x="0" y="89297"/>
                </a:cubicBezTo>
                <a:cubicBezTo>
                  <a:pt x="0" y="99175"/>
                  <a:pt x="7981" y="107156"/>
                  <a:pt x="17859" y="107156"/>
                </a:cubicBezTo>
                <a:lnTo>
                  <a:pt x="127360" y="107156"/>
                </a:lnTo>
                <a:lnTo>
                  <a:pt x="79753" y="178594"/>
                </a:lnTo>
                <a:lnTo>
                  <a:pt x="17859" y="178594"/>
                </a:lnTo>
                <a:cubicBezTo>
                  <a:pt x="7981" y="178594"/>
                  <a:pt x="0" y="186575"/>
                  <a:pt x="0" y="196453"/>
                </a:cubicBezTo>
                <a:cubicBezTo>
                  <a:pt x="0" y="206332"/>
                  <a:pt x="7981" y="214313"/>
                  <a:pt x="17859" y="214313"/>
                </a:cubicBezTo>
                <a:lnTo>
                  <a:pt x="55922" y="214313"/>
                </a:lnTo>
                <a:lnTo>
                  <a:pt x="38733" y="240097"/>
                </a:lnTo>
                <a:cubicBezTo>
                  <a:pt x="33263" y="248301"/>
                  <a:pt x="35496" y="259407"/>
                  <a:pt x="43700" y="264877"/>
                </a:cubicBezTo>
                <a:cubicBezTo>
                  <a:pt x="51904" y="270346"/>
                  <a:pt x="63010" y="268114"/>
                  <a:pt x="68480" y="259910"/>
                </a:cubicBezTo>
                <a:lnTo>
                  <a:pt x="98840" y="214313"/>
                </a:lnTo>
                <a:lnTo>
                  <a:pt x="232172" y="214313"/>
                </a:lnTo>
                <a:cubicBezTo>
                  <a:pt x="242050" y="214313"/>
                  <a:pt x="250031" y="206332"/>
                  <a:pt x="250031" y="196453"/>
                </a:cubicBezTo>
                <a:cubicBezTo>
                  <a:pt x="250031" y="186575"/>
                  <a:pt x="242050" y="178594"/>
                  <a:pt x="232172" y="178594"/>
                </a:cubicBezTo>
                <a:lnTo>
                  <a:pt x="122672" y="178594"/>
                </a:lnTo>
                <a:lnTo>
                  <a:pt x="170278" y="107156"/>
                </a:lnTo>
                <a:lnTo>
                  <a:pt x="232172" y="107156"/>
                </a:lnTo>
                <a:cubicBezTo>
                  <a:pt x="242050" y="107156"/>
                  <a:pt x="250031" y="99175"/>
                  <a:pt x="250031" y="89297"/>
                </a:cubicBezTo>
                <a:cubicBezTo>
                  <a:pt x="250031" y="79418"/>
                  <a:pt x="242050" y="71438"/>
                  <a:pt x="232172" y="71438"/>
                </a:cubicBezTo>
                <a:lnTo>
                  <a:pt x="194109" y="71438"/>
                </a:lnTo>
                <a:lnTo>
                  <a:pt x="211299" y="45653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853488" y="1343025"/>
            <a:ext cx="2152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Inter-Observer Variation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733550"/>
            <a:ext cx="35052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Different hematologists may provide different diagnoses for the same sample, leading to inconsistent patient care and treatment decisions.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207662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7700" y="320766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1920" y="183449"/>
                </a:moveTo>
                <a:cubicBezTo>
                  <a:pt x="104198" y="171171"/>
                  <a:pt x="122002" y="160734"/>
                  <a:pt x="142875" y="160734"/>
                </a:cubicBezTo>
                <a:cubicBezTo>
                  <a:pt x="163748" y="160734"/>
                  <a:pt x="181552" y="171171"/>
                  <a:pt x="193830" y="183449"/>
                </a:cubicBezTo>
                <a:cubicBezTo>
                  <a:pt x="200025" y="189644"/>
                  <a:pt x="205048" y="196509"/>
                  <a:pt x="208564" y="203206"/>
                </a:cubicBezTo>
                <a:cubicBezTo>
                  <a:pt x="212024" y="209736"/>
                  <a:pt x="214313" y="216824"/>
                  <a:pt x="214313" y="223242"/>
                </a:cubicBezTo>
                <a:cubicBezTo>
                  <a:pt x="214313" y="226144"/>
                  <a:pt x="212861" y="228935"/>
                  <a:pt x="210462" y="230609"/>
                </a:cubicBezTo>
                <a:cubicBezTo>
                  <a:pt x="208062" y="232283"/>
                  <a:pt x="204992" y="232674"/>
                  <a:pt x="202257" y="231614"/>
                </a:cubicBezTo>
                <a:lnTo>
                  <a:pt x="190816" y="227316"/>
                </a:lnTo>
                <a:cubicBezTo>
                  <a:pt x="175803" y="221679"/>
                  <a:pt x="159841" y="218777"/>
                  <a:pt x="143768" y="218777"/>
                </a:cubicBezTo>
                <a:lnTo>
                  <a:pt x="141982" y="218777"/>
                </a:lnTo>
                <a:cubicBezTo>
                  <a:pt x="125909" y="218777"/>
                  <a:pt x="110003" y="221679"/>
                  <a:pt x="94934" y="227316"/>
                </a:cubicBezTo>
                <a:lnTo>
                  <a:pt x="83493" y="231614"/>
                </a:lnTo>
                <a:cubicBezTo>
                  <a:pt x="80758" y="232618"/>
                  <a:pt x="77688" y="232283"/>
                  <a:pt x="75288" y="230609"/>
                </a:cubicBezTo>
                <a:cubicBezTo>
                  <a:pt x="72889" y="228935"/>
                  <a:pt x="71438" y="226144"/>
                  <a:pt x="71438" y="223242"/>
                </a:cubicBezTo>
                <a:cubicBezTo>
                  <a:pt x="71438" y="216768"/>
                  <a:pt x="73782" y="209736"/>
                  <a:pt x="77186" y="203206"/>
                </a:cubicBezTo>
                <a:cubicBezTo>
                  <a:pt x="80702" y="196509"/>
                  <a:pt x="85725" y="189644"/>
                  <a:pt x="91920" y="183449"/>
                </a:cubicBezTo>
                <a:close/>
                <a:moveTo>
                  <a:pt x="68424" y="88850"/>
                </a:moveTo>
                <a:cubicBezTo>
                  <a:pt x="70935" y="85055"/>
                  <a:pt x="75847" y="83716"/>
                  <a:pt x="79921" y="85781"/>
                </a:cubicBezTo>
                <a:lnTo>
                  <a:pt x="124346" y="108105"/>
                </a:lnTo>
                <a:cubicBezTo>
                  <a:pt x="127360" y="109612"/>
                  <a:pt x="129257" y="112681"/>
                  <a:pt x="129257" y="116086"/>
                </a:cubicBezTo>
                <a:cubicBezTo>
                  <a:pt x="129257" y="119490"/>
                  <a:pt x="127360" y="122560"/>
                  <a:pt x="124346" y="124067"/>
                </a:cubicBezTo>
                <a:lnTo>
                  <a:pt x="79921" y="146391"/>
                </a:lnTo>
                <a:cubicBezTo>
                  <a:pt x="75847" y="148400"/>
                  <a:pt x="70935" y="147117"/>
                  <a:pt x="68424" y="143321"/>
                </a:cubicBezTo>
                <a:cubicBezTo>
                  <a:pt x="65912" y="139526"/>
                  <a:pt x="66694" y="134448"/>
                  <a:pt x="70154" y="131545"/>
                </a:cubicBezTo>
                <a:lnTo>
                  <a:pt x="88739" y="116086"/>
                </a:lnTo>
                <a:lnTo>
                  <a:pt x="70210" y="100626"/>
                </a:lnTo>
                <a:cubicBezTo>
                  <a:pt x="66749" y="97724"/>
                  <a:pt x="65968" y="92646"/>
                  <a:pt x="68480" y="88850"/>
                </a:cubicBezTo>
                <a:close/>
                <a:moveTo>
                  <a:pt x="215540" y="100626"/>
                </a:moveTo>
                <a:lnTo>
                  <a:pt x="197011" y="116086"/>
                </a:lnTo>
                <a:lnTo>
                  <a:pt x="215540" y="131545"/>
                </a:lnTo>
                <a:cubicBezTo>
                  <a:pt x="219001" y="134448"/>
                  <a:pt x="219782" y="139526"/>
                  <a:pt x="217270" y="143321"/>
                </a:cubicBezTo>
                <a:cubicBezTo>
                  <a:pt x="214759" y="147117"/>
                  <a:pt x="209848" y="148456"/>
                  <a:pt x="205773" y="146391"/>
                </a:cubicBezTo>
                <a:lnTo>
                  <a:pt x="161348" y="124067"/>
                </a:lnTo>
                <a:cubicBezTo>
                  <a:pt x="158335" y="122560"/>
                  <a:pt x="156437" y="119490"/>
                  <a:pt x="156437" y="116086"/>
                </a:cubicBezTo>
                <a:cubicBezTo>
                  <a:pt x="156437" y="112681"/>
                  <a:pt x="158335" y="109612"/>
                  <a:pt x="161348" y="108105"/>
                </a:cubicBezTo>
                <a:lnTo>
                  <a:pt x="205773" y="85781"/>
                </a:lnTo>
                <a:cubicBezTo>
                  <a:pt x="209848" y="83772"/>
                  <a:pt x="214759" y="85055"/>
                  <a:pt x="217270" y="88850"/>
                </a:cubicBezTo>
                <a:cubicBezTo>
                  <a:pt x="219782" y="92646"/>
                  <a:pt x="219001" y="97724"/>
                  <a:pt x="215540" y="100626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81088" y="3217187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Expert Fatigue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3607712"/>
            <a:ext cx="35052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Long working hours and high caseloads lead to fatigue, increasing the likelihood of diagnostic errors and oversight.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86250" y="3207662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98181" y="3207662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67288" y="3217187"/>
            <a:ext cx="1552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Resource Scarcity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95800" y="3607712"/>
            <a:ext cx="35052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mounting demand on pathologists creates a shortage of qualified experts, particularly in rural and underdeveloped regions.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72450" y="3207662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420100" y="320766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853488" y="3217187"/>
            <a:ext cx="157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Diagnostic Delays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2000" y="3607712"/>
            <a:ext cx="35052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entire process relies on expert availability, causing significant delays that can impact patient prognosis and survival rates.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081706"/>
            <a:ext cx="11430000" cy="1390650"/>
          </a:xfrm>
          <a:custGeom>
            <a:avLst/>
            <a:gdLst/>
            <a:ahLst/>
            <a:cxnLst/>
            <a:rect l="l" t="t" r="r" b="b"/>
            <a:pathLst>
              <a:path w="11430000" h="1390650">
                <a:moveTo>
                  <a:pt x="0" y="0"/>
                </a:moveTo>
                <a:lnTo>
                  <a:pt x="11430000" y="0"/>
                </a:lnTo>
                <a:lnTo>
                  <a:pt x="114300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71513" y="5550694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305163" y="5310306"/>
            <a:ext cx="103917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Solution: Automated Systems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05163" y="5691188"/>
            <a:ext cx="10363200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There is a critical need for </a:t>
            </a:r>
            <a:r>
              <a:rPr lang="en-US" sz="13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automated solutions</a:t>
            </a:r>
            <a:r>
              <a:rPr lang="en-US" sz="13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that offer uniform and precise analysis, reducing human dependency while maintaining diagnostic accuracy and consistency.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kern="0" spc="99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10498"/>
            <a:ext cx="11689237" cy="430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5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The Role of Deep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116" y="1256907"/>
            <a:ext cx="6984813" cy="2872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AI in Medical Diagnostics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9116" y="1687735"/>
            <a:ext cx="10033239" cy="790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Artificial Intelligence</a:t>
            </a: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has become a powerful instrument in medical diagnostics, especially in disease detection from medical images. Recent advances in deep learning have shown remarkable results in medical image analysis tasks.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7071" y="2619195"/>
            <a:ext cx="10742435" cy="754144"/>
          </a:xfrm>
          <a:custGeom>
            <a:avLst/>
            <a:gdLst/>
            <a:ahLst/>
            <a:cxnLst/>
            <a:rect l="l" t="t" r="r" b="b"/>
            <a:pathLst>
              <a:path w="6859122" h="754144">
                <a:moveTo>
                  <a:pt x="0" y="0"/>
                </a:moveTo>
                <a:lnTo>
                  <a:pt x="6859122" y="0"/>
                </a:lnTo>
                <a:lnTo>
                  <a:pt x="6859122" y="754144"/>
                </a:lnTo>
                <a:lnTo>
                  <a:pt x="0" y="754144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77072" y="2619195"/>
            <a:ext cx="35912" cy="754144"/>
          </a:xfrm>
          <a:custGeom>
            <a:avLst/>
            <a:gdLst/>
            <a:ahLst/>
            <a:cxnLst/>
            <a:rect l="l" t="t" r="r" b="b"/>
            <a:pathLst>
              <a:path w="35912" h="754144">
                <a:moveTo>
                  <a:pt x="0" y="0"/>
                </a:moveTo>
                <a:lnTo>
                  <a:pt x="35912" y="0"/>
                </a:lnTo>
                <a:lnTo>
                  <a:pt x="35912" y="754144"/>
                </a:lnTo>
                <a:lnTo>
                  <a:pt x="0" y="75414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8675" y="2762842"/>
            <a:ext cx="10596996" cy="46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Convolutional Neural Networks (CNNs)</a:t>
            </a: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have demonstrated exceptional capability to automatically extract discriminative features from complex medical images without manual feature engineering.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9116" y="3527196"/>
            <a:ext cx="6984813" cy="2872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Advantages of CNNs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561" y="3993938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119378" y="74594"/>
                </a:moveTo>
                <a:lnTo>
                  <a:pt x="91322" y="119483"/>
                </a:lnTo>
                <a:cubicBezTo>
                  <a:pt x="89849" y="121833"/>
                  <a:pt x="87324" y="123306"/>
                  <a:pt x="84554" y="123446"/>
                </a:cubicBezTo>
                <a:cubicBezTo>
                  <a:pt x="81783" y="123587"/>
                  <a:pt x="79118" y="122324"/>
                  <a:pt x="77470" y="120080"/>
                </a:cubicBezTo>
                <a:lnTo>
                  <a:pt x="60636" y="97635"/>
                </a:lnTo>
                <a:cubicBezTo>
                  <a:pt x="57830" y="93917"/>
                  <a:pt x="58602" y="88657"/>
                  <a:pt x="62319" y="85851"/>
                </a:cubicBezTo>
                <a:cubicBezTo>
                  <a:pt x="66037" y="83046"/>
                  <a:pt x="71297" y="83817"/>
                  <a:pt x="74103" y="87535"/>
                </a:cubicBezTo>
                <a:lnTo>
                  <a:pt x="83572" y="100160"/>
                </a:lnTo>
                <a:lnTo>
                  <a:pt x="105105" y="65686"/>
                </a:lnTo>
                <a:cubicBezTo>
                  <a:pt x="107560" y="61758"/>
                  <a:pt x="112750" y="60531"/>
                  <a:pt x="116713" y="63021"/>
                </a:cubicBezTo>
                <a:cubicBezTo>
                  <a:pt x="120676" y="65511"/>
                  <a:pt x="121868" y="70666"/>
                  <a:pt x="119378" y="74629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91299" y="3958026"/>
            <a:ext cx="3043511" cy="215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Automatic Feature Extraction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1299" y="4209407"/>
            <a:ext cx="3043511" cy="215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Learns hierarchical features directly from images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92821" y="3993938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119378" y="74594"/>
                </a:moveTo>
                <a:lnTo>
                  <a:pt x="91322" y="119483"/>
                </a:lnTo>
                <a:cubicBezTo>
                  <a:pt x="89849" y="121833"/>
                  <a:pt x="87324" y="123306"/>
                  <a:pt x="84554" y="123446"/>
                </a:cubicBezTo>
                <a:cubicBezTo>
                  <a:pt x="81783" y="123587"/>
                  <a:pt x="79118" y="122324"/>
                  <a:pt x="77470" y="120080"/>
                </a:cubicBezTo>
                <a:lnTo>
                  <a:pt x="60636" y="97635"/>
                </a:lnTo>
                <a:cubicBezTo>
                  <a:pt x="57830" y="93917"/>
                  <a:pt x="58602" y="88657"/>
                  <a:pt x="62319" y="85851"/>
                </a:cubicBezTo>
                <a:cubicBezTo>
                  <a:pt x="66037" y="83046"/>
                  <a:pt x="71297" y="83817"/>
                  <a:pt x="74103" y="87535"/>
                </a:cubicBezTo>
                <a:lnTo>
                  <a:pt x="83572" y="100160"/>
                </a:lnTo>
                <a:lnTo>
                  <a:pt x="105105" y="65686"/>
                </a:lnTo>
                <a:cubicBezTo>
                  <a:pt x="107560" y="61758"/>
                  <a:pt x="112750" y="60531"/>
                  <a:pt x="116713" y="63021"/>
                </a:cubicBezTo>
                <a:cubicBezTo>
                  <a:pt x="120676" y="65511"/>
                  <a:pt x="121868" y="70666"/>
                  <a:pt x="119378" y="74629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02559" y="3958026"/>
            <a:ext cx="2603594" cy="215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End-to-End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2559" y="4209407"/>
            <a:ext cx="2603594" cy="215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Reduces reliance on handcrafted features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561" y="4604435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119378" y="74594"/>
                </a:moveTo>
                <a:lnTo>
                  <a:pt x="91322" y="119483"/>
                </a:lnTo>
                <a:cubicBezTo>
                  <a:pt x="89849" y="121833"/>
                  <a:pt x="87324" y="123306"/>
                  <a:pt x="84554" y="123446"/>
                </a:cubicBezTo>
                <a:cubicBezTo>
                  <a:pt x="81783" y="123587"/>
                  <a:pt x="79118" y="122324"/>
                  <a:pt x="77470" y="120080"/>
                </a:cubicBezTo>
                <a:lnTo>
                  <a:pt x="60636" y="97635"/>
                </a:lnTo>
                <a:cubicBezTo>
                  <a:pt x="57830" y="93917"/>
                  <a:pt x="58602" y="88657"/>
                  <a:pt x="62319" y="85851"/>
                </a:cubicBezTo>
                <a:cubicBezTo>
                  <a:pt x="66037" y="83046"/>
                  <a:pt x="71297" y="83817"/>
                  <a:pt x="74103" y="87535"/>
                </a:cubicBezTo>
                <a:lnTo>
                  <a:pt x="83572" y="100160"/>
                </a:lnTo>
                <a:lnTo>
                  <a:pt x="105105" y="65686"/>
                </a:lnTo>
                <a:cubicBezTo>
                  <a:pt x="107560" y="61758"/>
                  <a:pt x="112750" y="60531"/>
                  <a:pt x="116713" y="63021"/>
                </a:cubicBezTo>
                <a:cubicBezTo>
                  <a:pt x="120676" y="65511"/>
                  <a:pt x="121868" y="70666"/>
                  <a:pt x="119378" y="74629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1299" y="4568524"/>
            <a:ext cx="2819063" cy="215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1299" y="4819905"/>
            <a:ext cx="2819063" cy="215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Achieves human-level or better performance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92821" y="4604435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119378" y="74594"/>
                </a:moveTo>
                <a:lnTo>
                  <a:pt x="91322" y="119483"/>
                </a:lnTo>
                <a:cubicBezTo>
                  <a:pt x="89849" y="121833"/>
                  <a:pt x="87324" y="123306"/>
                  <a:pt x="84554" y="123446"/>
                </a:cubicBezTo>
                <a:cubicBezTo>
                  <a:pt x="81783" y="123587"/>
                  <a:pt x="79118" y="122324"/>
                  <a:pt x="77470" y="120080"/>
                </a:cubicBezTo>
                <a:lnTo>
                  <a:pt x="60636" y="97635"/>
                </a:lnTo>
                <a:cubicBezTo>
                  <a:pt x="57830" y="93917"/>
                  <a:pt x="58602" y="88657"/>
                  <a:pt x="62319" y="85851"/>
                </a:cubicBezTo>
                <a:cubicBezTo>
                  <a:pt x="66037" y="83046"/>
                  <a:pt x="71297" y="83817"/>
                  <a:pt x="74103" y="87535"/>
                </a:cubicBezTo>
                <a:lnTo>
                  <a:pt x="83572" y="100160"/>
                </a:lnTo>
                <a:lnTo>
                  <a:pt x="105105" y="65686"/>
                </a:lnTo>
                <a:cubicBezTo>
                  <a:pt x="107560" y="61758"/>
                  <a:pt x="112750" y="60531"/>
                  <a:pt x="116713" y="63021"/>
                </a:cubicBezTo>
                <a:cubicBezTo>
                  <a:pt x="120676" y="65511"/>
                  <a:pt x="121868" y="70666"/>
                  <a:pt x="119378" y="74629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202559" y="4568524"/>
            <a:ext cx="2944754" cy="215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02559" y="4819905"/>
            <a:ext cx="2944754" cy="215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Can process large volumes of images efficiently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9116" y="5479022"/>
            <a:ext cx="10776555" cy="1023482"/>
          </a:xfrm>
          <a:custGeom>
            <a:avLst/>
            <a:gdLst/>
            <a:ahLst/>
            <a:cxnLst/>
            <a:rect l="l" t="t" r="r" b="b"/>
            <a:pathLst>
              <a:path w="6877078" h="1310775">
                <a:moveTo>
                  <a:pt x="0" y="0"/>
                </a:moveTo>
                <a:lnTo>
                  <a:pt x="6877078" y="0"/>
                </a:lnTo>
                <a:lnTo>
                  <a:pt x="6877078" y="1310775"/>
                </a:lnTo>
                <a:lnTo>
                  <a:pt x="0" y="13107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1340" y="5540734"/>
            <a:ext cx="6679564" cy="251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5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Transfer Learning Solution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763" y="5768316"/>
            <a:ext cx="9547686" cy="7002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Deep CNNs need huge labeled datasets and computing resources. </a:t>
            </a:r>
            <a:r>
              <a:rPr lang="en-US" sz="14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Transfer learning</a:t>
            </a:r>
            <a:r>
              <a:rPr lang="en-US" sz="14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overcomes this by leveraging pretrained networks trained on large datasets, enabling successful learning with fewer medical images.</a:t>
            </a:r>
            <a:endParaRPr lang="en-US" sz="1400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5153" y="3500262"/>
            <a:ext cx="3750518" cy="18056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1341120"/>
            <a:ext cx="11416665" cy="1853565"/>
          </a:xfrm>
          <a:custGeom>
            <a:avLst/>
            <a:gdLst/>
            <a:ahLst/>
            <a:cxnLst/>
            <a:rect l="l" t="t" r="r" b="b"/>
            <a:pathLst>
              <a:path w="11416665" h="1853565">
                <a:moveTo>
                  <a:pt x="0" y="0"/>
                </a:moveTo>
                <a:lnTo>
                  <a:pt x="11416665" y="0"/>
                </a:lnTo>
                <a:lnTo>
                  <a:pt x="11416665" y="1853565"/>
                </a:lnTo>
                <a:lnTo>
                  <a:pt x="0" y="185356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67690" y="1577341"/>
            <a:ext cx="11058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7215" y="2034420"/>
            <a:ext cx="110394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current manual diagnostic process for Acute Lymphoblastic Leukemia (ALL) is </a:t>
            </a: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time-consuming, subjective, and prone to human error</a:t>
            </a:r>
            <a:r>
              <a:rPr lang="en-US" sz="15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, creating a critical need for an automated, reliable, and efficient classification system that can assist healthcare professionals in making accurate clinical decisions.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536277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Specific Challenges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9933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2900" y="3993356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00" y="3993356"/>
            <a:ext cx="475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Diagnostic Inconsistency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" y="4221956"/>
            <a:ext cx="475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Inter-observer variation leads to different diagnoses for the same patient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45648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" y="4564856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0100" y="4564856"/>
            <a:ext cx="3943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Resource Limitations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0100" y="4793456"/>
            <a:ext cx="3943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Shortage of expert hematologists, especially in remote areas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51363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2900" y="5136356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0100" y="513635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Processing Delays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00" y="536495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Manual analysis creates bottlenecks delaying treatment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57078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2900" y="5707856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00" y="5707856"/>
            <a:ext cx="4505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Classification Complexity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00" y="5936456"/>
            <a:ext cx="4505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Distinguishing between ALL subtypes requires specialized expertise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0300" y="3536277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3993356"/>
            <a:ext cx="5600700" cy="2562225"/>
          </a:xfrm>
          <a:custGeom>
            <a:avLst/>
            <a:gdLst/>
            <a:ahLst/>
            <a:cxnLst/>
            <a:rect l="l" t="t" r="r" b="b"/>
            <a:pathLst>
              <a:path w="5600700" h="2562225">
                <a:moveTo>
                  <a:pt x="0" y="0"/>
                </a:moveTo>
                <a:lnTo>
                  <a:pt x="5600700" y="0"/>
                </a:lnTo>
                <a:lnTo>
                  <a:pt x="5600700" y="2562225"/>
                </a:lnTo>
                <a:lnTo>
                  <a:pt x="0" y="2562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0" y="4221840"/>
            <a:ext cx="530542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Existing Gap:</a:t>
            </a:r>
            <a:r>
              <a:rPr lang="en-US" sz="13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Most studies focus on binary classification (benign vs. malignant), while there is limited research on comprehensive multiclass classification using EfficientNet-B0 for ALL subtypes.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5210059"/>
            <a:ext cx="5305425" cy="1114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Our Contribution:</a:t>
            </a:r>
            <a:r>
              <a:rPr lang="en-US" sz="13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This research fills the gap by developing a complete four-class classification system using EfficientNet-B0 with transfer learning, providing detailed subtype identification crucial for treatment planning.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296" y="376296"/>
            <a:ext cx="11505259" cy="188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kern="0" spc="104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296" y="639704"/>
            <a:ext cx="11665185" cy="4515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5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5111" y="1317037"/>
            <a:ext cx="37630" cy="1778000"/>
          </a:xfrm>
          <a:custGeom>
            <a:avLst/>
            <a:gdLst/>
            <a:ahLst/>
            <a:cxnLst/>
            <a:rect l="l" t="t" r="r" b="b"/>
            <a:pathLst>
              <a:path w="37630" h="1778000">
                <a:moveTo>
                  <a:pt x="0" y="0"/>
                </a:moveTo>
                <a:lnTo>
                  <a:pt x="37630" y="0"/>
                </a:lnTo>
                <a:lnTo>
                  <a:pt x="37630" y="1778000"/>
                </a:lnTo>
                <a:lnTo>
                  <a:pt x="0" y="177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39704" y="1317037"/>
            <a:ext cx="526815" cy="526815"/>
          </a:xfrm>
          <a:custGeom>
            <a:avLst/>
            <a:gdLst/>
            <a:ahLst/>
            <a:cxnLst/>
            <a:rect l="l" t="t" r="r" b="b"/>
            <a:pathLst>
              <a:path w="526815" h="526815">
                <a:moveTo>
                  <a:pt x="0" y="0"/>
                </a:moveTo>
                <a:lnTo>
                  <a:pt x="526815" y="0"/>
                </a:lnTo>
                <a:lnTo>
                  <a:pt x="526815" y="526815"/>
                </a:lnTo>
                <a:lnTo>
                  <a:pt x="0" y="52681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0222" y="1467556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197556" y="112889"/>
                </a:moveTo>
                <a:cubicBezTo>
                  <a:pt x="197556" y="66160"/>
                  <a:pt x="159618" y="28222"/>
                  <a:pt x="112889" y="28222"/>
                </a:cubicBezTo>
                <a:cubicBezTo>
                  <a:pt x="66160" y="28222"/>
                  <a:pt x="28222" y="66160"/>
                  <a:pt x="28222" y="112889"/>
                </a:cubicBezTo>
                <a:cubicBezTo>
                  <a:pt x="28222" y="159618"/>
                  <a:pt x="66160" y="197556"/>
                  <a:pt x="112889" y="197556"/>
                </a:cubicBezTo>
                <a:cubicBezTo>
                  <a:pt x="159618" y="197556"/>
                  <a:pt x="197556" y="159618"/>
                  <a:pt x="197556" y="112889"/>
                </a:cubicBezTo>
                <a:close/>
                <a:moveTo>
                  <a:pt x="0" y="112889"/>
                </a:moveTo>
                <a:cubicBezTo>
                  <a:pt x="0" y="50584"/>
                  <a:pt x="50584" y="0"/>
                  <a:pt x="112889" y="0"/>
                </a:cubicBezTo>
                <a:cubicBezTo>
                  <a:pt x="175194" y="0"/>
                  <a:pt x="225778" y="50584"/>
                  <a:pt x="225778" y="112889"/>
                </a:cubicBezTo>
                <a:cubicBezTo>
                  <a:pt x="225778" y="175194"/>
                  <a:pt x="175194" y="225778"/>
                  <a:pt x="112889" y="225778"/>
                </a:cubicBezTo>
                <a:cubicBezTo>
                  <a:pt x="50584" y="225778"/>
                  <a:pt x="0" y="175194"/>
                  <a:pt x="0" y="112889"/>
                </a:cubicBezTo>
                <a:close/>
                <a:moveTo>
                  <a:pt x="112889" y="148167"/>
                </a:moveTo>
                <a:cubicBezTo>
                  <a:pt x="132359" y="148167"/>
                  <a:pt x="148167" y="132359"/>
                  <a:pt x="148167" y="112889"/>
                </a:cubicBezTo>
                <a:cubicBezTo>
                  <a:pt x="148167" y="93419"/>
                  <a:pt x="132359" y="77611"/>
                  <a:pt x="112889" y="77611"/>
                </a:cubicBezTo>
                <a:cubicBezTo>
                  <a:pt x="93419" y="77611"/>
                  <a:pt x="77611" y="93419"/>
                  <a:pt x="77611" y="112889"/>
                </a:cubicBezTo>
                <a:cubicBezTo>
                  <a:pt x="77611" y="132359"/>
                  <a:pt x="93419" y="148167"/>
                  <a:pt x="112889" y="148167"/>
                </a:cubicBezTo>
                <a:close/>
                <a:moveTo>
                  <a:pt x="112889" y="49389"/>
                </a:moveTo>
                <a:cubicBezTo>
                  <a:pt x="147935" y="49389"/>
                  <a:pt x="176389" y="77842"/>
                  <a:pt x="176389" y="112889"/>
                </a:cubicBezTo>
                <a:cubicBezTo>
                  <a:pt x="176389" y="147935"/>
                  <a:pt x="147935" y="176389"/>
                  <a:pt x="112889" y="176389"/>
                </a:cubicBezTo>
                <a:cubicBezTo>
                  <a:pt x="77842" y="176389"/>
                  <a:pt x="49389" y="147935"/>
                  <a:pt x="49389" y="112889"/>
                </a:cubicBezTo>
                <a:cubicBezTo>
                  <a:pt x="49389" y="77842"/>
                  <a:pt x="77842" y="49389"/>
                  <a:pt x="112889" y="49389"/>
                </a:cubicBezTo>
                <a:close/>
                <a:moveTo>
                  <a:pt x="98778" y="112889"/>
                </a:moveTo>
                <a:cubicBezTo>
                  <a:pt x="98778" y="105101"/>
                  <a:pt x="105101" y="98778"/>
                  <a:pt x="112889" y="98778"/>
                </a:cubicBezTo>
                <a:cubicBezTo>
                  <a:pt x="120677" y="98778"/>
                  <a:pt x="127000" y="105101"/>
                  <a:pt x="127000" y="112889"/>
                </a:cubicBezTo>
                <a:cubicBezTo>
                  <a:pt x="127000" y="120677"/>
                  <a:pt x="120677" y="127000"/>
                  <a:pt x="112889" y="127000"/>
                </a:cubicBezTo>
                <a:cubicBezTo>
                  <a:pt x="105101" y="127000"/>
                  <a:pt x="98778" y="120677"/>
                  <a:pt x="98778" y="112889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17037" y="1429926"/>
            <a:ext cx="1872074" cy="301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Primary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9704" y="1994370"/>
            <a:ext cx="5428074" cy="1100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Develop an </a:t>
            </a:r>
            <a:r>
              <a:rPr lang="en-US" sz="133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automated blood cancer classification system</a:t>
            </a:r>
            <a:r>
              <a:rPr lang="en-US" sz="1335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using EfficientNet-B0 that can accurately categorize microscopic blood cell images into four clinically significant classes with high precision and reliability.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7704" y="1317037"/>
            <a:ext cx="37630" cy="1778000"/>
          </a:xfrm>
          <a:custGeom>
            <a:avLst/>
            <a:gdLst/>
            <a:ahLst/>
            <a:cxnLst/>
            <a:rect l="l" t="t" r="r" b="b"/>
            <a:pathLst>
              <a:path w="37630" h="1778000">
                <a:moveTo>
                  <a:pt x="0" y="0"/>
                </a:moveTo>
                <a:lnTo>
                  <a:pt x="37630" y="0"/>
                </a:lnTo>
                <a:lnTo>
                  <a:pt x="37630" y="1778000"/>
                </a:lnTo>
                <a:lnTo>
                  <a:pt x="0" y="177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72296" y="1317037"/>
            <a:ext cx="526815" cy="526815"/>
          </a:xfrm>
          <a:custGeom>
            <a:avLst/>
            <a:gdLst/>
            <a:ahLst/>
            <a:cxnLst/>
            <a:rect l="l" t="t" r="r" b="b"/>
            <a:pathLst>
              <a:path w="526815" h="526815">
                <a:moveTo>
                  <a:pt x="0" y="0"/>
                </a:moveTo>
                <a:lnTo>
                  <a:pt x="526815" y="0"/>
                </a:lnTo>
                <a:lnTo>
                  <a:pt x="526815" y="526815"/>
                </a:lnTo>
                <a:lnTo>
                  <a:pt x="0" y="52681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22815" y="1467556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28222" y="28222"/>
                </a:moveTo>
                <a:cubicBezTo>
                  <a:pt x="28222" y="20417"/>
                  <a:pt x="21916" y="14111"/>
                  <a:pt x="14111" y="14111"/>
                </a:cubicBezTo>
                <a:cubicBezTo>
                  <a:pt x="6306" y="14111"/>
                  <a:pt x="0" y="20417"/>
                  <a:pt x="0" y="28222"/>
                </a:cubicBezTo>
                <a:lnTo>
                  <a:pt x="0" y="176389"/>
                </a:lnTo>
                <a:cubicBezTo>
                  <a:pt x="0" y="195880"/>
                  <a:pt x="15787" y="211667"/>
                  <a:pt x="35278" y="211667"/>
                </a:cubicBezTo>
                <a:lnTo>
                  <a:pt x="211667" y="211667"/>
                </a:lnTo>
                <a:cubicBezTo>
                  <a:pt x="219472" y="211667"/>
                  <a:pt x="225778" y="205361"/>
                  <a:pt x="225778" y="197556"/>
                </a:cubicBezTo>
                <a:cubicBezTo>
                  <a:pt x="225778" y="189750"/>
                  <a:pt x="219472" y="183444"/>
                  <a:pt x="211667" y="183444"/>
                </a:cubicBezTo>
                <a:lnTo>
                  <a:pt x="35278" y="183444"/>
                </a:lnTo>
                <a:cubicBezTo>
                  <a:pt x="31397" y="183444"/>
                  <a:pt x="28222" y="180269"/>
                  <a:pt x="28222" y="176389"/>
                </a:cubicBezTo>
                <a:lnTo>
                  <a:pt x="28222" y="28222"/>
                </a:lnTo>
                <a:close/>
                <a:moveTo>
                  <a:pt x="207522" y="66410"/>
                </a:moveTo>
                <a:cubicBezTo>
                  <a:pt x="213034" y="60898"/>
                  <a:pt x="213034" y="51947"/>
                  <a:pt x="207522" y="46434"/>
                </a:cubicBezTo>
                <a:cubicBezTo>
                  <a:pt x="202009" y="40922"/>
                  <a:pt x="193058" y="40922"/>
                  <a:pt x="187545" y="46434"/>
                </a:cubicBezTo>
                <a:lnTo>
                  <a:pt x="141111" y="92913"/>
                </a:lnTo>
                <a:lnTo>
                  <a:pt x="115799" y="67645"/>
                </a:lnTo>
                <a:cubicBezTo>
                  <a:pt x="110287" y="62133"/>
                  <a:pt x="101335" y="62133"/>
                  <a:pt x="95823" y="67645"/>
                </a:cubicBezTo>
                <a:lnTo>
                  <a:pt x="53490" y="109978"/>
                </a:lnTo>
                <a:cubicBezTo>
                  <a:pt x="47978" y="115491"/>
                  <a:pt x="47978" y="124442"/>
                  <a:pt x="53490" y="129955"/>
                </a:cubicBezTo>
                <a:cubicBezTo>
                  <a:pt x="59002" y="135467"/>
                  <a:pt x="67954" y="135467"/>
                  <a:pt x="73466" y="129955"/>
                </a:cubicBezTo>
                <a:lnTo>
                  <a:pt x="105833" y="97587"/>
                </a:lnTo>
                <a:lnTo>
                  <a:pt x="131145" y="122899"/>
                </a:lnTo>
                <a:cubicBezTo>
                  <a:pt x="136657" y="128411"/>
                  <a:pt x="145609" y="128411"/>
                  <a:pt x="151121" y="122899"/>
                </a:cubicBezTo>
                <a:lnTo>
                  <a:pt x="207566" y="66455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49630" y="1429926"/>
            <a:ext cx="1872074" cy="301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Performance Goal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2296" y="1994370"/>
            <a:ext cx="5428074" cy="8278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Achieve </a:t>
            </a:r>
            <a:r>
              <a:rPr lang="en-US" sz="133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high classification accuracy</a:t>
            </a:r>
            <a:r>
              <a:rPr lang="en-US" sz="1335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(targeting &gt;95%) in multiclass classification while maintaining strong generalization capabilities on unseen data, ensuring clinical applicability.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6296" y="3095037"/>
            <a:ext cx="11552296" cy="301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059" y="3587870"/>
            <a:ext cx="2735674" cy="1889007"/>
          </a:xfrm>
          <a:custGeom>
            <a:avLst/>
            <a:gdLst/>
            <a:ahLst/>
            <a:cxnLst/>
            <a:rect l="l" t="t" r="r" b="b"/>
            <a:pathLst>
              <a:path w="2735674" h="1889007">
                <a:moveTo>
                  <a:pt x="0" y="0"/>
                </a:moveTo>
                <a:lnTo>
                  <a:pt x="2735674" y="0"/>
                </a:lnTo>
                <a:lnTo>
                  <a:pt x="2735674" y="1889007"/>
                </a:lnTo>
                <a:lnTo>
                  <a:pt x="0" y="18890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448741" y="3779780"/>
            <a:ext cx="602074" cy="602074"/>
          </a:xfrm>
          <a:custGeom>
            <a:avLst/>
            <a:gdLst/>
            <a:ahLst/>
            <a:cxnLst/>
            <a:rect l="l" t="t" r="r" b="b"/>
            <a:pathLst>
              <a:path w="602074" h="602074">
                <a:moveTo>
                  <a:pt x="0" y="0"/>
                </a:moveTo>
                <a:lnTo>
                  <a:pt x="602074" y="0"/>
                </a:lnTo>
                <a:lnTo>
                  <a:pt x="602074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92296" y="3779780"/>
            <a:ext cx="714963" cy="6020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9637" y="4494743"/>
            <a:ext cx="2436519" cy="263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Automate Classification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341" y="4833409"/>
            <a:ext cx="2427111" cy="4515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Reduce manual effort and human dependency in diagnosis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77541" y="3587870"/>
            <a:ext cx="2735674" cy="1889007"/>
          </a:xfrm>
          <a:custGeom>
            <a:avLst/>
            <a:gdLst/>
            <a:ahLst/>
            <a:cxnLst/>
            <a:rect l="l" t="t" r="r" b="b"/>
            <a:pathLst>
              <a:path w="2735674" h="1889007">
                <a:moveTo>
                  <a:pt x="0" y="0"/>
                </a:moveTo>
                <a:lnTo>
                  <a:pt x="2735674" y="0"/>
                </a:lnTo>
                <a:lnTo>
                  <a:pt x="2735674" y="1889007"/>
                </a:lnTo>
                <a:lnTo>
                  <a:pt x="0" y="18890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346222" y="3779780"/>
            <a:ext cx="602074" cy="602074"/>
          </a:xfrm>
          <a:custGeom>
            <a:avLst/>
            <a:gdLst/>
            <a:ahLst/>
            <a:cxnLst/>
            <a:rect l="l" t="t" r="r" b="b"/>
            <a:pathLst>
              <a:path w="602074" h="602074">
                <a:moveTo>
                  <a:pt x="0" y="0"/>
                </a:moveTo>
                <a:lnTo>
                  <a:pt x="602074" y="0"/>
                </a:lnTo>
                <a:lnTo>
                  <a:pt x="602074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89778" y="3779780"/>
            <a:ext cx="714963" cy="6020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7119" y="4494743"/>
            <a:ext cx="2436519" cy="263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Improve Accuracy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31822" y="4833409"/>
            <a:ext cx="2427111" cy="4515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Minimize diagnostic errors through consistent AI 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5022" y="3587870"/>
            <a:ext cx="2735674" cy="1889007"/>
          </a:xfrm>
          <a:custGeom>
            <a:avLst/>
            <a:gdLst/>
            <a:ahLst/>
            <a:cxnLst/>
            <a:rect l="l" t="t" r="r" b="b"/>
            <a:pathLst>
              <a:path w="2735674" h="1889007">
                <a:moveTo>
                  <a:pt x="0" y="0"/>
                </a:moveTo>
                <a:lnTo>
                  <a:pt x="2735674" y="0"/>
                </a:lnTo>
                <a:lnTo>
                  <a:pt x="2735674" y="1889007"/>
                </a:lnTo>
                <a:lnTo>
                  <a:pt x="0" y="18890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243704" y="3779780"/>
            <a:ext cx="602074" cy="602074"/>
          </a:xfrm>
          <a:custGeom>
            <a:avLst/>
            <a:gdLst/>
            <a:ahLst/>
            <a:cxnLst/>
            <a:rect l="l" t="t" r="r" b="b"/>
            <a:pathLst>
              <a:path w="602074" h="602074">
                <a:moveTo>
                  <a:pt x="0" y="0"/>
                </a:moveTo>
                <a:lnTo>
                  <a:pt x="602074" y="0"/>
                </a:lnTo>
                <a:lnTo>
                  <a:pt x="602074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187259" y="3779780"/>
            <a:ext cx="714963" cy="6020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24600" y="4494743"/>
            <a:ext cx="2436519" cy="263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Reduce Time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29304" y="4833409"/>
            <a:ext cx="2427111" cy="4515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Accelerate diagnostic workflow for faster treatment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72504" y="3587870"/>
            <a:ext cx="2735674" cy="1889007"/>
          </a:xfrm>
          <a:custGeom>
            <a:avLst/>
            <a:gdLst/>
            <a:ahLst/>
            <a:cxnLst/>
            <a:rect l="l" t="t" r="r" b="b"/>
            <a:pathLst>
              <a:path w="2735674" h="1889007">
                <a:moveTo>
                  <a:pt x="0" y="0"/>
                </a:moveTo>
                <a:lnTo>
                  <a:pt x="2735674" y="0"/>
                </a:lnTo>
                <a:lnTo>
                  <a:pt x="2735674" y="1889007"/>
                </a:lnTo>
                <a:lnTo>
                  <a:pt x="0" y="18890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141185" y="3779780"/>
            <a:ext cx="602074" cy="602074"/>
          </a:xfrm>
          <a:custGeom>
            <a:avLst/>
            <a:gdLst/>
            <a:ahLst/>
            <a:cxnLst/>
            <a:rect l="l" t="t" r="r" b="b"/>
            <a:pathLst>
              <a:path w="602074" h="602074">
                <a:moveTo>
                  <a:pt x="0" y="0"/>
                </a:moveTo>
                <a:lnTo>
                  <a:pt x="602074" y="0"/>
                </a:lnTo>
                <a:lnTo>
                  <a:pt x="602074" y="602074"/>
                </a:lnTo>
                <a:lnTo>
                  <a:pt x="0" y="60207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084741" y="3779780"/>
            <a:ext cx="714963" cy="6020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22081" y="4494743"/>
            <a:ext cx="2436519" cy="263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Clinical Support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26785" y="4833409"/>
            <a:ext cx="2427111" cy="4515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Provide decision-support tool for hematologists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6296" y="5665022"/>
            <a:ext cx="11439407" cy="1061781"/>
          </a:xfrm>
          <a:custGeom>
            <a:avLst/>
            <a:gdLst/>
            <a:ahLst/>
            <a:cxnLst/>
            <a:rect l="l" t="t" r="r" b="b"/>
            <a:pathLst>
              <a:path w="11439407" h="1373481">
                <a:moveTo>
                  <a:pt x="0" y="0"/>
                </a:moveTo>
                <a:lnTo>
                  <a:pt x="11439407" y="0"/>
                </a:lnTo>
                <a:lnTo>
                  <a:pt x="11439407" y="1373481"/>
                </a:lnTo>
                <a:lnTo>
                  <a:pt x="0" y="137348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5000" y="5943837"/>
            <a:ext cx="338667" cy="451556"/>
          </a:xfrm>
          <a:custGeom>
            <a:avLst/>
            <a:gdLst/>
            <a:ahLst/>
            <a:cxnLst/>
            <a:rect l="l" t="t" r="r" b="b"/>
            <a:pathLst>
              <a:path w="338667" h="451556">
                <a:moveTo>
                  <a:pt x="258322" y="338667"/>
                </a:moveTo>
                <a:cubicBezTo>
                  <a:pt x="264760" y="318999"/>
                  <a:pt x="277636" y="301184"/>
                  <a:pt x="292188" y="285838"/>
                </a:cubicBezTo>
                <a:cubicBezTo>
                  <a:pt x="321028" y="255499"/>
                  <a:pt x="338667" y="214489"/>
                  <a:pt x="338667" y="169333"/>
                </a:cubicBezTo>
                <a:cubicBezTo>
                  <a:pt x="338667" y="75847"/>
                  <a:pt x="262819" y="0"/>
                  <a:pt x="169333" y="0"/>
                </a:cubicBezTo>
                <a:cubicBezTo>
                  <a:pt x="75847" y="0"/>
                  <a:pt x="0" y="75847"/>
                  <a:pt x="0" y="169333"/>
                </a:cubicBezTo>
                <a:cubicBezTo>
                  <a:pt x="0" y="214489"/>
                  <a:pt x="17639" y="255499"/>
                  <a:pt x="46478" y="285838"/>
                </a:cubicBezTo>
                <a:cubicBezTo>
                  <a:pt x="61031" y="301184"/>
                  <a:pt x="73995" y="318999"/>
                  <a:pt x="80345" y="338667"/>
                </a:cubicBezTo>
                <a:lnTo>
                  <a:pt x="258233" y="338667"/>
                </a:lnTo>
                <a:close/>
                <a:moveTo>
                  <a:pt x="254000" y="381000"/>
                </a:moveTo>
                <a:lnTo>
                  <a:pt x="84667" y="381000"/>
                </a:lnTo>
                <a:lnTo>
                  <a:pt x="84667" y="395111"/>
                </a:lnTo>
                <a:cubicBezTo>
                  <a:pt x="84667" y="434093"/>
                  <a:pt x="116240" y="465667"/>
                  <a:pt x="155222" y="465667"/>
                </a:cubicBezTo>
                <a:lnTo>
                  <a:pt x="183444" y="465667"/>
                </a:lnTo>
                <a:cubicBezTo>
                  <a:pt x="222426" y="465667"/>
                  <a:pt x="254000" y="434093"/>
                  <a:pt x="254000" y="395111"/>
                </a:cubicBezTo>
                <a:lnTo>
                  <a:pt x="254000" y="381000"/>
                </a:lnTo>
                <a:close/>
                <a:moveTo>
                  <a:pt x="162278" y="98778"/>
                </a:moveTo>
                <a:cubicBezTo>
                  <a:pt x="127176" y="98778"/>
                  <a:pt x="98778" y="127176"/>
                  <a:pt x="98778" y="162278"/>
                </a:cubicBezTo>
                <a:cubicBezTo>
                  <a:pt x="98778" y="174008"/>
                  <a:pt x="89341" y="183444"/>
                  <a:pt x="77611" y="183444"/>
                </a:cubicBezTo>
                <a:cubicBezTo>
                  <a:pt x="65881" y="183444"/>
                  <a:pt x="56444" y="174008"/>
                  <a:pt x="56444" y="162278"/>
                </a:cubicBezTo>
                <a:cubicBezTo>
                  <a:pt x="56444" y="103805"/>
                  <a:pt x="103805" y="56444"/>
                  <a:pt x="162278" y="56444"/>
                </a:cubicBezTo>
                <a:cubicBezTo>
                  <a:pt x="174008" y="56444"/>
                  <a:pt x="183444" y="65881"/>
                  <a:pt x="183444" y="77611"/>
                </a:cubicBezTo>
                <a:cubicBezTo>
                  <a:pt x="183444" y="89341"/>
                  <a:pt x="174008" y="98778"/>
                  <a:pt x="162278" y="98778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235428" y="5706415"/>
            <a:ext cx="10470444" cy="301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Expected Outcome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35428" y="6082596"/>
            <a:ext cx="10442222" cy="555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 reliable, efficient, and clinically applicable automated system that enhances diagnostic capabilities, reduces workload, and improves patient outcomes through early and accurate leukemia detection.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Scope of the Study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381000" y="1333500"/>
            <a:ext cx="7239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Classification Task</a:t>
            </a:r>
            <a:endParaRPr lang="en-US" sz="1600" dirty="0"/>
          </a:p>
        </p:txBody>
      </p:sp>
      <p:sp>
        <p:nvSpPr>
          <p:cNvPr id="10" name="Shape 3"/>
          <p:cNvSpPr/>
          <p:nvPr/>
        </p:nvSpPr>
        <p:spPr>
          <a:xfrm>
            <a:off x="400050" y="1790584"/>
            <a:ext cx="7105650" cy="1666875"/>
          </a:xfrm>
          <a:custGeom>
            <a:avLst/>
            <a:gdLst/>
            <a:ahLst/>
            <a:cxnLst/>
            <a:rect l="l" t="t" r="r" b="b"/>
            <a:pathLst>
              <a:path w="7105650" h="1666875">
                <a:moveTo>
                  <a:pt x="0" y="0"/>
                </a:moveTo>
                <a:lnTo>
                  <a:pt x="7105650" y="0"/>
                </a:lnTo>
                <a:lnTo>
                  <a:pt x="7105650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4"/>
          <p:cNvSpPr/>
          <p:nvPr/>
        </p:nvSpPr>
        <p:spPr>
          <a:xfrm>
            <a:off x="400050" y="1790584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5"/>
          <p:cNvSpPr/>
          <p:nvPr/>
        </p:nvSpPr>
        <p:spPr>
          <a:xfrm>
            <a:off x="609600" y="1981084"/>
            <a:ext cx="67913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Four-Class Classification:</a:t>
            </a:r>
            <a:r>
              <a:rPr lang="en-US" sz="13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The system categorizes blood cell images into four distinct classes representing different diagnostic categories.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09600" y="274784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7"/>
          <p:cNvSpPr/>
          <p:nvPr/>
        </p:nvSpPr>
        <p:spPr>
          <a:xfrm>
            <a:off x="800100" y="2690696"/>
            <a:ext cx="1171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Benign (Normal)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4019550" y="274784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9"/>
          <p:cNvSpPr/>
          <p:nvPr/>
        </p:nvSpPr>
        <p:spPr>
          <a:xfrm>
            <a:off x="4210050" y="2690696"/>
            <a:ext cx="1152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Pro-B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609600" y="309074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1"/>
          <p:cNvSpPr/>
          <p:nvPr/>
        </p:nvSpPr>
        <p:spPr>
          <a:xfrm>
            <a:off x="800100" y="3033596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Pre-B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4019550" y="309074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4210050" y="3033596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Early Pre-B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395547" y="3654077"/>
            <a:ext cx="4967028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Dataset Scope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7810500" y="1333500"/>
            <a:ext cx="4000500" cy="2514600"/>
          </a:xfrm>
          <a:custGeom>
            <a:avLst/>
            <a:gdLst/>
            <a:ahLst/>
            <a:cxnLst/>
            <a:rect l="l" t="t" r="r" b="b"/>
            <a:pathLst>
              <a:path w="4000500" h="2514600">
                <a:moveTo>
                  <a:pt x="0" y="0"/>
                </a:moveTo>
                <a:lnTo>
                  <a:pt x="4000500" y="0"/>
                </a:lnTo>
                <a:lnTo>
                  <a:pt x="40005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8039100" y="1562100"/>
            <a:ext cx="365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Inclusions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8058150" y="20572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Text 36"/>
          <p:cNvSpPr/>
          <p:nvPr/>
        </p:nvSpPr>
        <p:spPr>
          <a:xfrm>
            <a:off x="8305800" y="2019184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Microscopic blood smear image analysis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8058150" y="24001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Text 38"/>
          <p:cNvSpPr/>
          <p:nvPr/>
        </p:nvSpPr>
        <p:spPr>
          <a:xfrm>
            <a:off x="8305800" y="2362084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Acute Lymphoblastic Leukemia (ALL) detection</a:t>
            </a:r>
            <a:endParaRPr lang="en-US" sz="1600" dirty="0"/>
          </a:p>
        </p:txBody>
      </p:sp>
      <p:sp>
        <p:nvSpPr>
          <p:cNvPr id="46" name="Shape 39"/>
          <p:cNvSpPr/>
          <p:nvPr/>
        </p:nvSpPr>
        <p:spPr>
          <a:xfrm>
            <a:off x="8058150" y="27430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57" name="Text 40"/>
          <p:cNvSpPr/>
          <p:nvPr/>
        </p:nvSpPr>
        <p:spPr>
          <a:xfrm>
            <a:off x="8305800" y="2704984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Four-class subtype classification</a:t>
            </a:r>
            <a:endParaRPr lang="en-US" sz="1600" dirty="0"/>
          </a:p>
        </p:txBody>
      </p:sp>
      <p:sp>
        <p:nvSpPr>
          <p:cNvPr id="58" name="Shape 41"/>
          <p:cNvSpPr/>
          <p:nvPr/>
        </p:nvSpPr>
        <p:spPr>
          <a:xfrm>
            <a:off x="8058150" y="30859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59" name="Text 42"/>
          <p:cNvSpPr/>
          <p:nvPr/>
        </p:nvSpPr>
        <p:spPr>
          <a:xfrm>
            <a:off x="8305800" y="3047884"/>
            <a:ext cx="259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Transfer learning with EfficientNet-B0</a:t>
            </a:r>
            <a:endParaRPr lang="en-US" sz="1600" dirty="0"/>
          </a:p>
        </p:txBody>
      </p:sp>
      <p:sp>
        <p:nvSpPr>
          <p:cNvPr id="60" name="Shape 43"/>
          <p:cNvSpPr/>
          <p:nvPr/>
        </p:nvSpPr>
        <p:spPr>
          <a:xfrm>
            <a:off x="8058150" y="34288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61" name="Text 44"/>
          <p:cNvSpPr/>
          <p:nvPr/>
        </p:nvSpPr>
        <p:spPr>
          <a:xfrm>
            <a:off x="8305800" y="3390784"/>
            <a:ext cx="2505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Clinical decision-support application</a:t>
            </a:r>
            <a:endParaRPr lang="en-US" sz="1600" dirty="0"/>
          </a:p>
        </p:txBody>
      </p:sp>
      <p:sp>
        <p:nvSpPr>
          <p:cNvPr id="62" name="Shape 45"/>
          <p:cNvSpPr/>
          <p:nvPr/>
        </p:nvSpPr>
        <p:spPr>
          <a:xfrm>
            <a:off x="7818120" y="4008004"/>
            <a:ext cx="3987165" cy="2186940"/>
          </a:xfrm>
          <a:custGeom>
            <a:avLst/>
            <a:gdLst/>
            <a:ahLst/>
            <a:cxnLst/>
            <a:rect l="l" t="t" r="r" b="b"/>
            <a:pathLst>
              <a:path w="3987165" h="2186940">
                <a:moveTo>
                  <a:pt x="0" y="0"/>
                </a:moveTo>
                <a:lnTo>
                  <a:pt x="3987165" y="0"/>
                </a:lnTo>
                <a:lnTo>
                  <a:pt x="3987165" y="2186940"/>
                </a:lnTo>
                <a:lnTo>
                  <a:pt x="0" y="2186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6B728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46"/>
          <p:cNvSpPr/>
          <p:nvPr/>
        </p:nvSpPr>
        <p:spPr>
          <a:xfrm>
            <a:off x="8054340" y="4244220"/>
            <a:ext cx="3629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Exclusions</a:t>
            </a:r>
            <a:endParaRPr lang="en-US" sz="1600" dirty="0"/>
          </a:p>
        </p:txBody>
      </p:sp>
      <p:sp>
        <p:nvSpPr>
          <p:cNvPr id="64" name="Shape 47"/>
          <p:cNvSpPr/>
          <p:nvPr/>
        </p:nvSpPr>
        <p:spPr>
          <a:xfrm>
            <a:off x="8073390" y="473940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6B7280"/>
          </a:solidFill>
        </p:spPr>
        <p:txBody>
          <a:bodyPr/>
          <a:lstStyle/>
          <a:p>
            <a:endParaRPr lang="en-IN"/>
          </a:p>
        </p:txBody>
      </p:sp>
      <p:sp>
        <p:nvSpPr>
          <p:cNvPr id="65" name="Text 48"/>
          <p:cNvSpPr/>
          <p:nvPr/>
        </p:nvSpPr>
        <p:spPr>
          <a:xfrm>
            <a:off x="8321040" y="4701304"/>
            <a:ext cx="3009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Other blood cancer types (AML, CML, CLL)</a:t>
            </a:r>
            <a:endParaRPr lang="en-US" sz="1600" dirty="0"/>
          </a:p>
        </p:txBody>
      </p:sp>
      <p:sp>
        <p:nvSpPr>
          <p:cNvPr id="66" name="Shape 49"/>
          <p:cNvSpPr/>
          <p:nvPr/>
        </p:nvSpPr>
        <p:spPr>
          <a:xfrm>
            <a:off x="8073390" y="508230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6B7280"/>
          </a:solidFill>
        </p:spPr>
        <p:txBody>
          <a:bodyPr/>
          <a:lstStyle/>
          <a:p>
            <a:endParaRPr lang="en-IN"/>
          </a:p>
        </p:txBody>
      </p:sp>
      <p:sp>
        <p:nvSpPr>
          <p:cNvPr id="67" name="Text 50"/>
          <p:cNvSpPr/>
          <p:nvPr/>
        </p:nvSpPr>
        <p:spPr>
          <a:xfrm>
            <a:off x="8321040" y="5044204"/>
            <a:ext cx="1971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Real-time processing systems</a:t>
            </a:r>
            <a:endParaRPr lang="en-US" sz="1600" dirty="0"/>
          </a:p>
        </p:txBody>
      </p:sp>
      <p:sp>
        <p:nvSpPr>
          <p:cNvPr id="68" name="Shape 51"/>
          <p:cNvSpPr/>
          <p:nvPr/>
        </p:nvSpPr>
        <p:spPr>
          <a:xfrm>
            <a:off x="8073390" y="542520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6B7280"/>
          </a:solidFill>
        </p:spPr>
        <p:txBody>
          <a:bodyPr/>
          <a:lstStyle/>
          <a:p>
            <a:endParaRPr lang="en-IN"/>
          </a:p>
        </p:txBody>
      </p:sp>
      <p:sp>
        <p:nvSpPr>
          <p:cNvPr id="69" name="Text 52"/>
          <p:cNvSpPr/>
          <p:nvPr/>
        </p:nvSpPr>
        <p:spPr>
          <a:xfrm>
            <a:off x="8321040" y="5387104"/>
            <a:ext cx="1800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Hardware implementation</a:t>
            </a:r>
            <a:endParaRPr lang="en-US" sz="1600" dirty="0"/>
          </a:p>
        </p:txBody>
      </p:sp>
      <p:sp>
        <p:nvSpPr>
          <p:cNvPr id="70" name="Shape 53"/>
          <p:cNvSpPr/>
          <p:nvPr/>
        </p:nvSpPr>
        <p:spPr>
          <a:xfrm>
            <a:off x="8073390" y="576810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6B7280"/>
          </a:solidFill>
        </p:spPr>
        <p:txBody>
          <a:bodyPr/>
          <a:lstStyle/>
          <a:p>
            <a:endParaRPr lang="en-IN"/>
          </a:p>
        </p:txBody>
      </p:sp>
      <p:sp>
        <p:nvSpPr>
          <p:cNvPr id="71" name="Text 54"/>
          <p:cNvSpPr/>
          <p:nvPr/>
        </p:nvSpPr>
        <p:spPr>
          <a:xfrm>
            <a:off x="8321040" y="5730004"/>
            <a:ext cx="2000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Multi-institutional validation</a:t>
            </a:r>
            <a:endParaRPr lang="en-US" sz="1600" dirty="0"/>
          </a:p>
        </p:txBody>
      </p:sp>
      <p:sp>
        <p:nvSpPr>
          <p:cNvPr id="87" name="Shape 6"/>
          <p:cNvSpPr/>
          <p:nvPr/>
        </p:nvSpPr>
        <p:spPr>
          <a:xfrm>
            <a:off x="1246228" y="4010419"/>
            <a:ext cx="2695575" cy="1257300"/>
          </a:xfrm>
          <a:custGeom>
            <a:avLst/>
            <a:gdLst/>
            <a:ahLst/>
            <a:cxnLst/>
            <a:rect l="l" t="t" r="r" b="b"/>
            <a:pathLst>
              <a:path w="2695575" h="1257300">
                <a:moveTo>
                  <a:pt x="76205" y="0"/>
                </a:moveTo>
                <a:lnTo>
                  <a:pt x="2619370" y="0"/>
                </a:lnTo>
                <a:cubicBezTo>
                  <a:pt x="2661457" y="0"/>
                  <a:pt x="2695575" y="34118"/>
                  <a:pt x="2695575" y="76205"/>
                </a:cubicBezTo>
                <a:lnTo>
                  <a:pt x="2695575" y="1181095"/>
                </a:lnTo>
                <a:cubicBezTo>
                  <a:pt x="2695575" y="1223182"/>
                  <a:pt x="2661457" y="1257300"/>
                  <a:pt x="26193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8" name="Text 7"/>
          <p:cNvSpPr/>
          <p:nvPr/>
        </p:nvSpPr>
        <p:spPr>
          <a:xfrm>
            <a:off x="1360528" y="4239019"/>
            <a:ext cx="24669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60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3,242</a:t>
            </a:r>
            <a:endParaRPr lang="en-US" sz="1600" dirty="0"/>
          </a:p>
        </p:txBody>
      </p:sp>
      <p:sp>
        <p:nvSpPr>
          <p:cNvPr id="89" name="Text 8"/>
          <p:cNvSpPr/>
          <p:nvPr/>
        </p:nvSpPr>
        <p:spPr>
          <a:xfrm>
            <a:off x="1431966" y="4772419"/>
            <a:ext cx="2324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Total Images</a:t>
            </a:r>
            <a:endParaRPr lang="en-US" sz="1600" dirty="0"/>
          </a:p>
        </p:txBody>
      </p:sp>
      <p:sp>
        <p:nvSpPr>
          <p:cNvPr id="90" name="Shape 9"/>
          <p:cNvSpPr/>
          <p:nvPr/>
        </p:nvSpPr>
        <p:spPr>
          <a:xfrm>
            <a:off x="4167188" y="4010419"/>
            <a:ext cx="2695575" cy="1257300"/>
          </a:xfrm>
          <a:custGeom>
            <a:avLst/>
            <a:gdLst/>
            <a:ahLst/>
            <a:cxnLst/>
            <a:rect l="l" t="t" r="r" b="b"/>
            <a:pathLst>
              <a:path w="2695575" h="1257300">
                <a:moveTo>
                  <a:pt x="76205" y="0"/>
                </a:moveTo>
                <a:lnTo>
                  <a:pt x="2619370" y="0"/>
                </a:lnTo>
                <a:cubicBezTo>
                  <a:pt x="2661457" y="0"/>
                  <a:pt x="2695575" y="34118"/>
                  <a:pt x="2695575" y="76205"/>
                </a:cubicBezTo>
                <a:lnTo>
                  <a:pt x="2695575" y="1181095"/>
                </a:lnTo>
                <a:cubicBezTo>
                  <a:pt x="2695575" y="1223182"/>
                  <a:pt x="2661457" y="1257300"/>
                  <a:pt x="26193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1" name="Text 10"/>
          <p:cNvSpPr/>
          <p:nvPr/>
        </p:nvSpPr>
        <p:spPr>
          <a:xfrm>
            <a:off x="4281488" y="4239019"/>
            <a:ext cx="24669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60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92" name="Text 11"/>
          <p:cNvSpPr/>
          <p:nvPr/>
        </p:nvSpPr>
        <p:spPr>
          <a:xfrm>
            <a:off x="4352926" y="4772419"/>
            <a:ext cx="2324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Classes</a:t>
            </a:r>
            <a:endParaRPr lang="en-US" sz="1600" dirty="0"/>
          </a:p>
        </p:txBody>
      </p:sp>
      <p:sp>
        <p:nvSpPr>
          <p:cNvPr id="93" name="Shape 12"/>
          <p:cNvSpPr/>
          <p:nvPr/>
        </p:nvSpPr>
        <p:spPr>
          <a:xfrm>
            <a:off x="2728912" y="5354194"/>
            <a:ext cx="2695575" cy="1257300"/>
          </a:xfrm>
          <a:custGeom>
            <a:avLst/>
            <a:gdLst/>
            <a:ahLst/>
            <a:cxnLst/>
            <a:rect l="l" t="t" r="r" b="b"/>
            <a:pathLst>
              <a:path w="2695575" h="1257300">
                <a:moveTo>
                  <a:pt x="76205" y="0"/>
                </a:moveTo>
                <a:lnTo>
                  <a:pt x="2619370" y="0"/>
                </a:lnTo>
                <a:cubicBezTo>
                  <a:pt x="2661457" y="0"/>
                  <a:pt x="2695575" y="34118"/>
                  <a:pt x="2695575" y="76205"/>
                </a:cubicBezTo>
                <a:lnTo>
                  <a:pt x="2695575" y="1181095"/>
                </a:lnTo>
                <a:cubicBezTo>
                  <a:pt x="2695575" y="1223182"/>
                  <a:pt x="2661457" y="1257300"/>
                  <a:pt x="26193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4" name="Text 13"/>
          <p:cNvSpPr/>
          <p:nvPr/>
        </p:nvSpPr>
        <p:spPr>
          <a:xfrm>
            <a:off x="2786062" y="5730004"/>
            <a:ext cx="24669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60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224 x 224</a:t>
            </a:r>
            <a:endParaRPr lang="en-US" sz="1600" dirty="0"/>
          </a:p>
        </p:txBody>
      </p:sp>
      <p:sp>
        <p:nvSpPr>
          <p:cNvPr id="95" name="Text 14"/>
          <p:cNvSpPr/>
          <p:nvPr/>
        </p:nvSpPr>
        <p:spPr>
          <a:xfrm>
            <a:off x="2857500" y="6091536"/>
            <a:ext cx="2324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Image Size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729" y="337729"/>
            <a:ext cx="11575645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kern="0" spc="93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729" y="574139"/>
            <a:ext cx="11719180" cy="4052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9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7729" y="1182050"/>
            <a:ext cx="7294936" cy="270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Dataset Source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4615" y="1587221"/>
            <a:ext cx="7176731" cy="1080731"/>
          </a:xfrm>
          <a:custGeom>
            <a:avLst/>
            <a:gdLst/>
            <a:ahLst/>
            <a:cxnLst/>
            <a:rect l="l" t="t" r="r" b="b"/>
            <a:pathLst>
              <a:path w="7176731" h="1080731">
                <a:moveTo>
                  <a:pt x="0" y="0"/>
                </a:moveTo>
                <a:lnTo>
                  <a:pt x="7176731" y="0"/>
                </a:lnTo>
                <a:lnTo>
                  <a:pt x="7176731" y="1080731"/>
                </a:lnTo>
                <a:lnTo>
                  <a:pt x="0" y="1080731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54615" y="1587221"/>
            <a:ext cx="33773" cy="1080731"/>
          </a:xfrm>
          <a:custGeom>
            <a:avLst/>
            <a:gdLst/>
            <a:ahLst/>
            <a:cxnLst/>
            <a:rect l="l" t="t" r="r" b="b"/>
            <a:pathLst>
              <a:path w="33773" h="1080731">
                <a:moveTo>
                  <a:pt x="0" y="0"/>
                </a:moveTo>
                <a:lnTo>
                  <a:pt x="33773" y="0"/>
                </a:lnTo>
                <a:lnTo>
                  <a:pt x="33773" y="1080731"/>
                </a:lnTo>
                <a:lnTo>
                  <a:pt x="0" y="108073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0366" y="1756085"/>
            <a:ext cx="6898105" cy="743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Kaggle Repository:</a:t>
            </a:r>
            <a:r>
              <a:rPr lang="en-US" sz="1195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The dataset is sourced from a publicly available Kaggle repository containing microscopic blood smear images pertaining to Acute Lymphoblastic Leukemia (ALL). Public datasets enable standardized testing and reproducibility of results.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7729" y="3304570"/>
            <a:ext cx="7294936" cy="270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Dataset Statistics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1106" y="3713114"/>
            <a:ext cx="3519131" cy="1053713"/>
          </a:xfrm>
          <a:custGeom>
            <a:avLst/>
            <a:gdLst/>
            <a:ahLst/>
            <a:cxnLst/>
            <a:rect l="l" t="t" r="r" b="b"/>
            <a:pathLst>
              <a:path w="3519131" h="1053713">
                <a:moveTo>
                  <a:pt x="0" y="0"/>
                </a:moveTo>
                <a:lnTo>
                  <a:pt x="3519131" y="0"/>
                </a:lnTo>
                <a:lnTo>
                  <a:pt x="3519131" y="1053713"/>
                </a:lnTo>
                <a:lnTo>
                  <a:pt x="0" y="10537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2029" y="3885358"/>
            <a:ext cx="3377285" cy="4052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90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3,242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353" y="4358174"/>
            <a:ext cx="3250637" cy="236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Total Images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3561" y="3713114"/>
            <a:ext cx="3519131" cy="1053713"/>
          </a:xfrm>
          <a:custGeom>
            <a:avLst/>
            <a:gdLst/>
            <a:ahLst/>
            <a:cxnLst/>
            <a:rect l="l" t="t" r="r" b="b"/>
            <a:pathLst>
              <a:path w="3519131" h="1053713">
                <a:moveTo>
                  <a:pt x="0" y="0"/>
                </a:moveTo>
                <a:lnTo>
                  <a:pt x="3519131" y="0"/>
                </a:lnTo>
                <a:lnTo>
                  <a:pt x="3519131" y="1053713"/>
                </a:lnTo>
                <a:lnTo>
                  <a:pt x="0" y="10537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074484" y="3885358"/>
            <a:ext cx="3377285" cy="4052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90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37808" y="4358174"/>
            <a:ext cx="3250637" cy="236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7729" y="5237023"/>
            <a:ext cx="7294936" cy="270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 Split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5855" y="5727137"/>
            <a:ext cx="3512377" cy="1038515"/>
          </a:xfrm>
          <a:custGeom>
            <a:avLst/>
            <a:gdLst/>
            <a:ahLst/>
            <a:cxnLst/>
            <a:rect l="l" t="t" r="r" b="b"/>
            <a:pathLst>
              <a:path w="3512377" h="1038515">
                <a:moveTo>
                  <a:pt x="0" y="0"/>
                </a:moveTo>
                <a:lnTo>
                  <a:pt x="3512377" y="0"/>
                </a:lnTo>
                <a:lnTo>
                  <a:pt x="3512377" y="1038515"/>
                </a:lnTo>
                <a:lnTo>
                  <a:pt x="0" y="103851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19259" y="5942438"/>
            <a:ext cx="3368842" cy="303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95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70%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7173" y="6246394"/>
            <a:ext cx="3309740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5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Training Set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4615" y="6503072"/>
            <a:ext cx="3301296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0" dirty="0">
                <a:solidFill>
                  <a:srgbClr val="F9FAFB">
                    <a:alpha val="80000"/>
                  </a:srgbClr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~2,269 images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52584" y="5727137"/>
            <a:ext cx="3481560" cy="1026695"/>
          </a:xfrm>
          <a:custGeom>
            <a:avLst/>
            <a:gdLst/>
            <a:ahLst/>
            <a:cxnLst/>
            <a:rect l="l" t="t" r="r" b="b"/>
            <a:pathLst>
              <a:path w="3525886" h="1026695">
                <a:moveTo>
                  <a:pt x="0" y="0"/>
                </a:moveTo>
                <a:lnTo>
                  <a:pt x="3525886" y="0"/>
                </a:lnTo>
                <a:lnTo>
                  <a:pt x="3525886" y="1026695"/>
                </a:lnTo>
                <a:lnTo>
                  <a:pt x="0" y="10266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83297" y="5942438"/>
            <a:ext cx="3368842" cy="303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95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30%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38494" y="6246395"/>
            <a:ext cx="3309740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5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Validation Set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66977" y="6503181"/>
            <a:ext cx="3301296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0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~973 images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01107" y="1185427"/>
            <a:ext cx="4042611" cy="3291165"/>
          </a:xfrm>
          <a:custGeom>
            <a:avLst/>
            <a:gdLst/>
            <a:ahLst/>
            <a:cxnLst/>
            <a:rect l="l" t="t" r="r" b="b"/>
            <a:pathLst>
              <a:path w="4042611" h="3291165">
                <a:moveTo>
                  <a:pt x="0" y="0"/>
                </a:moveTo>
                <a:lnTo>
                  <a:pt x="4042611" y="0"/>
                </a:lnTo>
                <a:lnTo>
                  <a:pt x="4042611" y="3291165"/>
                </a:lnTo>
                <a:lnTo>
                  <a:pt x="0" y="32911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rcRect t="2897" b="19"/>
          <a:stretch>
            <a:fillRect/>
          </a:stretch>
        </p:blipFill>
        <p:spPr>
          <a:xfrm>
            <a:off x="7804485" y="1283369"/>
            <a:ext cx="4035856" cy="3189848"/>
          </a:xfrm>
          <a:prstGeom prst="roundRect">
            <a:avLst>
              <a:gd name="adj" fmla="val 0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7801107" y="4615169"/>
            <a:ext cx="4042611" cy="614666"/>
          </a:xfrm>
          <a:custGeom>
            <a:avLst/>
            <a:gdLst/>
            <a:ahLst/>
            <a:cxnLst/>
            <a:rect l="l" t="t" r="r" b="b"/>
            <a:pathLst>
              <a:path w="4042611" h="614666">
                <a:moveTo>
                  <a:pt x="0" y="0"/>
                </a:moveTo>
                <a:lnTo>
                  <a:pt x="4042611" y="0"/>
                </a:lnTo>
                <a:lnTo>
                  <a:pt x="4042611" y="614666"/>
                </a:lnTo>
                <a:lnTo>
                  <a:pt x="0" y="6146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7910025" y="4753636"/>
            <a:ext cx="3824776" cy="3377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0" b="1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Figure 3:</a:t>
            </a:r>
            <a:r>
              <a:rPr lang="en-US" sz="930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Examples of blood smear microscopic images showing lymphocyte morphology variations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797730" y="5368301"/>
            <a:ext cx="4052742" cy="1397351"/>
          </a:xfrm>
          <a:custGeom>
            <a:avLst/>
            <a:gdLst/>
            <a:ahLst/>
            <a:cxnLst/>
            <a:rect l="l" t="t" r="r" b="b"/>
            <a:pathLst>
              <a:path w="4052742" h="1486006">
                <a:moveTo>
                  <a:pt x="0" y="0"/>
                </a:moveTo>
                <a:lnTo>
                  <a:pt x="4052742" y="0"/>
                </a:lnTo>
                <a:lnTo>
                  <a:pt x="4052742" y="1486006"/>
                </a:lnTo>
                <a:lnTo>
                  <a:pt x="0" y="148600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932821" y="5503392"/>
            <a:ext cx="3858548" cy="236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Why This Dataset?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949707" y="5841120"/>
            <a:ext cx="118205" cy="118205"/>
          </a:xfrm>
          <a:custGeom>
            <a:avLst/>
            <a:gdLst/>
            <a:ahLst/>
            <a:cxnLst/>
            <a:rect l="l" t="t" r="r" b="b"/>
            <a:pathLst>
              <a:path w="118205" h="118205">
                <a:moveTo>
                  <a:pt x="59102" y="118205"/>
                </a:moveTo>
                <a:cubicBezTo>
                  <a:pt x="91722" y="118205"/>
                  <a:pt x="118205" y="91722"/>
                  <a:pt x="118205" y="59102"/>
                </a:cubicBezTo>
                <a:cubicBezTo>
                  <a:pt x="118205" y="26483"/>
                  <a:pt x="91722" y="0"/>
                  <a:pt x="59102" y="0"/>
                </a:cubicBezTo>
                <a:cubicBezTo>
                  <a:pt x="26483" y="0"/>
                  <a:pt x="0" y="26483"/>
                  <a:pt x="0" y="59102"/>
                </a:cubicBezTo>
                <a:cubicBezTo>
                  <a:pt x="0" y="91722"/>
                  <a:pt x="26483" y="118205"/>
                  <a:pt x="59102" y="118205"/>
                </a:cubicBezTo>
                <a:close/>
                <a:moveTo>
                  <a:pt x="78588" y="49106"/>
                </a:moveTo>
                <a:lnTo>
                  <a:pt x="60118" y="78657"/>
                </a:lnTo>
                <a:cubicBezTo>
                  <a:pt x="59149" y="80204"/>
                  <a:pt x="57486" y="81174"/>
                  <a:pt x="55663" y="81266"/>
                </a:cubicBezTo>
                <a:cubicBezTo>
                  <a:pt x="53839" y="81358"/>
                  <a:pt x="52084" y="80527"/>
                  <a:pt x="50999" y="79050"/>
                </a:cubicBezTo>
                <a:lnTo>
                  <a:pt x="39917" y="64274"/>
                </a:lnTo>
                <a:cubicBezTo>
                  <a:pt x="38070" y="61827"/>
                  <a:pt x="38578" y="58364"/>
                  <a:pt x="41025" y="56517"/>
                </a:cubicBezTo>
                <a:cubicBezTo>
                  <a:pt x="43473" y="54670"/>
                  <a:pt x="46936" y="55178"/>
                  <a:pt x="48783" y="57625"/>
                </a:cubicBezTo>
                <a:lnTo>
                  <a:pt x="55016" y="65936"/>
                </a:lnTo>
                <a:lnTo>
                  <a:pt x="69191" y="43242"/>
                </a:lnTo>
                <a:cubicBezTo>
                  <a:pt x="70808" y="40656"/>
                  <a:pt x="74224" y="39848"/>
                  <a:pt x="76833" y="41487"/>
                </a:cubicBezTo>
                <a:cubicBezTo>
                  <a:pt x="79442" y="43126"/>
                  <a:pt x="80227" y="46520"/>
                  <a:pt x="78588" y="49129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8148123" y="5807348"/>
            <a:ext cx="2110803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Clinically relevant image variations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949707" y="6077530"/>
            <a:ext cx="118205" cy="118205"/>
          </a:xfrm>
          <a:custGeom>
            <a:avLst/>
            <a:gdLst/>
            <a:ahLst/>
            <a:cxnLst/>
            <a:rect l="l" t="t" r="r" b="b"/>
            <a:pathLst>
              <a:path w="118205" h="118205">
                <a:moveTo>
                  <a:pt x="59102" y="118205"/>
                </a:moveTo>
                <a:cubicBezTo>
                  <a:pt x="91722" y="118205"/>
                  <a:pt x="118205" y="91722"/>
                  <a:pt x="118205" y="59102"/>
                </a:cubicBezTo>
                <a:cubicBezTo>
                  <a:pt x="118205" y="26483"/>
                  <a:pt x="91722" y="0"/>
                  <a:pt x="59102" y="0"/>
                </a:cubicBezTo>
                <a:cubicBezTo>
                  <a:pt x="26483" y="0"/>
                  <a:pt x="0" y="26483"/>
                  <a:pt x="0" y="59102"/>
                </a:cubicBezTo>
                <a:cubicBezTo>
                  <a:pt x="0" y="91722"/>
                  <a:pt x="26483" y="118205"/>
                  <a:pt x="59102" y="118205"/>
                </a:cubicBezTo>
                <a:close/>
                <a:moveTo>
                  <a:pt x="78588" y="49106"/>
                </a:moveTo>
                <a:lnTo>
                  <a:pt x="60118" y="78657"/>
                </a:lnTo>
                <a:cubicBezTo>
                  <a:pt x="59149" y="80204"/>
                  <a:pt x="57486" y="81174"/>
                  <a:pt x="55663" y="81266"/>
                </a:cubicBezTo>
                <a:cubicBezTo>
                  <a:pt x="53839" y="81358"/>
                  <a:pt x="52084" y="80527"/>
                  <a:pt x="50999" y="79050"/>
                </a:cubicBezTo>
                <a:lnTo>
                  <a:pt x="39917" y="64274"/>
                </a:lnTo>
                <a:cubicBezTo>
                  <a:pt x="38070" y="61827"/>
                  <a:pt x="38578" y="58364"/>
                  <a:pt x="41025" y="56517"/>
                </a:cubicBezTo>
                <a:cubicBezTo>
                  <a:pt x="43473" y="54670"/>
                  <a:pt x="46936" y="55178"/>
                  <a:pt x="48783" y="57625"/>
                </a:cubicBezTo>
                <a:lnTo>
                  <a:pt x="55016" y="65936"/>
                </a:lnTo>
                <a:lnTo>
                  <a:pt x="69191" y="43242"/>
                </a:lnTo>
                <a:cubicBezTo>
                  <a:pt x="70808" y="40656"/>
                  <a:pt x="74224" y="39848"/>
                  <a:pt x="76833" y="41487"/>
                </a:cubicBezTo>
                <a:cubicBezTo>
                  <a:pt x="79442" y="43126"/>
                  <a:pt x="80227" y="46520"/>
                  <a:pt x="78588" y="49129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8148123" y="6043758"/>
            <a:ext cx="1899723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Real-world diagnostic scenarios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949707" y="6313940"/>
            <a:ext cx="118205" cy="118205"/>
          </a:xfrm>
          <a:custGeom>
            <a:avLst/>
            <a:gdLst/>
            <a:ahLst/>
            <a:cxnLst/>
            <a:rect l="l" t="t" r="r" b="b"/>
            <a:pathLst>
              <a:path w="118205" h="118205">
                <a:moveTo>
                  <a:pt x="59102" y="118205"/>
                </a:moveTo>
                <a:cubicBezTo>
                  <a:pt x="91722" y="118205"/>
                  <a:pt x="118205" y="91722"/>
                  <a:pt x="118205" y="59102"/>
                </a:cubicBezTo>
                <a:cubicBezTo>
                  <a:pt x="118205" y="26483"/>
                  <a:pt x="91722" y="0"/>
                  <a:pt x="59102" y="0"/>
                </a:cubicBezTo>
                <a:cubicBezTo>
                  <a:pt x="26483" y="0"/>
                  <a:pt x="0" y="26483"/>
                  <a:pt x="0" y="59102"/>
                </a:cubicBezTo>
                <a:cubicBezTo>
                  <a:pt x="0" y="91722"/>
                  <a:pt x="26483" y="118205"/>
                  <a:pt x="59102" y="118205"/>
                </a:cubicBezTo>
                <a:close/>
                <a:moveTo>
                  <a:pt x="78588" y="49106"/>
                </a:moveTo>
                <a:lnTo>
                  <a:pt x="60118" y="78657"/>
                </a:lnTo>
                <a:cubicBezTo>
                  <a:pt x="59149" y="80204"/>
                  <a:pt x="57486" y="81174"/>
                  <a:pt x="55663" y="81266"/>
                </a:cubicBezTo>
                <a:cubicBezTo>
                  <a:pt x="53839" y="81358"/>
                  <a:pt x="52084" y="80527"/>
                  <a:pt x="50999" y="79050"/>
                </a:cubicBezTo>
                <a:lnTo>
                  <a:pt x="39917" y="64274"/>
                </a:lnTo>
                <a:cubicBezTo>
                  <a:pt x="38070" y="61827"/>
                  <a:pt x="38578" y="58364"/>
                  <a:pt x="41025" y="56517"/>
                </a:cubicBezTo>
                <a:cubicBezTo>
                  <a:pt x="43473" y="54670"/>
                  <a:pt x="46936" y="55178"/>
                  <a:pt x="48783" y="57625"/>
                </a:cubicBezTo>
                <a:lnTo>
                  <a:pt x="55016" y="65936"/>
                </a:lnTo>
                <a:lnTo>
                  <a:pt x="69191" y="43242"/>
                </a:lnTo>
                <a:cubicBezTo>
                  <a:pt x="70808" y="40656"/>
                  <a:pt x="74224" y="39848"/>
                  <a:pt x="76833" y="41487"/>
                </a:cubicBezTo>
                <a:cubicBezTo>
                  <a:pt x="79442" y="43126"/>
                  <a:pt x="80227" y="46520"/>
                  <a:pt x="78588" y="49129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8148123" y="6280168"/>
            <a:ext cx="1865950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Sufficient size for deep learning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949707" y="6550350"/>
            <a:ext cx="118205" cy="118205"/>
          </a:xfrm>
          <a:custGeom>
            <a:avLst/>
            <a:gdLst/>
            <a:ahLst/>
            <a:cxnLst/>
            <a:rect l="l" t="t" r="r" b="b"/>
            <a:pathLst>
              <a:path w="118205" h="118205">
                <a:moveTo>
                  <a:pt x="59102" y="118205"/>
                </a:moveTo>
                <a:cubicBezTo>
                  <a:pt x="91722" y="118205"/>
                  <a:pt x="118205" y="91722"/>
                  <a:pt x="118205" y="59102"/>
                </a:cubicBezTo>
                <a:cubicBezTo>
                  <a:pt x="118205" y="26483"/>
                  <a:pt x="91722" y="0"/>
                  <a:pt x="59102" y="0"/>
                </a:cubicBezTo>
                <a:cubicBezTo>
                  <a:pt x="26483" y="0"/>
                  <a:pt x="0" y="26483"/>
                  <a:pt x="0" y="59102"/>
                </a:cubicBezTo>
                <a:cubicBezTo>
                  <a:pt x="0" y="91722"/>
                  <a:pt x="26483" y="118205"/>
                  <a:pt x="59102" y="118205"/>
                </a:cubicBezTo>
                <a:close/>
                <a:moveTo>
                  <a:pt x="78588" y="49106"/>
                </a:moveTo>
                <a:lnTo>
                  <a:pt x="60118" y="78657"/>
                </a:lnTo>
                <a:cubicBezTo>
                  <a:pt x="59149" y="80204"/>
                  <a:pt x="57486" y="81174"/>
                  <a:pt x="55663" y="81266"/>
                </a:cubicBezTo>
                <a:cubicBezTo>
                  <a:pt x="53839" y="81358"/>
                  <a:pt x="52084" y="80527"/>
                  <a:pt x="50999" y="79050"/>
                </a:cubicBezTo>
                <a:lnTo>
                  <a:pt x="39917" y="64274"/>
                </a:lnTo>
                <a:cubicBezTo>
                  <a:pt x="38070" y="61827"/>
                  <a:pt x="38578" y="58364"/>
                  <a:pt x="41025" y="56517"/>
                </a:cubicBezTo>
                <a:cubicBezTo>
                  <a:pt x="43473" y="54670"/>
                  <a:pt x="46936" y="55178"/>
                  <a:pt x="48783" y="57625"/>
                </a:cubicBezTo>
                <a:lnTo>
                  <a:pt x="55016" y="65936"/>
                </a:lnTo>
                <a:lnTo>
                  <a:pt x="69191" y="43242"/>
                </a:lnTo>
                <a:cubicBezTo>
                  <a:pt x="70808" y="40656"/>
                  <a:pt x="74224" y="39848"/>
                  <a:pt x="76833" y="41487"/>
                </a:cubicBezTo>
                <a:cubicBezTo>
                  <a:pt x="79442" y="43126"/>
                  <a:pt x="80227" y="46520"/>
                  <a:pt x="78588" y="49129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8148123" y="6516578"/>
            <a:ext cx="2169906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Publicly available for reproducibility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Class Distribution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333500"/>
            <a:ext cx="6477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Four Classification Classes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790579"/>
            <a:ext cx="6343650" cy="800100"/>
          </a:xfrm>
          <a:custGeom>
            <a:avLst/>
            <a:gdLst/>
            <a:ahLst/>
            <a:cxnLst/>
            <a:rect l="l" t="t" r="r" b="b"/>
            <a:pathLst>
              <a:path w="6343650" h="800100">
                <a:moveTo>
                  <a:pt x="0" y="0"/>
                </a:moveTo>
                <a:lnTo>
                  <a:pt x="6343650" y="0"/>
                </a:lnTo>
                <a:lnTo>
                  <a:pt x="63436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790579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" y="196202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3875" y="1962029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942979"/>
            <a:ext cx="5495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Benign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209679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Normal, healthy blood cells without cancerous characteristics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704979"/>
            <a:ext cx="6343650" cy="800100"/>
          </a:xfrm>
          <a:custGeom>
            <a:avLst/>
            <a:gdLst/>
            <a:ahLst/>
            <a:cxnLst/>
            <a:rect l="l" t="t" r="r" b="b"/>
            <a:pathLst>
              <a:path w="6343650" h="800100">
                <a:moveTo>
                  <a:pt x="0" y="0"/>
                </a:moveTo>
                <a:lnTo>
                  <a:pt x="6343650" y="0"/>
                </a:lnTo>
                <a:lnTo>
                  <a:pt x="63436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00050" y="2704979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71500" y="287642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3875" y="2876429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1100" y="2857379"/>
            <a:ext cx="5495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Pro-B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1100" y="3124079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Early-stage malignant cells - Pro-B lymphoblasts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619379"/>
            <a:ext cx="6343650" cy="800100"/>
          </a:xfrm>
          <a:custGeom>
            <a:avLst/>
            <a:gdLst/>
            <a:ahLst/>
            <a:cxnLst/>
            <a:rect l="l" t="t" r="r" b="b"/>
            <a:pathLst>
              <a:path w="6343650" h="800100">
                <a:moveTo>
                  <a:pt x="0" y="0"/>
                </a:moveTo>
                <a:lnTo>
                  <a:pt x="6343650" y="0"/>
                </a:lnTo>
                <a:lnTo>
                  <a:pt x="63436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00050" y="3619379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71500" y="379082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3875" y="3790829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3771779"/>
            <a:ext cx="5495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Pre-B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1100" y="4038479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Intermediate stage malignant cells - Pre-B lymphoblasts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4533779"/>
            <a:ext cx="6343650" cy="800100"/>
          </a:xfrm>
          <a:custGeom>
            <a:avLst/>
            <a:gdLst/>
            <a:ahLst/>
            <a:cxnLst/>
            <a:rect l="l" t="t" r="r" b="b"/>
            <a:pathLst>
              <a:path w="6343650" h="800100">
                <a:moveTo>
                  <a:pt x="0" y="0"/>
                </a:moveTo>
                <a:lnTo>
                  <a:pt x="6343650" y="0"/>
                </a:lnTo>
                <a:lnTo>
                  <a:pt x="63436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00050" y="4533779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71500" y="470522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28638" y="4705229"/>
            <a:ext cx="5429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1100" y="4686179"/>
            <a:ext cx="5495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Early Pre-B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1100" y="4952879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Advanced stage malignant cells - Early Pre-B lymphoblasts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429129"/>
            <a:ext cx="6362700" cy="1162050"/>
          </a:xfrm>
          <a:custGeom>
            <a:avLst/>
            <a:gdLst/>
            <a:ahLst/>
            <a:cxnLst/>
            <a:rect l="l" t="t" r="r" b="b"/>
            <a:pathLst>
              <a:path w="6362700" h="1257300">
                <a:moveTo>
                  <a:pt x="0" y="0"/>
                </a:moveTo>
                <a:lnTo>
                  <a:pt x="6362700" y="0"/>
                </a:lnTo>
                <a:lnTo>
                  <a:pt x="63627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71500" y="5524379"/>
            <a:ext cx="6076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Importance of Balanced Distribution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5905379"/>
            <a:ext cx="6057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Balanced class distribution ensures the model does not become biased toward any particular category, contributing to fair and accurate classification results across all leukemia subtypes.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52310" y="1337310"/>
            <a:ext cx="4751070" cy="3655695"/>
          </a:xfrm>
          <a:custGeom>
            <a:avLst/>
            <a:gdLst/>
            <a:ahLst/>
            <a:cxnLst/>
            <a:rect l="l" t="t" r="r" b="b"/>
            <a:pathLst>
              <a:path w="4751070" h="3655695">
                <a:moveTo>
                  <a:pt x="0" y="0"/>
                </a:moveTo>
                <a:lnTo>
                  <a:pt x="4751070" y="0"/>
                </a:lnTo>
                <a:lnTo>
                  <a:pt x="4751070" y="3655695"/>
                </a:lnTo>
                <a:lnTo>
                  <a:pt x="0" y="36556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0" descr="https://kimi-img.moonshot.cn/pub/slides/26-03-24-12:09:51-d710t3uk31qk6d5kk6j0.png"/>
          <p:cNvPicPr>
            <a:picLocks noChangeAspect="1"/>
          </p:cNvPicPr>
          <p:nvPr/>
        </p:nvPicPr>
        <p:blipFill>
          <a:blip r:embed="rId1"/>
          <a:srcRect l="48" r="48"/>
          <a:stretch>
            <a:fillRect/>
          </a:stretch>
        </p:blipFill>
        <p:spPr>
          <a:xfrm>
            <a:off x="7208520" y="1493518"/>
            <a:ext cx="4438650" cy="3152775"/>
          </a:xfrm>
          <a:prstGeom prst="roundRect">
            <a:avLst>
              <a:gd name="adj" fmla="val 0"/>
            </a:avLst>
          </a:prstGeom>
        </p:spPr>
      </p:pic>
      <p:sp>
        <p:nvSpPr>
          <p:cNvPr id="34" name="Shape 31"/>
          <p:cNvSpPr/>
          <p:nvPr/>
        </p:nvSpPr>
        <p:spPr>
          <a:xfrm>
            <a:off x="7052310" y="5154928"/>
            <a:ext cx="4751070" cy="502920"/>
          </a:xfrm>
          <a:custGeom>
            <a:avLst/>
            <a:gdLst/>
            <a:ahLst/>
            <a:cxnLst/>
            <a:rect l="l" t="t" r="r" b="b"/>
            <a:pathLst>
              <a:path w="4751070" h="502920">
                <a:moveTo>
                  <a:pt x="0" y="0"/>
                </a:moveTo>
                <a:lnTo>
                  <a:pt x="4751070" y="0"/>
                </a:lnTo>
                <a:lnTo>
                  <a:pt x="475107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7175182" y="5311146"/>
            <a:ext cx="4505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Figure 4:</a:t>
            </a:r>
            <a:r>
              <a:rPr lang="en-US" sz="1050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Class distribution across the four diagnostic categories in the dataset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052310" y="5817874"/>
            <a:ext cx="2312670" cy="769620"/>
          </a:xfrm>
          <a:custGeom>
            <a:avLst/>
            <a:gdLst/>
            <a:ahLst/>
            <a:cxnLst/>
            <a:rect l="l" t="t" r="r" b="b"/>
            <a:pathLst>
              <a:path w="2312670" h="769620">
                <a:moveTo>
                  <a:pt x="0" y="0"/>
                </a:moveTo>
                <a:lnTo>
                  <a:pt x="2312670" y="0"/>
                </a:lnTo>
                <a:lnTo>
                  <a:pt x="2312670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113270" y="5935982"/>
            <a:ext cx="2190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~810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132320" y="6240661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Images per class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490710" y="5817874"/>
            <a:ext cx="2312670" cy="769620"/>
          </a:xfrm>
          <a:custGeom>
            <a:avLst/>
            <a:gdLst/>
            <a:ahLst/>
            <a:cxnLst/>
            <a:rect l="l" t="t" r="r" b="b"/>
            <a:pathLst>
              <a:path w="2312670" h="769620">
                <a:moveTo>
                  <a:pt x="0" y="0"/>
                </a:moveTo>
                <a:lnTo>
                  <a:pt x="2312670" y="0"/>
                </a:lnTo>
                <a:lnTo>
                  <a:pt x="2312670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9551670" y="5935982"/>
            <a:ext cx="2190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Balanced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570720" y="6240661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Distribution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Technologies &amp; Tools Used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337310"/>
            <a:ext cx="3674745" cy="2255520"/>
          </a:xfrm>
          <a:custGeom>
            <a:avLst/>
            <a:gdLst/>
            <a:ahLst/>
            <a:cxnLst/>
            <a:rect l="l" t="t" r="r" b="b"/>
            <a:pathLst>
              <a:path w="3674745" h="2255520">
                <a:moveTo>
                  <a:pt x="0" y="0"/>
                </a:moveTo>
                <a:lnTo>
                  <a:pt x="3674745" y="0"/>
                </a:lnTo>
                <a:lnTo>
                  <a:pt x="3674745" y="2255520"/>
                </a:lnTo>
                <a:lnTo>
                  <a:pt x="0" y="22555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3414" y="1531623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294546" y="134280"/>
                </a:moveTo>
                <a:cubicBezTo>
                  <a:pt x="289389" y="113586"/>
                  <a:pt x="279611" y="97981"/>
                  <a:pt x="258782" y="97981"/>
                </a:cubicBezTo>
                <a:lnTo>
                  <a:pt x="231926" y="97981"/>
                </a:lnTo>
                <a:lnTo>
                  <a:pt x="231926" y="129726"/>
                </a:lnTo>
                <a:cubicBezTo>
                  <a:pt x="231926" y="154372"/>
                  <a:pt x="211031" y="175133"/>
                  <a:pt x="187189" y="175133"/>
                </a:cubicBezTo>
                <a:lnTo>
                  <a:pt x="115662" y="175133"/>
                </a:lnTo>
                <a:cubicBezTo>
                  <a:pt x="96106" y="175133"/>
                  <a:pt x="79898" y="191877"/>
                  <a:pt x="79898" y="211500"/>
                </a:cubicBezTo>
                <a:lnTo>
                  <a:pt x="79898" y="279678"/>
                </a:lnTo>
                <a:cubicBezTo>
                  <a:pt x="79898" y="299100"/>
                  <a:pt x="96775" y="310485"/>
                  <a:pt x="115662" y="316044"/>
                </a:cubicBezTo>
                <a:cubicBezTo>
                  <a:pt x="138299" y="322674"/>
                  <a:pt x="160065" y="323880"/>
                  <a:pt x="187189" y="316044"/>
                </a:cubicBezTo>
                <a:cubicBezTo>
                  <a:pt x="205204" y="310820"/>
                  <a:pt x="222952" y="300305"/>
                  <a:pt x="222952" y="279678"/>
                </a:cubicBezTo>
                <a:lnTo>
                  <a:pt x="222952" y="252420"/>
                </a:lnTo>
                <a:lnTo>
                  <a:pt x="151492" y="252420"/>
                </a:lnTo>
                <a:lnTo>
                  <a:pt x="151492" y="243312"/>
                </a:lnTo>
                <a:lnTo>
                  <a:pt x="258782" y="243312"/>
                </a:lnTo>
                <a:cubicBezTo>
                  <a:pt x="279611" y="243312"/>
                  <a:pt x="287313" y="228779"/>
                  <a:pt x="294546" y="207012"/>
                </a:cubicBezTo>
                <a:cubicBezTo>
                  <a:pt x="302047" y="184577"/>
                  <a:pt x="301712" y="163011"/>
                  <a:pt x="294546" y="134280"/>
                </a:cubicBezTo>
                <a:close/>
                <a:moveTo>
                  <a:pt x="191676" y="297827"/>
                </a:moveTo>
                <a:cubicBezTo>
                  <a:pt x="186579" y="298185"/>
                  <a:pt x="181708" y="295668"/>
                  <a:pt x="179050" y="291304"/>
                </a:cubicBezTo>
                <a:cubicBezTo>
                  <a:pt x="176393" y="286940"/>
                  <a:pt x="176393" y="281457"/>
                  <a:pt x="179050" y="277093"/>
                </a:cubicBezTo>
                <a:cubicBezTo>
                  <a:pt x="181708" y="272729"/>
                  <a:pt x="186579" y="270212"/>
                  <a:pt x="191676" y="270570"/>
                </a:cubicBezTo>
                <a:cubicBezTo>
                  <a:pt x="196773" y="270212"/>
                  <a:pt x="201644" y="272729"/>
                  <a:pt x="204301" y="277093"/>
                </a:cubicBezTo>
                <a:cubicBezTo>
                  <a:pt x="206959" y="281457"/>
                  <a:pt x="206959" y="286940"/>
                  <a:pt x="204301" y="291304"/>
                </a:cubicBezTo>
                <a:cubicBezTo>
                  <a:pt x="201644" y="295668"/>
                  <a:pt x="196773" y="298185"/>
                  <a:pt x="191676" y="297827"/>
                </a:cubicBezTo>
                <a:close/>
                <a:moveTo>
                  <a:pt x="112380" y="166159"/>
                </a:moveTo>
                <a:lnTo>
                  <a:pt x="183907" y="166159"/>
                </a:lnTo>
                <a:cubicBezTo>
                  <a:pt x="203798" y="166159"/>
                  <a:pt x="219670" y="149751"/>
                  <a:pt x="219670" y="129793"/>
                </a:cubicBezTo>
                <a:lnTo>
                  <a:pt x="219670" y="61548"/>
                </a:lnTo>
                <a:cubicBezTo>
                  <a:pt x="219670" y="42126"/>
                  <a:pt x="203329" y="27593"/>
                  <a:pt x="183907" y="24311"/>
                </a:cubicBezTo>
                <a:cubicBezTo>
                  <a:pt x="159931" y="20360"/>
                  <a:pt x="133878" y="20561"/>
                  <a:pt x="112380" y="24378"/>
                </a:cubicBezTo>
                <a:cubicBezTo>
                  <a:pt x="82108" y="29736"/>
                  <a:pt x="76617" y="40920"/>
                  <a:pt x="76617" y="61615"/>
                </a:cubicBezTo>
                <a:lnTo>
                  <a:pt x="76617" y="88873"/>
                </a:lnTo>
                <a:lnTo>
                  <a:pt x="148210" y="88873"/>
                </a:lnTo>
                <a:lnTo>
                  <a:pt x="148210" y="97981"/>
                </a:lnTo>
                <a:lnTo>
                  <a:pt x="49761" y="97981"/>
                </a:lnTo>
                <a:cubicBezTo>
                  <a:pt x="28932" y="97981"/>
                  <a:pt x="10716" y="110505"/>
                  <a:pt x="5023" y="134280"/>
                </a:cubicBezTo>
                <a:cubicBezTo>
                  <a:pt x="-1540" y="161538"/>
                  <a:pt x="-1808" y="178549"/>
                  <a:pt x="5023" y="207012"/>
                </a:cubicBezTo>
                <a:cubicBezTo>
                  <a:pt x="10113" y="228176"/>
                  <a:pt x="22235" y="243312"/>
                  <a:pt x="43063" y="243312"/>
                </a:cubicBezTo>
                <a:lnTo>
                  <a:pt x="67642" y="243312"/>
                </a:lnTo>
                <a:lnTo>
                  <a:pt x="67642" y="210629"/>
                </a:lnTo>
                <a:cubicBezTo>
                  <a:pt x="67642" y="186988"/>
                  <a:pt x="88069" y="166159"/>
                  <a:pt x="112380" y="166159"/>
                </a:cubicBezTo>
                <a:close/>
                <a:moveTo>
                  <a:pt x="107960" y="43331"/>
                </a:moveTo>
                <a:cubicBezTo>
                  <a:pt x="115500" y="43331"/>
                  <a:pt x="121622" y="49453"/>
                  <a:pt x="121622" y="56994"/>
                </a:cubicBezTo>
                <a:cubicBezTo>
                  <a:pt x="121622" y="64534"/>
                  <a:pt x="115500" y="70656"/>
                  <a:pt x="107960" y="70656"/>
                </a:cubicBezTo>
                <a:cubicBezTo>
                  <a:pt x="100419" y="70656"/>
                  <a:pt x="94297" y="64534"/>
                  <a:pt x="94297" y="56994"/>
                </a:cubicBezTo>
                <a:cubicBezTo>
                  <a:pt x="94297" y="49453"/>
                  <a:pt x="100419" y="43331"/>
                  <a:pt x="107960" y="43331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22045" y="1569723"/>
            <a:ext cx="695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9120" y="2026923"/>
            <a:ext cx="3362325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Primary Programming Language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for the entire project, offering extensive libraries and frameworks for machine learning and data processing.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9120" y="3131823"/>
            <a:ext cx="590550" cy="266700"/>
          </a:xfrm>
          <a:custGeom>
            <a:avLst/>
            <a:gdLst/>
            <a:ahLst/>
            <a:cxnLst/>
            <a:rect l="l" t="t" r="r" b="b"/>
            <a:pathLst>
              <a:path w="590550" h="266700">
                <a:moveTo>
                  <a:pt x="0" y="0"/>
                </a:moveTo>
                <a:lnTo>
                  <a:pt x="590550" y="0"/>
                </a:lnTo>
                <a:lnTo>
                  <a:pt x="5905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9120" y="3131823"/>
            <a:ext cx="6572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NumPy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1349" y="3131823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0" y="0"/>
                </a:moveTo>
                <a:lnTo>
                  <a:pt x="561975" y="0"/>
                </a:lnTo>
                <a:lnTo>
                  <a:pt x="5619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71349" y="3131823"/>
            <a:ext cx="6286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Pandas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8270" y="1337310"/>
            <a:ext cx="3674745" cy="2255520"/>
          </a:xfrm>
          <a:custGeom>
            <a:avLst/>
            <a:gdLst/>
            <a:ahLst/>
            <a:cxnLst/>
            <a:rect l="l" t="t" r="r" b="b"/>
            <a:pathLst>
              <a:path w="3674745" h="2255520">
                <a:moveTo>
                  <a:pt x="0" y="0"/>
                </a:moveTo>
                <a:lnTo>
                  <a:pt x="3674745" y="0"/>
                </a:lnTo>
                <a:lnTo>
                  <a:pt x="3674745" y="2255520"/>
                </a:lnTo>
                <a:lnTo>
                  <a:pt x="0" y="22555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95443" y="153162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95506" y="1569723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TensorFlow/Keras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2580" y="2026923"/>
            <a:ext cx="336232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Deep Learning Framework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for building, training, and deploying the EfficientNet-B0 model with high-level APIs and GPU acceleration.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52580" y="2884173"/>
            <a:ext cx="1047750" cy="266700"/>
          </a:xfrm>
          <a:custGeom>
            <a:avLst/>
            <a:gdLst/>
            <a:ahLst/>
            <a:cxnLst/>
            <a:rect l="l" t="t" r="r" b="b"/>
            <a:pathLst>
              <a:path w="1047750" h="266700">
                <a:moveTo>
                  <a:pt x="0" y="0"/>
                </a:moveTo>
                <a:lnTo>
                  <a:pt x="1047750" y="0"/>
                </a:lnTo>
                <a:lnTo>
                  <a:pt x="10477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452580" y="2884173"/>
            <a:ext cx="11144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Model Building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01295" y="2884173"/>
            <a:ext cx="657225" cy="266700"/>
          </a:xfrm>
          <a:custGeom>
            <a:avLst/>
            <a:gdLst/>
            <a:ahLst/>
            <a:cxnLst/>
            <a:rect l="l" t="t" r="r" b="b"/>
            <a:pathLst>
              <a:path w="657225" h="266700">
                <a:moveTo>
                  <a:pt x="0" y="0"/>
                </a:moveTo>
                <a:lnTo>
                  <a:pt x="657225" y="0"/>
                </a:lnTo>
                <a:lnTo>
                  <a:pt x="657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01295" y="2884173"/>
            <a:ext cx="72390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1731" y="1337310"/>
            <a:ext cx="3674745" cy="2255520"/>
          </a:xfrm>
          <a:custGeom>
            <a:avLst/>
            <a:gdLst/>
            <a:ahLst/>
            <a:cxnLst/>
            <a:rect l="l" t="t" r="r" b="b"/>
            <a:pathLst>
              <a:path w="3674745" h="2255520">
                <a:moveTo>
                  <a:pt x="0" y="0"/>
                </a:moveTo>
                <a:lnTo>
                  <a:pt x="3674745" y="0"/>
                </a:lnTo>
                <a:lnTo>
                  <a:pt x="3674745" y="2255520"/>
                </a:lnTo>
                <a:lnTo>
                  <a:pt x="0" y="22555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347472" y="1531623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66092" y="58936"/>
                </a:moveTo>
                <a:lnTo>
                  <a:pt x="219670" y="58936"/>
                </a:lnTo>
                <a:lnTo>
                  <a:pt x="219670" y="91083"/>
                </a:lnTo>
                <a:lnTo>
                  <a:pt x="166092" y="91083"/>
                </a:lnTo>
                <a:lnTo>
                  <a:pt x="166092" y="58936"/>
                </a:lnTo>
                <a:close/>
                <a:moveTo>
                  <a:pt x="160734" y="21431"/>
                </a:moveTo>
                <a:cubicBezTo>
                  <a:pt x="142987" y="21431"/>
                  <a:pt x="128588" y="35830"/>
                  <a:pt x="128588" y="53578"/>
                </a:cubicBezTo>
                <a:lnTo>
                  <a:pt x="128588" y="96441"/>
                </a:lnTo>
                <a:cubicBezTo>
                  <a:pt x="128588" y="114188"/>
                  <a:pt x="142987" y="128588"/>
                  <a:pt x="160734" y="128588"/>
                </a:cubicBezTo>
                <a:lnTo>
                  <a:pt x="171450" y="128588"/>
                </a:lnTo>
                <a:lnTo>
                  <a:pt x="171450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85725" y="192881"/>
                </a:lnTo>
                <a:lnTo>
                  <a:pt x="85725" y="214313"/>
                </a:lnTo>
                <a:lnTo>
                  <a:pt x="75009" y="214313"/>
                </a:lnTo>
                <a:cubicBezTo>
                  <a:pt x="57262" y="214313"/>
                  <a:pt x="42863" y="228712"/>
                  <a:pt x="42863" y="246459"/>
                </a:cubicBezTo>
                <a:lnTo>
                  <a:pt x="42863" y="289322"/>
                </a:lnTo>
                <a:cubicBezTo>
                  <a:pt x="42863" y="307070"/>
                  <a:pt x="57262" y="321469"/>
                  <a:pt x="75009" y="321469"/>
                </a:cubicBezTo>
                <a:lnTo>
                  <a:pt x="139303" y="321469"/>
                </a:lnTo>
                <a:cubicBezTo>
                  <a:pt x="157051" y="321469"/>
                  <a:pt x="171450" y="307070"/>
                  <a:pt x="171450" y="289322"/>
                </a:cubicBezTo>
                <a:lnTo>
                  <a:pt x="171450" y="246459"/>
                </a:lnTo>
                <a:cubicBezTo>
                  <a:pt x="171450" y="228712"/>
                  <a:pt x="157051" y="214313"/>
                  <a:pt x="139303" y="214313"/>
                </a:cubicBezTo>
                <a:lnTo>
                  <a:pt x="128588" y="214313"/>
                </a:lnTo>
                <a:lnTo>
                  <a:pt x="128588" y="192881"/>
                </a:lnTo>
                <a:lnTo>
                  <a:pt x="257175" y="192881"/>
                </a:lnTo>
                <a:lnTo>
                  <a:pt x="257175" y="214313"/>
                </a:lnTo>
                <a:lnTo>
                  <a:pt x="246459" y="214313"/>
                </a:lnTo>
                <a:cubicBezTo>
                  <a:pt x="228712" y="214313"/>
                  <a:pt x="214313" y="228712"/>
                  <a:pt x="214313" y="246459"/>
                </a:cubicBezTo>
                <a:lnTo>
                  <a:pt x="214313" y="289322"/>
                </a:lnTo>
                <a:cubicBezTo>
                  <a:pt x="214313" y="307070"/>
                  <a:pt x="228712" y="321469"/>
                  <a:pt x="246459" y="321469"/>
                </a:cubicBezTo>
                <a:lnTo>
                  <a:pt x="310753" y="321469"/>
                </a:lnTo>
                <a:cubicBezTo>
                  <a:pt x="328501" y="321469"/>
                  <a:pt x="342900" y="307070"/>
                  <a:pt x="342900" y="289322"/>
                </a:cubicBezTo>
                <a:lnTo>
                  <a:pt x="342900" y="246459"/>
                </a:lnTo>
                <a:cubicBezTo>
                  <a:pt x="342900" y="228712"/>
                  <a:pt x="328501" y="214313"/>
                  <a:pt x="310753" y="214313"/>
                </a:cubicBezTo>
                <a:lnTo>
                  <a:pt x="300038" y="214313"/>
                </a:lnTo>
                <a:lnTo>
                  <a:pt x="300038" y="192881"/>
                </a:lnTo>
                <a:lnTo>
                  <a:pt x="364331" y="192881"/>
                </a:lnTo>
                <a:cubicBezTo>
                  <a:pt x="376185" y="192881"/>
                  <a:pt x="385763" y="183304"/>
                  <a:pt x="385763" y="171450"/>
                </a:cubicBezTo>
                <a:cubicBezTo>
                  <a:pt x="385763" y="159596"/>
                  <a:pt x="376185" y="150019"/>
                  <a:pt x="364331" y="150019"/>
                </a:cubicBezTo>
                <a:lnTo>
                  <a:pt x="214313" y="150019"/>
                </a:lnTo>
                <a:lnTo>
                  <a:pt x="214313" y="128588"/>
                </a:lnTo>
                <a:lnTo>
                  <a:pt x="225028" y="128588"/>
                </a:lnTo>
                <a:cubicBezTo>
                  <a:pt x="242776" y="128588"/>
                  <a:pt x="257175" y="114188"/>
                  <a:pt x="257175" y="96441"/>
                </a:cubicBezTo>
                <a:lnTo>
                  <a:pt x="257175" y="53578"/>
                </a:lnTo>
                <a:cubicBezTo>
                  <a:pt x="257175" y="35830"/>
                  <a:pt x="242776" y="21431"/>
                  <a:pt x="225028" y="21431"/>
                </a:cubicBezTo>
                <a:lnTo>
                  <a:pt x="160734" y="21431"/>
                </a:lnTo>
                <a:close/>
                <a:moveTo>
                  <a:pt x="300038" y="251817"/>
                </a:moveTo>
                <a:lnTo>
                  <a:pt x="305395" y="251817"/>
                </a:lnTo>
                <a:lnTo>
                  <a:pt x="305395" y="283964"/>
                </a:lnTo>
                <a:lnTo>
                  <a:pt x="251817" y="283964"/>
                </a:lnTo>
                <a:lnTo>
                  <a:pt x="251817" y="251817"/>
                </a:lnTo>
                <a:lnTo>
                  <a:pt x="300038" y="251817"/>
                </a:lnTo>
                <a:close/>
                <a:moveTo>
                  <a:pt x="128588" y="251817"/>
                </a:moveTo>
                <a:lnTo>
                  <a:pt x="133945" y="251817"/>
                </a:lnTo>
                <a:lnTo>
                  <a:pt x="133945" y="283964"/>
                </a:lnTo>
                <a:lnTo>
                  <a:pt x="80367" y="283964"/>
                </a:lnTo>
                <a:lnTo>
                  <a:pt x="80367" y="251817"/>
                </a:lnTo>
                <a:lnTo>
                  <a:pt x="128588" y="251817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868966" y="1569723"/>
            <a:ext cx="136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EfficientNet-B0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6041" y="2026923"/>
            <a:ext cx="336232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Pretrained CNN Architecture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using compound scaling for optimal balance between accuracy and computational efficiency.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26041" y="2884173"/>
            <a:ext cx="1190625" cy="266700"/>
          </a:xfrm>
          <a:custGeom>
            <a:avLst/>
            <a:gdLst/>
            <a:ahLst/>
            <a:cxnLst/>
            <a:rect l="l" t="t" r="r" b="b"/>
            <a:pathLst>
              <a:path w="1190625" h="266700">
                <a:moveTo>
                  <a:pt x="0" y="0"/>
                </a:moveTo>
                <a:lnTo>
                  <a:pt x="1190625" y="0"/>
                </a:lnTo>
                <a:lnTo>
                  <a:pt x="11906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326041" y="2884173"/>
            <a:ext cx="125730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20726" y="2884173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0" y="0"/>
                </a:moveTo>
                <a:lnTo>
                  <a:pt x="704850" y="0"/>
                </a:lnTo>
                <a:lnTo>
                  <a:pt x="7048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620726" y="2884173"/>
            <a:ext cx="7715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ImageNet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810" y="3600451"/>
            <a:ext cx="3674745" cy="2007870"/>
          </a:xfrm>
          <a:custGeom>
            <a:avLst/>
            <a:gdLst/>
            <a:ahLst/>
            <a:cxnLst/>
            <a:rect l="l" t="t" r="r" b="b"/>
            <a:pathLst>
              <a:path w="3674745" h="2007870">
                <a:moveTo>
                  <a:pt x="0" y="0"/>
                </a:moveTo>
                <a:lnTo>
                  <a:pt x="3674745" y="0"/>
                </a:lnTo>
                <a:lnTo>
                  <a:pt x="3674745" y="2007870"/>
                </a:lnTo>
                <a:lnTo>
                  <a:pt x="0" y="20078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79120" y="3794759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78539" y="140977"/>
                </a:moveTo>
                <a:cubicBezTo>
                  <a:pt x="286710" y="138767"/>
                  <a:pt x="295282" y="142652"/>
                  <a:pt x="298966" y="150220"/>
                </a:cubicBezTo>
                <a:lnTo>
                  <a:pt x="311423" y="175401"/>
                </a:lnTo>
                <a:cubicBezTo>
                  <a:pt x="318321" y="176339"/>
                  <a:pt x="325085" y="178214"/>
                  <a:pt x="331448" y="180826"/>
                </a:cubicBezTo>
                <a:lnTo>
                  <a:pt x="354888" y="165222"/>
                </a:lnTo>
                <a:cubicBezTo>
                  <a:pt x="361920" y="160533"/>
                  <a:pt x="371229" y="161471"/>
                  <a:pt x="377190" y="167432"/>
                </a:cubicBezTo>
                <a:lnTo>
                  <a:pt x="390049" y="180290"/>
                </a:lnTo>
                <a:cubicBezTo>
                  <a:pt x="396009" y="186251"/>
                  <a:pt x="396947" y="195627"/>
                  <a:pt x="392259" y="202592"/>
                </a:cubicBezTo>
                <a:lnTo>
                  <a:pt x="376654" y="225966"/>
                </a:lnTo>
                <a:cubicBezTo>
                  <a:pt x="377927" y="229113"/>
                  <a:pt x="379065" y="232395"/>
                  <a:pt x="380003" y="235811"/>
                </a:cubicBezTo>
                <a:cubicBezTo>
                  <a:pt x="380940" y="239226"/>
                  <a:pt x="381543" y="242575"/>
                  <a:pt x="382012" y="245991"/>
                </a:cubicBezTo>
                <a:lnTo>
                  <a:pt x="407261" y="258447"/>
                </a:lnTo>
                <a:cubicBezTo>
                  <a:pt x="414829" y="262198"/>
                  <a:pt x="418713" y="270770"/>
                  <a:pt x="416503" y="278874"/>
                </a:cubicBezTo>
                <a:lnTo>
                  <a:pt x="411815" y="296421"/>
                </a:lnTo>
                <a:cubicBezTo>
                  <a:pt x="409605" y="304525"/>
                  <a:pt x="402037" y="310016"/>
                  <a:pt x="393598" y="309481"/>
                </a:cubicBezTo>
                <a:lnTo>
                  <a:pt x="365470" y="307672"/>
                </a:lnTo>
                <a:cubicBezTo>
                  <a:pt x="361251" y="313097"/>
                  <a:pt x="356362" y="318120"/>
                  <a:pt x="350803" y="322406"/>
                </a:cubicBezTo>
                <a:lnTo>
                  <a:pt x="352611" y="350468"/>
                </a:lnTo>
                <a:cubicBezTo>
                  <a:pt x="353147" y="358906"/>
                  <a:pt x="347655" y="366541"/>
                  <a:pt x="339551" y="368684"/>
                </a:cubicBezTo>
                <a:lnTo>
                  <a:pt x="322005" y="373373"/>
                </a:lnTo>
                <a:cubicBezTo>
                  <a:pt x="313834" y="375583"/>
                  <a:pt x="305328" y="371698"/>
                  <a:pt x="301578" y="364130"/>
                </a:cubicBezTo>
                <a:lnTo>
                  <a:pt x="289121" y="338949"/>
                </a:lnTo>
                <a:cubicBezTo>
                  <a:pt x="282223" y="338011"/>
                  <a:pt x="275459" y="336136"/>
                  <a:pt x="269096" y="333524"/>
                </a:cubicBezTo>
                <a:lnTo>
                  <a:pt x="245656" y="349128"/>
                </a:lnTo>
                <a:cubicBezTo>
                  <a:pt x="238624" y="353817"/>
                  <a:pt x="229314" y="352879"/>
                  <a:pt x="223354" y="346918"/>
                </a:cubicBezTo>
                <a:lnTo>
                  <a:pt x="210495" y="334060"/>
                </a:lnTo>
                <a:cubicBezTo>
                  <a:pt x="204534" y="328099"/>
                  <a:pt x="203597" y="318790"/>
                  <a:pt x="208285" y="311758"/>
                </a:cubicBezTo>
                <a:lnTo>
                  <a:pt x="223890" y="288317"/>
                </a:lnTo>
                <a:cubicBezTo>
                  <a:pt x="222617" y="285170"/>
                  <a:pt x="221479" y="281888"/>
                  <a:pt x="220541" y="278472"/>
                </a:cubicBezTo>
                <a:cubicBezTo>
                  <a:pt x="219603" y="275057"/>
                  <a:pt x="219001" y="271641"/>
                  <a:pt x="218532" y="268292"/>
                </a:cubicBezTo>
                <a:lnTo>
                  <a:pt x="193283" y="255836"/>
                </a:lnTo>
                <a:cubicBezTo>
                  <a:pt x="185715" y="252085"/>
                  <a:pt x="181898" y="243513"/>
                  <a:pt x="184041" y="235409"/>
                </a:cubicBezTo>
                <a:lnTo>
                  <a:pt x="188729" y="217862"/>
                </a:lnTo>
                <a:cubicBezTo>
                  <a:pt x="190939" y="209758"/>
                  <a:pt x="198507" y="204267"/>
                  <a:pt x="206946" y="204802"/>
                </a:cubicBezTo>
                <a:lnTo>
                  <a:pt x="235007" y="206611"/>
                </a:lnTo>
                <a:cubicBezTo>
                  <a:pt x="239226" y="201186"/>
                  <a:pt x="244115" y="196163"/>
                  <a:pt x="249674" y="191877"/>
                </a:cubicBezTo>
                <a:lnTo>
                  <a:pt x="247866" y="163882"/>
                </a:lnTo>
                <a:cubicBezTo>
                  <a:pt x="247330" y="155444"/>
                  <a:pt x="252822" y="147809"/>
                  <a:pt x="260925" y="145666"/>
                </a:cubicBezTo>
                <a:lnTo>
                  <a:pt x="278472" y="140977"/>
                </a:lnTo>
                <a:close/>
                <a:moveTo>
                  <a:pt x="300305" y="227707"/>
                </a:moveTo>
                <a:cubicBezTo>
                  <a:pt x="284042" y="227726"/>
                  <a:pt x="270852" y="240945"/>
                  <a:pt x="270871" y="257208"/>
                </a:cubicBezTo>
                <a:cubicBezTo>
                  <a:pt x="270889" y="273472"/>
                  <a:pt x="284109" y="286661"/>
                  <a:pt x="300372" y="286643"/>
                </a:cubicBezTo>
                <a:cubicBezTo>
                  <a:pt x="316636" y="286624"/>
                  <a:pt x="329825" y="273405"/>
                  <a:pt x="329807" y="257142"/>
                </a:cubicBezTo>
                <a:cubicBezTo>
                  <a:pt x="329788" y="240878"/>
                  <a:pt x="316569" y="227689"/>
                  <a:pt x="300305" y="227707"/>
                </a:cubicBezTo>
                <a:close/>
                <a:moveTo>
                  <a:pt x="150622" y="-30473"/>
                </a:moveTo>
                <a:lnTo>
                  <a:pt x="168168" y="-25784"/>
                </a:lnTo>
                <a:cubicBezTo>
                  <a:pt x="176272" y="-23574"/>
                  <a:pt x="181764" y="-15939"/>
                  <a:pt x="181228" y="-7568"/>
                </a:cubicBezTo>
                <a:lnTo>
                  <a:pt x="179420" y="20427"/>
                </a:lnTo>
                <a:cubicBezTo>
                  <a:pt x="184978" y="24713"/>
                  <a:pt x="189867" y="29669"/>
                  <a:pt x="194087" y="35161"/>
                </a:cubicBezTo>
                <a:lnTo>
                  <a:pt x="222215" y="33352"/>
                </a:lnTo>
                <a:cubicBezTo>
                  <a:pt x="230587" y="32817"/>
                  <a:pt x="238222" y="38308"/>
                  <a:pt x="240432" y="46412"/>
                </a:cubicBezTo>
                <a:lnTo>
                  <a:pt x="245120" y="63959"/>
                </a:lnTo>
                <a:cubicBezTo>
                  <a:pt x="247263" y="72063"/>
                  <a:pt x="243446" y="80635"/>
                  <a:pt x="235878" y="84386"/>
                </a:cubicBezTo>
                <a:lnTo>
                  <a:pt x="210629" y="96842"/>
                </a:lnTo>
                <a:cubicBezTo>
                  <a:pt x="210160" y="100258"/>
                  <a:pt x="209490" y="103674"/>
                  <a:pt x="208620" y="107022"/>
                </a:cubicBezTo>
                <a:cubicBezTo>
                  <a:pt x="207749" y="110371"/>
                  <a:pt x="206544" y="113720"/>
                  <a:pt x="205271" y="116867"/>
                </a:cubicBezTo>
                <a:lnTo>
                  <a:pt x="220876" y="140308"/>
                </a:lnTo>
                <a:cubicBezTo>
                  <a:pt x="225564" y="147340"/>
                  <a:pt x="224626" y="156649"/>
                  <a:pt x="218666" y="162610"/>
                </a:cubicBezTo>
                <a:lnTo>
                  <a:pt x="205807" y="175468"/>
                </a:lnTo>
                <a:cubicBezTo>
                  <a:pt x="199846" y="181429"/>
                  <a:pt x="190537" y="182367"/>
                  <a:pt x="183505" y="177678"/>
                </a:cubicBezTo>
                <a:lnTo>
                  <a:pt x="160065" y="162074"/>
                </a:lnTo>
                <a:cubicBezTo>
                  <a:pt x="153702" y="164686"/>
                  <a:pt x="146938" y="166561"/>
                  <a:pt x="140040" y="167499"/>
                </a:cubicBezTo>
                <a:lnTo>
                  <a:pt x="127583" y="192680"/>
                </a:lnTo>
                <a:cubicBezTo>
                  <a:pt x="123832" y="200248"/>
                  <a:pt x="115260" y="204066"/>
                  <a:pt x="107156" y="201923"/>
                </a:cubicBezTo>
                <a:lnTo>
                  <a:pt x="89609" y="197234"/>
                </a:lnTo>
                <a:cubicBezTo>
                  <a:pt x="81439" y="195024"/>
                  <a:pt x="76014" y="187389"/>
                  <a:pt x="76550" y="179018"/>
                </a:cubicBezTo>
                <a:lnTo>
                  <a:pt x="78358" y="150956"/>
                </a:lnTo>
                <a:cubicBezTo>
                  <a:pt x="72799" y="146670"/>
                  <a:pt x="67910" y="141714"/>
                  <a:pt x="63691" y="136222"/>
                </a:cubicBezTo>
                <a:lnTo>
                  <a:pt x="35562" y="138031"/>
                </a:lnTo>
                <a:cubicBezTo>
                  <a:pt x="27191" y="138566"/>
                  <a:pt x="19556" y="133075"/>
                  <a:pt x="17346" y="124971"/>
                </a:cubicBezTo>
                <a:lnTo>
                  <a:pt x="12658" y="107424"/>
                </a:lnTo>
                <a:cubicBezTo>
                  <a:pt x="10515" y="99320"/>
                  <a:pt x="14332" y="90748"/>
                  <a:pt x="21900" y="86997"/>
                </a:cubicBezTo>
                <a:lnTo>
                  <a:pt x="47149" y="74541"/>
                </a:lnTo>
                <a:cubicBezTo>
                  <a:pt x="47618" y="71125"/>
                  <a:pt x="48287" y="67776"/>
                  <a:pt x="49158" y="64361"/>
                </a:cubicBezTo>
                <a:cubicBezTo>
                  <a:pt x="50096" y="60945"/>
                  <a:pt x="51167" y="57663"/>
                  <a:pt x="52507" y="54516"/>
                </a:cubicBezTo>
                <a:lnTo>
                  <a:pt x="36902" y="31142"/>
                </a:lnTo>
                <a:cubicBezTo>
                  <a:pt x="32214" y="24110"/>
                  <a:pt x="33151" y="14801"/>
                  <a:pt x="39112" y="8840"/>
                </a:cubicBezTo>
                <a:lnTo>
                  <a:pt x="51971" y="-4018"/>
                </a:lnTo>
                <a:cubicBezTo>
                  <a:pt x="57931" y="-9979"/>
                  <a:pt x="67241" y="-10917"/>
                  <a:pt x="74273" y="-6228"/>
                </a:cubicBezTo>
                <a:lnTo>
                  <a:pt x="97713" y="9376"/>
                </a:lnTo>
                <a:cubicBezTo>
                  <a:pt x="104076" y="6764"/>
                  <a:pt x="110840" y="4889"/>
                  <a:pt x="117738" y="3951"/>
                </a:cubicBezTo>
                <a:lnTo>
                  <a:pt x="130195" y="-21230"/>
                </a:lnTo>
                <a:cubicBezTo>
                  <a:pt x="133945" y="-28798"/>
                  <a:pt x="142451" y="-32616"/>
                  <a:pt x="150622" y="-30473"/>
                </a:cubicBezTo>
                <a:close/>
                <a:moveTo>
                  <a:pt x="128855" y="56257"/>
                </a:moveTo>
                <a:cubicBezTo>
                  <a:pt x="112592" y="56257"/>
                  <a:pt x="99387" y="69461"/>
                  <a:pt x="99387" y="85725"/>
                </a:cubicBezTo>
                <a:cubicBezTo>
                  <a:pt x="99387" y="101989"/>
                  <a:pt x="112592" y="115193"/>
                  <a:pt x="128855" y="115193"/>
                </a:cubicBezTo>
                <a:cubicBezTo>
                  <a:pt x="145119" y="115193"/>
                  <a:pt x="158323" y="101989"/>
                  <a:pt x="158323" y="85725"/>
                </a:cubicBezTo>
                <a:cubicBezTo>
                  <a:pt x="158323" y="69461"/>
                  <a:pt x="145119" y="56257"/>
                  <a:pt x="128855" y="56257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122045" y="3832859"/>
            <a:ext cx="1476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Adam Optimizer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9120" y="4290059"/>
            <a:ext cx="336232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Adaptive Optimization Algorithm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with dynamic learning rate adjustment for faster and more stable convergence during training.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9120" y="5147309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0" y="0"/>
                </a:moveTo>
                <a:lnTo>
                  <a:pt x="895350" y="0"/>
                </a:lnTo>
                <a:lnTo>
                  <a:pt x="8953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79120" y="5147309"/>
            <a:ext cx="9620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Adaptive LR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575316" y="5147309"/>
            <a:ext cx="1181100" cy="266700"/>
          </a:xfrm>
          <a:custGeom>
            <a:avLst/>
            <a:gdLst/>
            <a:ahLst/>
            <a:cxnLst/>
            <a:rect l="l" t="t" r="r" b="b"/>
            <a:pathLst>
              <a:path w="1181100" h="266700">
                <a:moveTo>
                  <a:pt x="0" y="0"/>
                </a:moveTo>
                <a:lnTo>
                  <a:pt x="1181100" y="0"/>
                </a:lnTo>
                <a:lnTo>
                  <a:pt x="1181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575316" y="5147309"/>
            <a:ext cx="12477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Fast Convergence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58270" y="3600451"/>
            <a:ext cx="3674745" cy="2007870"/>
          </a:xfrm>
          <a:custGeom>
            <a:avLst/>
            <a:gdLst/>
            <a:ahLst/>
            <a:cxnLst/>
            <a:rect l="l" t="t" r="r" b="b"/>
            <a:pathLst>
              <a:path w="3674745" h="2007870">
                <a:moveTo>
                  <a:pt x="0" y="0"/>
                </a:moveTo>
                <a:lnTo>
                  <a:pt x="3674745" y="0"/>
                </a:lnTo>
                <a:lnTo>
                  <a:pt x="3674745" y="2007870"/>
                </a:lnTo>
                <a:lnTo>
                  <a:pt x="0" y="20078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516874" y="3794759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257175" y="321469"/>
                </a:lnTo>
                <a:cubicBezTo>
                  <a:pt x="280816" y="321469"/>
                  <a:pt x="300038" y="302248"/>
                  <a:pt x="300038" y="278606"/>
                </a:cubicBezTo>
                <a:lnTo>
                  <a:pt x="300038" y="64294"/>
                </a:lnTo>
                <a:cubicBezTo>
                  <a:pt x="300038" y="40652"/>
                  <a:pt x="280816" y="21431"/>
                  <a:pt x="257175" y="21431"/>
                </a:cubicBezTo>
                <a:lnTo>
                  <a:pt x="42863" y="21431"/>
                </a:lnTo>
                <a:close/>
                <a:moveTo>
                  <a:pt x="85725" y="75009"/>
                </a:moveTo>
                <a:cubicBezTo>
                  <a:pt x="103467" y="75009"/>
                  <a:pt x="117872" y="89414"/>
                  <a:pt x="117872" y="107156"/>
                </a:cubicBezTo>
                <a:cubicBezTo>
                  <a:pt x="117872" y="124899"/>
                  <a:pt x="103467" y="139303"/>
                  <a:pt x="85725" y="139303"/>
                </a:cubicBezTo>
                <a:cubicBezTo>
                  <a:pt x="67983" y="139303"/>
                  <a:pt x="53578" y="124899"/>
                  <a:pt x="53578" y="107156"/>
                </a:cubicBezTo>
                <a:cubicBezTo>
                  <a:pt x="53578" y="89414"/>
                  <a:pt x="67983" y="75009"/>
                  <a:pt x="85725" y="75009"/>
                </a:cubicBezTo>
                <a:close/>
                <a:moveTo>
                  <a:pt x="182166" y="150019"/>
                </a:moveTo>
                <a:cubicBezTo>
                  <a:pt x="187791" y="150019"/>
                  <a:pt x="192948" y="152966"/>
                  <a:pt x="195895" y="157721"/>
                </a:cubicBezTo>
                <a:lnTo>
                  <a:pt x="254831" y="254161"/>
                </a:lnTo>
                <a:cubicBezTo>
                  <a:pt x="257845" y="259117"/>
                  <a:pt x="257979" y="265346"/>
                  <a:pt x="255166" y="270436"/>
                </a:cubicBezTo>
                <a:cubicBezTo>
                  <a:pt x="252353" y="275526"/>
                  <a:pt x="246928" y="278606"/>
                  <a:pt x="241102" y="278606"/>
                </a:cubicBezTo>
                <a:lnTo>
                  <a:pt x="58936" y="278606"/>
                </a:lnTo>
                <a:cubicBezTo>
                  <a:pt x="52975" y="278606"/>
                  <a:pt x="47417" y="275258"/>
                  <a:pt x="44671" y="269967"/>
                </a:cubicBezTo>
                <a:cubicBezTo>
                  <a:pt x="41925" y="264676"/>
                  <a:pt x="42327" y="258247"/>
                  <a:pt x="45742" y="253358"/>
                </a:cubicBezTo>
                <a:lnTo>
                  <a:pt x="83247" y="199779"/>
                </a:lnTo>
                <a:cubicBezTo>
                  <a:pt x="86261" y="195493"/>
                  <a:pt x="91150" y="192948"/>
                  <a:pt x="96441" y="192948"/>
                </a:cubicBezTo>
                <a:cubicBezTo>
                  <a:pt x="101731" y="192948"/>
                  <a:pt x="106620" y="195493"/>
                  <a:pt x="109634" y="199779"/>
                </a:cubicBezTo>
                <a:lnTo>
                  <a:pt x="127315" y="225095"/>
                </a:lnTo>
                <a:lnTo>
                  <a:pt x="168436" y="157788"/>
                </a:lnTo>
                <a:cubicBezTo>
                  <a:pt x="171383" y="153033"/>
                  <a:pt x="176540" y="150086"/>
                  <a:pt x="182166" y="150086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95506" y="3832859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OpenCV/PIL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52580" y="4290059"/>
            <a:ext cx="336232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Image Processing Libraries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for preprocessing tasks including resizing, normalization, and data augmentation operations.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52580" y="5147309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0" y="0"/>
                </a:moveTo>
                <a:lnTo>
                  <a:pt x="628650" y="0"/>
                </a:lnTo>
                <a:lnTo>
                  <a:pt x="6286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452580" y="5147309"/>
            <a:ext cx="6953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Resizing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90054" y="5147309"/>
            <a:ext cx="971550" cy="266700"/>
          </a:xfrm>
          <a:custGeom>
            <a:avLst/>
            <a:gdLst/>
            <a:ahLst/>
            <a:cxnLst/>
            <a:rect l="l" t="t" r="r" b="b"/>
            <a:pathLst>
              <a:path w="971550" h="266700">
                <a:moveTo>
                  <a:pt x="0" y="0"/>
                </a:moveTo>
                <a:lnTo>
                  <a:pt x="971550" y="0"/>
                </a:lnTo>
                <a:lnTo>
                  <a:pt x="9715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190054" y="5147309"/>
            <a:ext cx="10382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31731" y="3600451"/>
            <a:ext cx="3674745" cy="2007870"/>
          </a:xfrm>
          <a:custGeom>
            <a:avLst/>
            <a:gdLst/>
            <a:ahLst/>
            <a:cxnLst/>
            <a:rect l="l" t="t" r="r" b="b"/>
            <a:pathLst>
              <a:path w="3674745" h="2007870">
                <a:moveTo>
                  <a:pt x="0" y="0"/>
                </a:moveTo>
                <a:lnTo>
                  <a:pt x="3674745" y="0"/>
                </a:lnTo>
                <a:lnTo>
                  <a:pt x="3674745" y="2007870"/>
                </a:lnTo>
                <a:lnTo>
                  <a:pt x="0" y="20078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368903" y="379475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21431"/>
                </a:moveTo>
                <a:cubicBezTo>
                  <a:pt x="33285" y="21431"/>
                  <a:pt x="42863" y="31008"/>
                  <a:pt x="42863" y="42863"/>
                </a:cubicBezTo>
                <a:lnTo>
                  <a:pt x="42863" y="267891"/>
                </a:lnTo>
                <a:cubicBezTo>
                  <a:pt x="42863" y="273784"/>
                  <a:pt x="47685" y="278606"/>
                  <a:pt x="53578" y="278606"/>
                </a:cubicBezTo>
                <a:lnTo>
                  <a:pt x="321469" y="278606"/>
                </a:lnTo>
                <a:cubicBezTo>
                  <a:pt x="333323" y="278606"/>
                  <a:pt x="342900" y="288183"/>
                  <a:pt x="342900" y="300038"/>
                </a:cubicBezTo>
                <a:cubicBezTo>
                  <a:pt x="342900" y="311892"/>
                  <a:pt x="333323" y="321469"/>
                  <a:pt x="321469" y="321469"/>
                </a:cubicBezTo>
                <a:lnTo>
                  <a:pt x="53578" y="321469"/>
                </a:lnTo>
                <a:cubicBezTo>
                  <a:pt x="23976" y="321469"/>
                  <a:pt x="0" y="297493"/>
                  <a:pt x="0" y="267891"/>
                </a:cubicBezTo>
                <a:lnTo>
                  <a:pt x="0" y="42863"/>
                </a:lnTo>
                <a:cubicBezTo>
                  <a:pt x="0" y="31008"/>
                  <a:pt x="9577" y="21431"/>
                  <a:pt x="21431" y="21431"/>
                </a:cubicBezTo>
                <a:close/>
                <a:moveTo>
                  <a:pt x="85725" y="64294"/>
                </a:moveTo>
                <a:cubicBezTo>
                  <a:pt x="85725" y="52440"/>
                  <a:pt x="95302" y="42863"/>
                  <a:pt x="107156" y="42863"/>
                </a:cubicBezTo>
                <a:lnTo>
                  <a:pt x="235744" y="42863"/>
                </a:lnTo>
                <a:cubicBezTo>
                  <a:pt x="247598" y="42863"/>
                  <a:pt x="257175" y="52440"/>
                  <a:pt x="257175" y="64294"/>
                </a:cubicBezTo>
                <a:cubicBezTo>
                  <a:pt x="257175" y="76148"/>
                  <a:pt x="247598" y="85725"/>
                  <a:pt x="235744" y="85725"/>
                </a:cubicBezTo>
                <a:lnTo>
                  <a:pt x="107156" y="85725"/>
                </a:lnTo>
                <a:cubicBezTo>
                  <a:pt x="95302" y="85725"/>
                  <a:pt x="85725" y="76148"/>
                  <a:pt x="85725" y="64294"/>
                </a:cubicBezTo>
                <a:close/>
                <a:moveTo>
                  <a:pt x="107156" y="117872"/>
                </a:moveTo>
                <a:lnTo>
                  <a:pt x="192881" y="117872"/>
                </a:lnTo>
                <a:cubicBezTo>
                  <a:pt x="204735" y="117872"/>
                  <a:pt x="214313" y="127449"/>
                  <a:pt x="214313" y="139303"/>
                </a:cubicBezTo>
                <a:cubicBezTo>
                  <a:pt x="214313" y="151157"/>
                  <a:pt x="204735" y="160734"/>
                  <a:pt x="192881" y="160734"/>
                </a:cubicBezTo>
                <a:lnTo>
                  <a:pt x="107156" y="160734"/>
                </a:lnTo>
                <a:cubicBezTo>
                  <a:pt x="95302" y="160734"/>
                  <a:pt x="85725" y="151157"/>
                  <a:pt x="85725" y="139303"/>
                </a:cubicBezTo>
                <a:cubicBezTo>
                  <a:pt x="85725" y="127449"/>
                  <a:pt x="95302" y="117872"/>
                  <a:pt x="107156" y="117872"/>
                </a:cubicBezTo>
                <a:close/>
                <a:moveTo>
                  <a:pt x="107156" y="192881"/>
                </a:moveTo>
                <a:lnTo>
                  <a:pt x="278606" y="192881"/>
                </a:lnTo>
                <a:cubicBezTo>
                  <a:pt x="290460" y="192881"/>
                  <a:pt x="300038" y="202458"/>
                  <a:pt x="300038" y="214313"/>
                </a:cubicBezTo>
                <a:cubicBezTo>
                  <a:pt x="300038" y="226167"/>
                  <a:pt x="290460" y="235744"/>
                  <a:pt x="278606" y="235744"/>
                </a:cubicBezTo>
                <a:lnTo>
                  <a:pt x="107156" y="235744"/>
                </a:lnTo>
                <a:cubicBezTo>
                  <a:pt x="95302" y="235744"/>
                  <a:pt x="85725" y="226167"/>
                  <a:pt x="85725" y="214313"/>
                </a:cubicBezTo>
                <a:cubicBezTo>
                  <a:pt x="85725" y="202458"/>
                  <a:pt x="95302" y="192881"/>
                  <a:pt x="107156" y="192881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868966" y="3832859"/>
            <a:ext cx="172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Matplotlib/Seaborn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26041" y="4290059"/>
            <a:ext cx="336232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Visualization Libraries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for creating performance graphs, confusion matrices, and training curves for result analysis.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26041" y="5147309"/>
            <a:ext cx="581025" cy="266700"/>
          </a:xfrm>
          <a:custGeom>
            <a:avLst/>
            <a:gdLst/>
            <a:ahLst/>
            <a:cxnLst/>
            <a:rect l="l" t="t" r="r" b="b"/>
            <a:pathLst>
              <a:path w="581025" h="266700">
                <a:moveTo>
                  <a:pt x="0" y="0"/>
                </a:moveTo>
                <a:lnTo>
                  <a:pt x="581025" y="0"/>
                </a:lnTo>
                <a:lnTo>
                  <a:pt x="5810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326041" y="5147309"/>
            <a:ext cx="64770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Graphs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08388" y="5147309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0" y="0"/>
                </a:moveTo>
                <a:lnTo>
                  <a:pt x="914400" y="0"/>
                </a:lnTo>
                <a:lnTo>
                  <a:pt x="9144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9008388" y="5147309"/>
            <a:ext cx="9810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1000" y="5612132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0" y="0"/>
                </a:moveTo>
                <a:lnTo>
                  <a:pt x="11430000" y="0"/>
                </a:lnTo>
                <a:lnTo>
                  <a:pt x="11430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71500" y="5897882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42863" y="64294"/>
                </a:moveTo>
                <a:cubicBezTo>
                  <a:pt x="42863" y="40652"/>
                  <a:pt x="62084" y="21431"/>
                  <a:pt x="85725" y="21431"/>
                </a:cubicBezTo>
                <a:lnTo>
                  <a:pt x="342900" y="21431"/>
                </a:lnTo>
                <a:cubicBezTo>
                  <a:pt x="366541" y="21431"/>
                  <a:pt x="385763" y="40652"/>
                  <a:pt x="385763" y="64294"/>
                </a:cubicBezTo>
                <a:lnTo>
                  <a:pt x="385763" y="225028"/>
                </a:lnTo>
                <a:lnTo>
                  <a:pt x="342900" y="225028"/>
                </a:lnTo>
                <a:lnTo>
                  <a:pt x="342900" y="64294"/>
                </a:lnTo>
                <a:lnTo>
                  <a:pt x="85725" y="64294"/>
                </a:lnTo>
                <a:lnTo>
                  <a:pt x="85725" y="225028"/>
                </a:lnTo>
                <a:lnTo>
                  <a:pt x="42863" y="225028"/>
                </a:lnTo>
                <a:lnTo>
                  <a:pt x="42863" y="64294"/>
                </a:lnTo>
                <a:close/>
                <a:moveTo>
                  <a:pt x="0" y="270034"/>
                </a:moveTo>
                <a:cubicBezTo>
                  <a:pt x="0" y="262935"/>
                  <a:pt x="5760" y="257175"/>
                  <a:pt x="12859" y="257175"/>
                </a:cubicBezTo>
                <a:lnTo>
                  <a:pt x="415766" y="257175"/>
                </a:lnTo>
                <a:cubicBezTo>
                  <a:pt x="422865" y="257175"/>
                  <a:pt x="428625" y="262935"/>
                  <a:pt x="428625" y="270034"/>
                </a:cubicBezTo>
                <a:cubicBezTo>
                  <a:pt x="428625" y="298430"/>
                  <a:pt x="405586" y="321469"/>
                  <a:pt x="377190" y="321469"/>
                </a:cubicBezTo>
                <a:lnTo>
                  <a:pt x="51435" y="321469"/>
                </a:lnTo>
                <a:cubicBezTo>
                  <a:pt x="23039" y="321469"/>
                  <a:pt x="0" y="298430"/>
                  <a:pt x="0" y="270034"/>
                </a:cubicBezTo>
                <a:close/>
                <a:moveTo>
                  <a:pt x="188193" y="139973"/>
                </a:moveTo>
                <a:lnTo>
                  <a:pt x="167432" y="160734"/>
                </a:lnTo>
                <a:lnTo>
                  <a:pt x="188193" y="181496"/>
                </a:lnTo>
                <a:cubicBezTo>
                  <a:pt x="194489" y="187791"/>
                  <a:pt x="194489" y="197971"/>
                  <a:pt x="188193" y="204200"/>
                </a:cubicBezTo>
                <a:cubicBezTo>
                  <a:pt x="181898" y="210428"/>
                  <a:pt x="171718" y="210495"/>
                  <a:pt x="165489" y="204200"/>
                </a:cubicBezTo>
                <a:lnTo>
                  <a:pt x="133343" y="172053"/>
                </a:lnTo>
                <a:cubicBezTo>
                  <a:pt x="127047" y="165757"/>
                  <a:pt x="127047" y="155577"/>
                  <a:pt x="133343" y="149349"/>
                </a:cubicBezTo>
                <a:lnTo>
                  <a:pt x="165489" y="117202"/>
                </a:lnTo>
                <a:cubicBezTo>
                  <a:pt x="171785" y="110907"/>
                  <a:pt x="181965" y="110907"/>
                  <a:pt x="188193" y="117202"/>
                </a:cubicBezTo>
                <a:cubicBezTo>
                  <a:pt x="194422" y="123498"/>
                  <a:pt x="194489" y="133677"/>
                  <a:pt x="188193" y="139906"/>
                </a:cubicBezTo>
                <a:close/>
                <a:moveTo>
                  <a:pt x="263203" y="117202"/>
                </a:moveTo>
                <a:lnTo>
                  <a:pt x="295349" y="149349"/>
                </a:lnTo>
                <a:cubicBezTo>
                  <a:pt x="301645" y="155644"/>
                  <a:pt x="301645" y="165824"/>
                  <a:pt x="295349" y="172053"/>
                </a:cubicBezTo>
                <a:lnTo>
                  <a:pt x="263203" y="204200"/>
                </a:lnTo>
                <a:cubicBezTo>
                  <a:pt x="256907" y="210495"/>
                  <a:pt x="246727" y="210495"/>
                  <a:pt x="240499" y="204200"/>
                </a:cubicBezTo>
                <a:cubicBezTo>
                  <a:pt x="234270" y="197904"/>
                  <a:pt x="234203" y="187724"/>
                  <a:pt x="240499" y="181496"/>
                </a:cubicBezTo>
                <a:lnTo>
                  <a:pt x="261260" y="160734"/>
                </a:lnTo>
                <a:lnTo>
                  <a:pt x="240499" y="139973"/>
                </a:lnTo>
                <a:cubicBezTo>
                  <a:pt x="234203" y="133677"/>
                  <a:pt x="234203" y="123498"/>
                  <a:pt x="240499" y="117269"/>
                </a:cubicBezTo>
                <a:cubicBezTo>
                  <a:pt x="246794" y="111041"/>
                  <a:pt x="256974" y="110974"/>
                  <a:pt x="263203" y="117269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152525" y="5821682"/>
            <a:ext cx="3829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Development Environment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52525" y="6088382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Jupyter Notebook / Google Colab with GPU acceleration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260568" y="5802632"/>
            <a:ext cx="13620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GPU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336768" y="6145532"/>
            <a:ext cx="128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Accelerated Training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Data Preprocessing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8205" y="1333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36571" y="15716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7859" y="17859"/>
                </a:moveTo>
                <a:cubicBezTo>
                  <a:pt x="7981" y="17859"/>
                  <a:pt x="0" y="25840"/>
                  <a:pt x="0" y="35719"/>
                </a:cubicBezTo>
                <a:lnTo>
                  <a:pt x="0" y="89297"/>
                </a:lnTo>
                <a:cubicBezTo>
                  <a:pt x="0" y="99175"/>
                  <a:pt x="7981" y="107156"/>
                  <a:pt x="17859" y="107156"/>
                </a:cubicBezTo>
                <a:cubicBezTo>
                  <a:pt x="27738" y="107156"/>
                  <a:pt x="35719" y="99175"/>
                  <a:pt x="35719" y="89297"/>
                </a:cubicBezTo>
                <a:lnTo>
                  <a:pt x="35719" y="53578"/>
                </a:lnTo>
                <a:lnTo>
                  <a:pt x="71438" y="53578"/>
                </a:lnTo>
                <a:cubicBezTo>
                  <a:pt x="81316" y="53578"/>
                  <a:pt x="89297" y="45597"/>
                  <a:pt x="89297" y="35719"/>
                </a:cubicBezTo>
                <a:cubicBezTo>
                  <a:pt x="89297" y="25840"/>
                  <a:pt x="81316" y="17859"/>
                  <a:pt x="71438" y="17859"/>
                </a:cubicBezTo>
                <a:lnTo>
                  <a:pt x="17859" y="17859"/>
                </a:lnTo>
                <a:close/>
                <a:moveTo>
                  <a:pt x="35719" y="196453"/>
                </a:moveTo>
                <a:cubicBezTo>
                  <a:pt x="35719" y="186575"/>
                  <a:pt x="27738" y="178594"/>
                  <a:pt x="17859" y="178594"/>
                </a:cubicBezTo>
                <a:cubicBezTo>
                  <a:pt x="7981" y="178594"/>
                  <a:pt x="0" y="186575"/>
                  <a:pt x="0" y="196453"/>
                </a:cubicBezTo>
                <a:lnTo>
                  <a:pt x="0" y="250031"/>
                </a:lnTo>
                <a:cubicBezTo>
                  <a:pt x="0" y="259910"/>
                  <a:pt x="7981" y="267891"/>
                  <a:pt x="17859" y="267891"/>
                </a:cubicBezTo>
                <a:lnTo>
                  <a:pt x="71438" y="267891"/>
                </a:lnTo>
                <a:cubicBezTo>
                  <a:pt x="81316" y="267891"/>
                  <a:pt x="89297" y="259910"/>
                  <a:pt x="89297" y="250031"/>
                </a:cubicBezTo>
                <a:cubicBezTo>
                  <a:pt x="89297" y="240153"/>
                  <a:pt x="81316" y="232172"/>
                  <a:pt x="71438" y="232172"/>
                </a:cubicBezTo>
                <a:lnTo>
                  <a:pt x="35719" y="232172"/>
                </a:lnTo>
                <a:lnTo>
                  <a:pt x="35719" y="196453"/>
                </a:lnTo>
                <a:close/>
                <a:moveTo>
                  <a:pt x="178594" y="17859"/>
                </a:moveTo>
                <a:cubicBezTo>
                  <a:pt x="168715" y="17859"/>
                  <a:pt x="160734" y="25840"/>
                  <a:pt x="160734" y="35719"/>
                </a:cubicBezTo>
                <a:cubicBezTo>
                  <a:pt x="160734" y="45597"/>
                  <a:pt x="168715" y="53578"/>
                  <a:pt x="178594" y="53578"/>
                </a:cubicBezTo>
                <a:lnTo>
                  <a:pt x="214313" y="53578"/>
                </a:lnTo>
                <a:lnTo>
                  <a:pt x="214313" y="89297"/>
                </a:lnTo>
                <a:cubicBezTo>
                  <a:pt x="214313" y="99175"/>
                  <a:pt x="222293" y="107156"/>
                  <a:pt x="232172" y="107156"/>
                </a:cubicBezTo>
                <a:cubicBezTo>
                  <a:pt x="242050" y="107156"/>
                  <a:pt x="250031" y="99175"/>
                  <a:pt x="250031" y="89297"/>
                </a:cubicBezTo>
                <a:lnTo>
                  <a:pt x="250031" y="35719"/>
                </a:lnTo>
                <a:cubicBezTo>
                  <a:pt x="250031" y="25840"/>
                  <a:pt x="242050" y="17859"/>
                  <a:pt x="232172" y="17859"/>
                </a:cubicBezTo>
                <a:lnTo>
                  <a:pt x="178594" y="17859"/>
                </a:lnTo>
                <a:close/>
                <a:moveTo>
                  <a:pt x="250031" y="196453"/>
                </a:moveTo>
                <a:cubicBezTo>
                  <a:pt x="250031" y="186575"/>
                  <a:pt x="242050" y="178594"/>
                  <a:pt x="232172" y="178594"/>
                </a:cubicBezTo>
                <a:cubicBezTo>
                  <a:pt x="222293" y="178594"/>
                  <a:pt x="214313" y="186575"/>
                  <a:pt x="214313" y="196453"/>
                </a:cubicBezTo>
                <a:lnTo>
                  <a:pt x="214313" y="232172"/>
                </a:lnTo>
                <a:lnTo>
                  <a:pt x="178594" y="232172"/>
                </a:lnTo>
                <a:cubicBezTo>
                  <a:pt x="168715" y="232172"/>
                  <a:pt x="160734" y="240153"/>
                  <a:pt x="160734" y="250031"/>
                </a:cubicBezTo>
                <a:cubicBezTo>
                  <a:pt x="160734" y="259910"/>
                  <a:pt x="168715" y="267891"/>
                  <a:pt x="178594" y="267891"/>
                </a:cubicBezTo>
                <a:lnTo>
                  <a:pt x="232172" y="267891"/>
                </a:lnTo>
                <a:cubicBezTo>
                  <a:pt x="242050" y="267891"/>
                  <a:pt x="250031" y="259910"/>
                  <a:pt x="250031" y="250031"/>
                </a:cubicBezTo>
                <a:lnTo>
                  <a:pt x="250031" y="196453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3375" y="2209800"/>
            <a:ext cx="184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1. Resizing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2900" y="255270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224×224 pixels for EfficientNet-B0 compatibility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27910" y="2143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96603" y="1447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537109" y="1685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16"/>
                  <a:pt x="202034" y="35719"/>
                  <a:pt x="142875" y="35719"/>
                </a:cubicBezTo>
                <a:lnTo>
                  <a:pt x="142875" y="250031"/>
                </a:lnTo>
                <a:cubicBezTo>
                  <a:pt x="202034" y="250031"/>
                  <a:pt x="250031" y="202034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51772" y="2324100"/>
            <a:ext cx="184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2. Normalization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61297" y="2667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Standardize pixel intensity values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46308" y="2143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715000" y="1447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37647" y="1685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23912" y="21822"/>
                </a:moveTo>
                <a:lnTo>
                  <a:pt x="306623" y="105705"/>
                </a:lnTo>
                <a:cubicBezTo>
                  <a:pt x="322083" y="121388"/>
                  <a:pt x="322083" y="146503"/>
                  <a:pt x="306623" y="162185"/>
                </a:cubicBezTo>
                <a:lnTo>
                  <a:pt x="219335" y="250534"/>
                </a:lnTo>
                <a:cubicBezTo>
                  <a:pt x="214145" y="255780"/>
                  <a:pt x="205662" y="255836"/>
                  <a:pt x="200416" y="250645"/>
                </a:cubicBezTo>
                <a:cubicBezTo>
                  <a:pt x="195169" y="245455"/>
                  <a:pt x="195114" y="236972"/>
                  <a:pt x="200304" y="231725"/>
                </a:cubicBezTo>
                <a:lnTo>
                  <a:pt x="287592" y="143321"/>
                </a:lnTo>
                <a:cubicBezTo>
                  <a:pt x="292726" y="138131"/>
                  <a:pt x="292726" y="129704"/>
                  <a:pt x="287592" y="124513"/>
                </a:cubicBezTo>
                <a:lnTo>
                  <a:pt x="204825" y="40686"/>
                </a:lnTo>
                <a:cubicBezTo>
                  <a:pt x="199634" y="35440"/>
                  <a:pt x="199690" y="26956"/>
                  <a:pt x="204936" y="21766"/>
                </a:cubicBezTo>
                <a:cubicBezTo>
                  <a:pt x="210183" y="16576"/>
                  <a:pt x="218666" y="16632"/>
                  <a:pt x="223856" y="21878"/>
                </a:cubicBezTo>
                <a:close/>
                <a:moveTo>
                  <a:pt x="17915" y="128085"/>
                </a:moveTo>
                <a:lnTo>
                  <a:pt x="17915" y="53578"/>
                </a:lnTo>
                <a:cubicBezTo>
                  <a:pt x="17915" y="33877"/>
                  <a:pt x="33933" y="17859"/>
                  <a:pt x="53634" y="17859"/>
                </a:cubicBezTo>
                <a:lnTo>
                  <a:pt x="128141" y="17859"/>
                </a:lnTo>
                <a:cubicBezTo>
                  <a:pt x="137629" y="17859"/>
                  <a:pt x="146726" y="21599"/>
                  <a:pt x="153423" y="28296"/>
                </a:cubicBezTo>
                <a:lnTo>
                  <a:pt x="233790" y="108663"/>
                </a:lnTo>
                <a:cubicBezTo>
                  <a:pt x="247743" y="122616"/>
                  <a:pt x="247743" y="145219"/>
                  <a:pt x="233790" y="159172"/>
                </a:cubicBezTo>
                <a:lnTo>
                  <a:pt x="159283" y="233679"/>
                </a:lnTo>
                <a:cubicBezTo>
                  <a:pt x="145331" y="247631"/>
                  <a:pt x="122727" y="247631"/>
                  <a:pt x="108775" y="233679"/>
                </a:cubicBezTo>
                <a:lnTo>
                  <a:pt x="28408" y="153312"/>
                </a:lnTo>
                <a:cubicBezTo>
                  <a:pt x="21710" y="146614"/>
                  <a:pt x="17971" y="137517"/>
                  <a:pt x="17971" y="128029"/>
                </a:cubicBezTo>
                <a:close/>
                <a:moveTo>
                  <a:pt x="98282" y="80367"/>
                </a:moveTo>
                <a:cubicBezTo>
                  <a:pt x="98282" y="70510"/>
                  <a:pt x="90280" y="62508"/>
                  <a:pt x="80423" y="62508"/>
                </a:cubicBezTo>
                <a:cubicBezTo>
                  <a:pt x="70566" y="62508"/>
                  <a:pt x="62564" y="70510"/>
                  <a:pt x="62564" y="80367"/>
                </a:cubicBezTo>
                <a:cubicBezTo>
                  <a:pt x="62564" y="90224"/>
                  <a:pt x="70566" y="98227"/>
                  <a:pt x="80423" y="98227"/>
                </a:cubicBezTo>
                <a:cubicBezTo>
                  <a:pt x="90280" y="98227"/>
                  <a:pt x="98282" y="90224"/>
                  <a:pt x="98282" y="80367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70170" y="2324100"/>
            <a:ext cx="184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3. Label Encoding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79695" y="2667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Directory-based automatic labeling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64705" y="2143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133398" y="15621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409623" y="18002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88568" y="2438400"/>
            <a:ext cx="184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4. Verification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98093" y="27813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 integrity checks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83103" y="2143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551795" y="15621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792302" y="1800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5363" y="19199"/>
                </a:moveTo>
                <a:cubicBezTo>
                  <a:pt x="232060" y="16408"/>
                  <a:pt x="239706" y="17971"/>
                  <a:pt x="244841" y="23050"/>
                </a:cubicBezTo>
                <a:lnTo>
                  <a:pt x="280560" y="58769"/>
                </a:lnTo>
                <a:cubicBezTo>
                  <a:pt x="283908" y="62117"/>
                  <a:pt x="285806" y="66638"/>
                  <a:pt x="285806" y="71382"/>
                </a:cubicBezTo>
                <a:cubicBezTo>
                  <a:pt x="285806" y="76126"/>
                  <a:pt x="283908" y="80646"/>
                  <a:pt x="280560" y="83995"/>
                </a:cubicBezTo>
                <a:lnTo>
                  <a:pt x="244841" y="119714"/>
                </a:lnTo>
                <a:cubicBezTo>
                  <a:pt x="239706" y="124848"/>
                  <a:pt x="232060" y="126355"/>
                  <a:pt x="225363" y="123565"/>
                </a:cubicBezTo>
                <a:cubicBezTo>
                  <a:pt x="218666" y="120774"/>
                  <a:pt x="214313" y="114356"/>
                  <a:pt x="214313" y="107156"/>
                </a:cubicBezTo>
                <a:lnTo>
                  <a:pt x="214313" y="89297"/>
                </a:lnTo>
                <a:lnTo>
                  <a:pt x="196453" y="89297"/>
                </a:lnTo>
                <a:cubicBezTo>
                  <a:pt x="190816" y="89297"/>
                  <a:pt x="185514" y="91920"/>
                  <a:pt x="182166" y="96441"/>
                </a:cubicBezTo>
                <a:lnTo>
                  <a:pt x="164083" y="120551"/>
                </a:lnTo>
                <a:lnTo>
                  <a:pt x="141759" y="90804"/>
                </a:lnTo>
                <a:lnTo>
                  <a:pt x="153591" y="75009"/>
                </a:lnTo>
                <a:cubicBezTo>
                  <a:pt x="163692" y="61503"/>
                  <a:pt x="179598" y="53578"/>
                  <a:pt x="196453" y="53578"/>
                </a:cubicBezTo>
                <a:lnTo>
                  <a:pt x="214313" y="53578"/>
                </a:lnTo>
                <a:lnTo>
                  <a:pt x="214313" y="35719"/>
                </a:lnTo>
                <a:cubicBezTo>
                  <a:pt x="214313" y="28519"/>
                  <a:pt x="218666" y="21989"/>
                  <a:pt x="225363" y="19199"/>
                </a:cubicBezTo>
                <a:close/>
                <a:moveTo>
                  <a:pt x="85948" y="165199"/>
                </a:moveTo>
                <a:lnTo>
                  <a:pt x="108272" y="194946"/>
                </a:lnTo>
                <a:lnTo>
                  <a:pt x="96441" y="210741"/>
                </a:lnTo>
                <a:cubicBezTo>
                  <a:pt x="86339" y="224247"/>
                  <a:pt x="70433" y="232172"/>
                  <a:pt x="53578" y="232172"/>
                </a:cubicBezTo>
                <a:lnTo>
                  <a:pt x="17859" y="232172"/>
                </a:lnTo>
                <a:cubicBezTo>
                  <a:pt x="7981" y="232172"/>
                  <a:pt x="0" y="224191"/>
                  <a:pt x="0" y="214313"/>
                </a:cubicBezTo>
                <a:cubicBezTo>
                  <a:pt x="0" y="204434"/>
                  <a:pt x="7981" y="196453"/>
                  <a:pt x="17859" y="196453"/>
                </a:cubicBezTo>
                <a:lnTo>
                  <a:pt x="53578" y="196453"/>
                </a:lnTo>
                <a:cubicBezTo>
                  <a:pt x="59215" y="196453"/>
                  <a:pt x="64517" y="193830"/>
                  <a:pt x="67866" y="189309"/>
                </a:cubicBezTo>
                <a:lnTo>
                  <a:pt x="85948" y="165199"/>
                </a:lnTo>
                <a:close/>
                <a:moveTo>
                  <a:pt x="244785" y="262644"/>
                </a:moveTo>
                <a:cubicBezTo>
                  <a:pt x="239650" y="267779"/>
                  <a:pt x="232004" y="269286"/>
                  <a:pt x="225307" y="266495"/>
                </a:cubicBezTo>
                <a:cubicBezTo>
                  <a:pt x="218610" y="263705"/>
                  <a:pt x="214313" y="257231"/>
                  <a:pt x="214313" y="250031"/>
                </a:cubicBezTo>
                <a:lnTo>
                  <a:pt x="214313" y="232172"/>
                </a:lnTo>
                <a:lnTo>
                  <a:pt x="196453" y="232172"/>
                </a:lnTo>
                <a:cubicBezTo>
                  <a:pt x="179598" y="232172"/>
                  <a:pt x="163692" y="224247"/>
                  <a:pt x="153591" y="210741"/>
                </a:cubicBezTo>
                <a:lnTo>
                  <a:pt x="67866" y="96441"/>
                </a:lnTo>
                <a:cubicBezTo>
                  <a:pt x="64517" y="91920"/>
                  <a:pt x="59215" y="89297"/>
                  <a:pt x="53578" y="89297"/>
                </a:cubicBez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53578" y="53578"/>
                </a:lnTo>
                <a:cubicBezTo>
                  <a:pt x="70433" y="53578"/>
                  <a:pt x="86339" y="61503"/>
                  <a:pt x="96441" y="75009"/>
                </a:cubicBezTo>
                <a:lnTo>
                  <a:pt x="182166" y="189309"/>
                </a:lnTo>
                <a:cubicBezTo>
                  <a:pt x="185514" y="193830"/>
                  <a:pt x="190816" y="196453"/>
                  <a:pt x="196453" y="196453"/>
                </a:cubicBezTo>
                <a:lnTo>
                  <a:pt x="214313" y="196453"/>
                </a:lnTo>
                <a:lnTo>
                  <a:pt x="214313" y="178594"/>
                </a:lnTo>
                <a:cubicBezTo>
                  <a:pt x="214313" y="171394"/>
                  <a:pt x="218666" y="164864"/>
                  <a:pt x="225363" y="162074"/>
                </a:cubicBezTo>
                <a:cubicBezTo>
                  <a:pt x="232060" y="159283"/>
                  <a:pt x="239706" y="160846"/>
                  <a:pt x="244841" y="165925"/>
                </a:cubicBezTo>
                <a:lnTo>
                  <a:pt x="280560" y="201644"/>
                </a:lnTo>
                <a:cubicBezTo>
                  <a:pt x="283908" y="204992"/>
                  <a:pt x="285806" y="209513"/>
                  <a:pt x="285806" y="214257"/>
                </a:cubicBezTo>
                <a:cubicBezTo>
                  <a:pt x="285806" y="219001"/>
                  <a:pt x="283908" y="223521"/>
                  <a:pt x="280560" y="226870"/>
                </a:cubicBezTo>
                <a:lnTo>
                  <a:pt x="244841" y="262589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006965" y="2438400"/>
            <a:ext cx="184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5. Splitting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16490" y="27813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70:30 train-validation split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3286125"/>
            <a:ext cx="38100" cy="1924050"/>
          </a:xfrm>
          <a:custGeom>
            <a:avLst/>
            <a:gdLst/>
            <a:ahLst/>
            <a:cxnLst/>
            <a:rect l="l" t="t" r="r" b="b"/>
            <a:pathLst>
              <a:path w="38100" h="1924050">
                <a:moveTo>
                  <a:pt x="0" y="0"/>
                </a:moveTo>
                <a:lnTo>
                  <a:pt x="38100" y="0"/>
                </a:lnTo>
                <a:lnTo>
                  <a:pt x="38100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9600" y="3286125"/>
            <a:ext cx="3524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Image Resizing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9600" y="3667125"/>
            <a:ext cx="3505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All images are resized to </a:t>
            </a: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224×224 pixels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, the default input size required by EfficientNet-B0 architecture.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9600" y="4276725"/>
            <a:ext cx="3429000" cy="685800"/>
          </a:xfrm>
          <a:custGeom>
            <a:avLst/>
            <a:gdLst/>
            <a:ahLst/>
            <a:cxnLst/>
            <a:rect l="l" t="t" r="r" b="b"/>
            <a:pathLst>
              <a:path w="3429000" h="685800">
                <a:moveTo>
                  <a:pt x="0" y="0"/>
                </a:moveTo>
                <a:lnTo>
                  <a:pt x="3429000" y="0"/>
                </a:lnTo>
                <a:lnTo>
                  <a:pt x="34290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723900" y="4391025"/>
            <a:ext cx="327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Benefits:</a:t>
            </a: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Homogeneity, compatibility, consistent feature extraction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86250" y="3286125"/>
            <a:ext cx="38100" cy="1924050"/>
          </a:xfrm>
          <a:custGeom>
            <a:avLst/>
            <a:gdLst/>
            <a:ahLst/>
            <a:cxnLst/>
            <a:rect l="l" t="t" r="r" b="b"/>
            <a:pathLst>
              <a:path w="38100" h="1924050">
                <a:moveTo>
                  <a:pt x="0" y="0"/>
                </a:moveTo>
                <a:lnTo>
                  <a:pt x="38100" y="0"/>
                </a:lnTo>
                <a:lnTo>
                  <a:pt x="38100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495800" y="3286125"/>
            <a:ext cx="3524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Pixel Normalization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95800" y="3667125"/>
            <a:ext cx="3505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Pixel intensity values are normalized to standard ranges, minimizing the impact of lighting variations.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95800" y="4276725"/>
            <a:ext cx="3429000" cy="685800"/>
          </a:xfrm>
          <a:custGeom>
            <a:avLst/>
            <a:gdLst/>
            <a:ahLst/>
            <a:cxnLst/>
            <a:rect l="l" t="t" r="r" b="b"/>
            <a:pathLst>
              <a:path w="3429000" h="685800">
                <a:moveTo>
                  <a:pt x="0" y="0"/>
                </a:moveTo>
                <a:lnTo>
                  <a:pt x="3429000" y="0"/>
                </a:lnTo>
                <a:lnTo>
                  <a:pt x="34290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10100" y="4391025"/>
            <a:ext cx="327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Benefits:</a:t>
            </a: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Faster convergence, stable training, reduced gradient issues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72450" y="3286125"/>
            <a:ext cx="38100" cy="1924050"/>
          </a:xfrm>
          <a:custGeom>
            <a:avLst/>
            <a:gdLst/>
            <a:ahLst/>
            <a:cxnLst/>
            <a:rect l="l" t="t" r="r" b="b"/>
            <a:pathLst>
              <a:path w="38100" h="1924050">
                <a:moveTo>
                  <a:pt x="0" y="0"/>
                </a:moveTo>
                <a:lnTo>
                  <a:pt x="38100" y="0"/>
                </a:lnTo>
                <a:lnTo>
                  <a:pt x="38100" y="1924050"/>
                </a:lnTo>
                <a:lnTo>
                  <a:pt x="0" y="1924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382000" y="3286125"/>
            <a:ext cx="3524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Label Encoding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82000" y="3667125"/>
            <a:ext cx="35052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Directory-based automatic label encoding assigns class labels based on folder names, reducing manual errors.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82000" y="4524375"/>
            <a:ext cx="3429000" cy="685800"/>
          </a:xfrm>
          <a:custGeom>
            <a:avLst/>
            <a:gdLst/>
            <a:ahLst/>
            <a:cxnLst/>
            <a:rect l="l" t="t" r="r" b="b"/>
            <a:pathLst>
              <a:path w="3429000" h="685800">
                <a:moveTo>
                  <a:pt x="0" y="0"/>
                </a:moveTo>
                <a:lnTo>
                  <a:pt x="3429000" y="0"/>
                </a:lnTo>
                <a:lnTo>
                  <a:pt x="34290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496300" y="4638675"/>
            <a:ext cx="327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Benefits:</a:t>
            </a: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Consistency, error reduction, automation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33375" y="5372100"/>
            <a:ext cx="11477625" cy="11049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0" y="0"/>
                </a:moveTo>
                <a:lnTo>
                  <a:pt x="11430000" y="0"/>
                </a:lnTo>
                <a:lnTo>
                  <a:pt x="114300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83406" y="56959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300038" y="137830"/>
                </a:moveTo>
                <a:cubicBezTo>
                  <a:pt x="290126" y="144393"/>
                  <a:pt x="278740" y="149684"/>
                  <a:pt x="266886" y="153903"/>
                </a:cubicBezTo>
                <a:cubicBezTo>
                  <a:pt x="235409" y="165155"/>
                  <a:pt x="194087" y="171450"/>
                  <a:pt x="150019" y="171450"/>
                </a:cubicBezTo>
                <a:cubicBezTo>
                  <a:pt x="105951" y="171450"/>
                  <a:pt x="64562" y="165088"/>
                  <a:pt x="33151" y="153903"/>
                </a:cubicBezTo>
                <a:cubicBezTo>
                  <a:pt x="21364" y="149684"/>
                  <a:pt x="9912" y="144393"/>
                  <a:pt x="0" y="137830"/>
                </a:cubicBezTo>
                <a:lnTo>
                  <a:pt x="0" y="192881"/>
                </a:lnTo>
                <a:cubicBezTo>
                  <a:pt x="0" y="222483"/>
                  <a:pt x="67174" y="246459"/>
                  <a:pt x="150019" y="246459"/>
                </a:cubicBezTo>
                <a:cubicBezTo>
                  <a:pt x="232864" y="246459"/>
                  <a:pt x="300038" y="222483"/>
                  <a:pt x="300038" y="192881"/>
                </a:cubicBezTo>
                <a:lnTo>
                  <a:pt x="300038" y="137830"/>
                </a:lnTo>
                <a:close/>
                <a:moveTo>
                  <a:pt x="300038" y="85725"/>
                </a:moveTo>
                <a:lnTo>
                  <a:pt x="300038" y="53578"/>
                </a:lnTo>
                <a:cubicBezTo>
                  <a:pt x="300038" y="23976"/>
                  <a:pt x="232864" y="0"/>
                  <a:pt x="150019" y="0"/>
                </a:cubicBezTo>
                <a:cubicBezTo>
                  <a:pt x="67174" y="0"/>
                  <a:pt x="0" y="23976"/>
                  <a:pt x="0" y="53578"/>
                </a:cubicBezTo>
                <a:lnTo>
                  <a:pt x="0" y="85725"/>
                </a:lnTo>
                <a:cubicBezTo>
                  <a:pt x="0" y="115327"/>
                  <a:pt x="67174" y="139303"/>
                  <a:pt x="150019" y="139303"/>
                </a:cubicBezTo>
                <a:cubicBezTo>
                  <a:pt x="232864" y="139303"/>
                  <a:pt x="300038" y="115327"/>
                  <a:pt x="300038" y="85725"/>
                </a:cubicBezTo>
                <a:close/>
                <a:moveTo>
                  <a:pt x="266886" y="261059"/>
                </a:moveTo>
                <a:cubicBezTo>
                  <a:pt x="235476" y="272244"/>
                  <a:pt x="194154" y="278606"/>
                  <a:pt x="150019" y="278606"/>
                </a:cubicBezTo>
                <a:cubicBezTo>
                  <a:pt x="105884" y="278606"/>
                  <a:pt x="64562" y="272244"/>
                  <a:pt x="33151" y="261059"/>
                </a:cubicBezTo>
                <a:cubicBezTo>
                  <a:pt x="21364" y="256840"/>
                  <a:pt x="9912" y="251549"/>
                  <a:pt x="0" y="244986"/>
                </a:cubicBezTo>
                <a:lnTo>
                  <a:pt x="0" y="289322"/>
                </a:lnTo>
                <a:cubicBezTo>
                  <a:pt x="0" y="318924"/>
                  <a:pt x="67174" y="342900"/>
                  <a:pt x="150019" y="342900"/>
                </a:cubicBezTo>
                <a:cubicBezTo>
                  <a:pt x="232864" y="342900"/>
                  <a:pt x="300038" y="318924"/>
                  <a:pt x="300038" y="289322"/>
                </a:cubicBezTo>
                <a:lnTo>
                  <a:pt x="300038" y="244986"/>
                </a:lnTo>
                <a:cubicBezTo>
                  <a:pt x="290126" y="251549"/>
                  <a:pt x="278740" y="256840"/>
                  <a:pt x="266886" y="261059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122998" y="5448300"/>
            <a:ext cx="10591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 Splitting Strategy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22998" y="5791200"/>
            <a:ext cx="105727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70:30 Train-Validation Split:</a:t>
            </a: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Training set optimizes model parameters, while validation set provides unbiased performance measurement on unseen data. Visual checks ensure balanced class distribution in both sets.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EfficientNet-B0: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03770"/>
            <a:ext cx="6667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What is EfficientNet?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8146" y="1566675"/>
            <a:ext cx="11422380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EfficientNet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is a family of convolutional neural networks introduced by Google Research in 2019. It achieves state-of-the-art accuracy while being significantly more efficient than previous architectures. Unlike traditional approaches that arbitrarily scale network dimensions, Efficient-Net uses a </a:t>
            </a:r>
            <a:r>
              <a:rPr lang="en-US" sz="1300" dirty="0">
                <a:solidFill>
                  <a:srgbClr val="1F2937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compound scaling method 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that uniformly scales network depth, width, and resolution with a set of fixed scaling coefficients.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80954" y="5853349"/>
            <a:ext cx="6158704" cy="809719"/>
          </a:xfrm>
          <a:custGeom>
            <a:avLst/>
            <a:gdLst/>
            <a:ahLst/>
            <a:cxnLst/>
            <a:rect l="l" t="t" r="r" b="b"/>
            <a:pathLst>
              <a:path w="6553200" h="1219200">
                <a:moveTo>
                  <a:pt x="0" y="0"/>
                </a:moveTo>
                <a:lnTo>
                  <a:pt x="6553200" y="0"/>
                </a:lnTo>
                <a:lnTo>
                  <a:pt x="6553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5128260" y="5873934"/>
            <a:ext cx="6267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bg1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Why EfficientNet-B0 for Medical Imaging?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75566" y="6113767"/>
            <a:ext cx="6102192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bg1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Its lightweight architecture with strong feature extraction capabilities makes it ideal for medical applications where computational resources may be limited and datasets are smaller.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4027" y="2597704"/>
            <a:ext cx="10765631" cy="3126176"/>
          </a:xfrm>
          <a:custGeom>
            <a:avLst/>
            <a:gdLst/>
            <a:ahLst/>
            <a:cxnLst/>
            <a:rect l="l" t="t" r="r" b="b"/>
            <a:pathLst>
              <a:path w="4560570" h="3731895">
                <a:moveTo>
                  <a:pt x="0" y="0"/>
                </a:moveTo>
                <a:lnTo>
                  <a:pt x="4560570" y="0"/>
                </a:lnTo>
                <a:lnTo>
                  <a:pt x="4560570" y="3731895"/>
                </a:lnTo>
                <a:lnTo>
                  <a:pt x="0" y="3731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Shape 21"/>
          <p:cNvSpPr/>
          <p:nvPr/>
        </p:nvSpPr>
        <p:spPr>
          <a:xfrm>
            <a:off x="1202372" y="4749222"/>
            <a:ext cx="5718175" cy="479754"/>
          </a:xfrm>
          <a:custGeom>
            <a:avLst/>
            <a:gdLst/>
            <a:ahLst/>
            <a:cxnLst/>
            <a:rect l="l" t="t" r="r" b="b"/>
            <a:pathLst>
              <a:path w="4560570" h="693420">
                <a:moveTo>
                  <a:pt x="0" y="0"/>
                </a:moveTo>
                <a:lnTo>
                  <a:pt x="4560570" y="0"/>
                </a:lnTo>
                <a:lnTo>
                  <a:pt x="4560570" y="693420"/>
                </a:lnTo>
                <a:lnTo>
                  <a:pt x="0" y="693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1624016" y="4787129"/>
            <a:ext cx="503491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Sorts Mill Goudy" panose="02000503000000000000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Figure 5:</a:t>
            </a: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EfficientNet architecture showing input image processing through multiple MBConv blocks to feature map extraction</a:t>
            </a:r>
            <a:endParaRPr lang="en-US" sz="1600" dirty="0">
              <a:latin typeface="Sorts Mill Goudy" panose="02000503000000000000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4027" y="5851538"/>
            <a:ext cx="2217420" cy="769620"/>
          </a:xfrm>
          <a:custGeom>
            <a:avLst/>
            <a:gdLst/>
            <a:ahLst/>
            <a:cxnLst/>
            <a:rect l="l" t="t" r="r" b="b"/>
            <a:pathLst>
              <a:path w="2217420" h="769620">
                <a:moveTo>
                  <a:pt x="0" y="0"/>
                </a:moveTo>
                <a:lnTo>
                  <a:pt x="2217420" y="0"/>
                </a:lnTo>
                <a:lnTo>
                  <a:pt x="2217420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84810" y="5973458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5.3M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81000" y="627825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806384" y="5853349"/>
            <a:ext cx="2217420" cy="769620"/>
          </a:xfrm>
          <a:custGeom>
            <a:avLst/>
            <a:gdLst/>
            <a:ahLst/>
            <a:cxnLst/>
            <a:rect l="l" t="t" r="r" b="b"/>
            <a:pathLst>
              <a:path w="2217420" h="769620">
                <a:moveTo>
                  <a:pt x="0" y="0"/>
                </a:moveTo>
                <a:lnTo>
                  <a:pt x="2217420" y="0"/>
                </a:lnTo>
                <a:lnTo>
                  <a:pt x="2217420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032760" y="5973458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224 x 224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032760" y="6272449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Input Size</a:t>
            </a:r>
            <a:endParaRPr lang="en-US" sz="1600" dirty="0"/>
          </a:p>
        </p:txBody>
      </p:sp>
      <p:pic>
        <p:nvPicPr>
          <p:cNvPr id="32" name="Image 0" descr="https://kimi-web-img.moonshot.cn/img/viso.ai/89a128985d7ecba81554eee1e5e97da5ea94a7f3.png"/>
          <p:cNvPicPr>
            <a:picLocks noChangeAspect="1"/>
          </p:cNvPicPr>
          <p:nvPr/>
        </p:nvPicPr>
        <p:blipFill>
          <a:blip r:embed="rId1"/>
          <a:srcRect t="4151" b="127"/>
          <a:stretch>
            <a:fillRect/>
          </a:stretch>
        </p:blipFill>
        <p:spPr>
          <a:xfrm>
            <a:off x="726678" y="2692508"/>
            <a:ext cx="6829592" cy="2037758"/>
          </a:xfrm>
          <a:prstGeom prst="roundRect">
            <a:avLst>
              <a:gd name="adj" fmla="val 2857"/>
            </a:avLst>
          </a:prstGeom>
        </p:spPr>
      </p:pic>
      <p:sp>
        <p:nvSpPr>
          <p:cNvPr id="37" name="Shape 11"/>
          <p:cNvSpPr/>
          <p:nvPr/>
        </p:nvSpPr>
        <p:spPr>
          <a:xfrm>
            <a:off x="7804130" y="2616088"/>
            <a:ext cx="3222625" cy="571500"/>
          </a:xfrm>
          <a:custGeom>
            <a:avLst/>
            <a:gdLst/>
            <a:ahLst/>
            <a:cxnLst/>
            <a:rect l="l" t="t" r="r" b="b"/>
            <a:pathLst>
              <a:path w="3222625" h="571500">
                <a:moveTo>
                  <a:pt x="63499" y="0"/>
                </a:moveTo>
                <a:lnTo>
                  <a:pt x="3159126" y="0"/>
                </a:lnTo>
                <a:cubicBezTo>
                  <a:pt x="3194195" y="0"/>
                  <a:pt x="3222625" y="28430"/>
                  <a:pt x="3222625" y="63499"/>
                </a:cubicBezTo>
                <a:lnTo>
                  <a:pt x="3222625" y="508001"/>
                </a:lnTo>
                <a:cubicBezTo>
                  <a:pt x="3222625" y="543070"/>
                  <a:pt x="3194195" y="571500"/>
                  <a:pt x="3159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12"/>
          <p:cNvSpPr/>
          <p:nvPr/>
        </p:nvSpPr>
        <p:spPr>
          <a:xfrm>
            <a:off x="7899380" y="2753712"/>
            <a:ext cx="309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Architecture Base</a:t>
            </a:r>
            <a:endParaRPr lang="en-US" sz="1600" dirty="0"/>
          </a:p>
        </p:txBody>
      </p:sp>
      <p:sp>
        <p:nvSpPr>
          <p:cNvPr id="39" name="Text 13"/>
          <p:cNvSpPr/>
          <p:nvPr/>
        </p:nvSpPr>
        <p:spPr>
          <a:xfrm>
            <a:off x="7899380" y="2975962"/>
            <a:ext cx="3087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Mobile inverted bottleneck convolution (MBConv)</a:t>
            </a:r>
            <a:endParaRPr lang="en-US" sz="1600" dirty="0"/>
          </a:p>
        </p:txBody>
      </p:sp>
      <p:sp>
        <p:nvSpPr>
          <p:cNvPr id="40" name="Shape 14"/>
          <p:cNvSpPr/>
          <p:nvPr/>
        </p:nvSpPr>
        <p:spPr>
          <a:xfrm>
            <a:off x="7804130" y="4566902"/>
            <a:ext cx="3222625" cy="571500"/>
          </a:xfrm>
          <a:custGeom>
            <a:avLst/>
            <a:gdLst/>
            <a:ahLst/>
            <a:cxnLst/>
            <a:rect l="l" t="t" r="r" b="b"/>
            <a:pathLst>
              <a:path w="3222625" h="571500">
                <a:moveTo>
                  <a:pt x="63499" y="0"/>
                </a:moveTo>
                <a:lnTo>
                  <a:pt x="3159126" y="0"/>
                </a:lnTo>
                <a:cubicBezTo>
                  <a:pt x="3194195" y="0"/>
                  <a:pt x="3222625" y="28430"/>
                  <a:pt x="3222625" y="63499"/>
                </a:cubicBezTo>
                <a:lnTo>
                  <a:pt x="3222625" y="508001"/>
                </a:lnTo>
                <a:cubicBezTo>
                  <a:pt x="3222625" y="543070"/>
                  <a:pt x="3194195" y="571500"/>
                  <a:pt x="3159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15"/>
          <p:cNvSpPr/>
          <p:nvPr/>
        </p:nvSpPr>
        <p:spPr>
          <a:xfrm>
            <a:off x="7931130" y="4740753"/>
            <a:ext cx="309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Total Parameters</a:t>
            </a:r>
            <a:endParaRPr lang="en-US" sz="1600" dirty="0"/>
          </a:p>
        </p:txBody>
      </p:sp>
      <p:sp>
        <p:nvSpPr>
          <p:cNvPr id="42" name="Text 16"/>
          <p:cNvSpPr/>
          <p:nvPr/>
        </p:nvSpPr>
        <p:spPr>
          <a:xfrm>
            <a:off x="7914355" y="4954412"/>
            <a:ext cx="3087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5.3 million (much smaller than ResNet/VGG)</a:t>
            </a:r>
            <a:endParaRPr lang="en-US" sz="1600" dirty="0"/>
          </a:p>
        </p:txBody>
      </p:sp>
      <p:sp>
        <p:nvSpPr>
          <p:cNvPr id="43" name="Shape 17"/>
          <p:cNvSpPr/>
          <p:nvPr/>
        </p:nvSpPr>
        <p:spPr>
          <a:xfrm>
            <a:off x="7804130" y="3267958"/>
            <a:ext cx="3222625" cy="571500"/>
          </a:xfrm>
          <a:custGeom>
            <a:avLst/>
            <a:gdLst/>
            <a:ahLst/>
            <a:cxnLst/>
            <a:rect l="l" t="t" r="r" b="b"/>
            <a:pathLst>
              <a:path w="3222625" h="571500">
                <a:moveTo>
                  <a:pt x="63499" y="0"/>
                </a:moveTo>
                <a:lnTo>
                  <a:pt x="3159126" y="0"/>
                </a:lnTo>
                <a:cubicBezTo>
                  <a:pt x="3194195" y="0"/>
                  <a:pt x="3222625" y="28430"/>
                  <a:pt x="3222625" y="63499"/>
                </a:cubicBezTo>
                <a:lnTo>
                  <a:pt x="3222625" y="508001"/>
                </a:lnTo>
                <a:cubicBezTo>
                  <a:pt x="3222625" y="543070"/>
                  <a:pt x="3194195" y="571500"/>
                  <a:pt x="3159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18"/>
          <p:cNvSpPr/>
          <p:nvPr/>
        </p:nvSpPr>
        <p:spPr>
          <a:xfrm>
            <a:off x="7899380" y="3420462"/>
            <a:ext cx="309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Total Layers</a:t>
            </a:r>
            <a:endParaRPr lang="en-US" sz="1600" dirty="0"/>
          </a:p>
        </p:txBody>
      </p:sp>
      <p:sp>
        <p:nvSpPr>
          <p:cNvPr id="45" name="Text 19"/>
          <p:cNvSpPr/>
          <p:nvPr/>
        </p:nvSpPr>
        <p:spPr>
          <a:xfrm>
            <a:off x="7899380" y="3642712"/>
            <a:ext cx="3087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237 layers with optimized depth</a:t>
            </a:r>
            <a:endParaRPr lang="en-US" sz="1600" dirty="0"/>
          </a:p>
        </p:txBody>
      </p:sp>
      <p:sp>
        <p:nvSpPr>
          <p:cNvPr id="46" name="Shape 20"/>
          <p:cNvSpPr/>
          <p:nvPr/>
        </p:nvSpPr>
        <p:spPr>
          <a:xfrm>
            <a:off x="7804130" y="5232218"/>
            <a:ext cx="3222625" cy="479754"/>
          </a:xfrm>
          <a:custGeom>
            <a:avLst/>
            <a:gdLst/>
            <a:ahLst/>
            <a:cxnLst/>
            <a:rect l="l" t="t" r="r" b="b"/>
            <a:pathLst>
              <a:path w="3222625" h="571500">
                <a:moveTo>
                  <a:pt x="63499" y="0"/>
                </a:moveTo>
                <a:lnTo>
                  <a:pt x="3159126" y="0"/>
                </a:lnTo>
                <a:cubicBezTo>
                  <a:pt x="3194195" y="0"/>
                  <a:pt x="3222625" y="28430"/>
                  <a:pt x="3222625" y="63499"/>
                </a:cubicBezTo>
                <a:lnTo>
                  <a:pt x="3222625" y="508001"/>
                </a:lnTo>
                <a:cubicBezTo>
                  <a:pt x="3222625" y="543070"/>
                  <a:pt x="3194195" y="571500"/>
                  <a:pt x="3159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21"/>
          <p:cNvSpPr/>
          <p:nvPr/>
        </p:nvSpPr>
        <p:spPr>
          <a:xfrm>
            <a:off x="7931130" y="5281595"/>
            <a:ext cx="309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Input Size</a:t>
            </a:r>
            <a:endParaRPr lang="en-US" sz="1600" dirty="0"/>
          </a:p>
        </p:txBody>
      </p:sp>
      <p:sp>
        <p:nvSpPr>
          <p:cNvPr id="48" name="Text 22"/>
          <p:cNvSpPr/>
          <p:nvPr/>
        </p:nvSpPr>
        <p:spPr>
          <a:xfrm>
            <a:off x="7914355" y="5535926"/>
            <a:ext cx="3087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224×224×3 (RGB images)</a:t>
            </a:r>
            <a:endParaRPr lang="en-US" sz="1600" dirty="0"/>
          </a:p>
        </p:txBody>
      </p:sp>
      <p:sp>
        <p:nvSpPr>
          <p:cNvPr id="49" name="Shape 23"/>
          <p:cNvSpPr/>
          <p:nvPr/>
        </p:nvSpPr>
        <p:spPr>
          <a:xfrm>
            <a:off x="7804130" y="3940757"/>
            <a:ext cx="3222625" cy="571500"/>
          </a:xfrm>
          <a:custGeom>
            <a:avLst/>
            <a:gdLst/>
            <a:ahLst/>
            <a:cxnLst/>
            <a:rect l="l" t="t" r="r" b="b"/>
            <a:pathLst>
              <a:path w="3222625" h="571500">
                <a:moveTo>
                  <a:pt x="63499" y="0"/>
                </a:moveTo>
                <a:lnTo>
                  <a:pt x="3159126" y="0"/>
                </a:lnTo>
                <a:cubicBezTo>
                  <a:pt x="3194195" y="0"/>
                  <a:pt x="3222625" y="28430"/>
                  <a:pt x="3222625" y="63499"/>
                </a:cubicBezTo>
                <a:lnTo>
                  <a:pt x="3222625" y="508001"/>
                </a:lnTo>
                <a:cubicBezTo>
                  <a:pt x="3222625" y="543070"/>
                  <a:pt x="3194195" y="571500"/>
                  <a:pt x="3159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24"/>
          <p:cNvSpPr/>
          <p:nvPr/>
        </p:nvSpPr>
        <p:spPr>
          <a:xfrm>
            <a:off x="7899380" y="4087212"/>
            <a:ext cx="309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Building Blocks</a:t>
            </a:r>
            <a:endParaRPr lang="en-US" sz="1600" dirty="0"/>
          </a:p>
        </p:txBody>
      </p:sp>
      <p:sp>
        <p:nvSpPr>
          <p:cNvPr id="51" name="Text 25"/>
          <p:cNvSpPr/>
          <p:nvPr/>
        </p:nvSpPr>
        <p:spPr>
          <a:xfrm>
            <a:off x="7899380" y="4309462"/>
            <a:ext cx="3087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7 MBConv blocks with squeeze-and-excitation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8"/>
          <p:cNvSpPr/>
          <p:nvPr/>
        </p:nvSpPr>
        <p:spPr>
          <a:xfrm>
            <a:off x="462340" y="3036298"/>
            <a:ext cx="6364288" cy="1617663"/>
          </a:xfrm>
          <a:custGeom>
            <a:avLst/>
            <a:gdLst/>
            <a:ahLst/>
            <a:cxnLst/>
            <a:rect l="l" t="t" r="r" b="b"/>
            <a:pathLst>
              <a:path w="6364288" h="1617663">
                <a:moveTo>
                  <a:pt x="0" y="0"/>
                </a:moveTo>
                <a:lnTo>
                  <a:pt x="6364288" y="0"/>
                </a:lnTo>
                <a:lnTo>
                  <a:pt x="6364288" y="1617663"/>
                </a:lnTo>
                <a:lnTo>
                  <a:pt x="0" y="16176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kern="0" spc="88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Compound Scaling Principle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198186"/>
            <a:ext cx="11652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Scaling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1312" y="1661429"/>
            <a:ext cx="11628438" cy="1090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Efficient Net introduces a groundbreaking </a:t>
            </a:r>
            <a:r>
              <a:rPr lang="en-US" sz="14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compound scaling method</a:t>
            </a: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that uniformly scales network </a:t>
            </a:r>
            <a:r>
              <a:rPr lang="en-US" sz="140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depth (d):</a:t>
            </a:r>
            <a:r>
              <a:rPr lang="en-US" sz="1400" dirty="0">
                <a:solidFill>
                  <a:srgbClr val="6B7280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Number of layers in the network</a:t>
            </a:r>
            <a:r>
              <a:rPr lang="en-US" sz="140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</a:t>
            </a: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, </a:t>
            </a:r>
            <a:r>
              <a:rPr lang="en-US" sz="140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width (w): </a:t>
            </a:r>
            <a:r>
              <a:rPr lang="en-US" sz="1400" dirty="0">
                <a:solidFill>
                  <a:srgbClr val="6B7280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Number of channels in each layer</a:t>
            </a:r>
            <a:r>
              <a:rPr lang="en-US" sz="140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</a:t>
            </a: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, and </a:t>
            </a:r>
            <a:r>
              <a:rPr lang="en-US" sz="140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resolution (r): </a:t>
            </a:r>
            <a:r>
              <a:rPr lang="en-US" sz="1400" dirty="0">
                <a:solidFill>
                  <a:srgbClr val="6B7280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Input image size</a:t>
            </a:r>
            <a:r>
              <a:rPr lang="en-US" sz="140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</a:t>
            </a:r>
            <a:r>
              <a:rPr lang="en-US" sz="14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using a fixed set of scaling coefficients. Unlike conventional approaches that arbitrarily scale individual dimensions, compound scaling maintains optimal balance across all three dimensions.</a:t>
            </a:r>
            <a:endParaRPr lang="en-US" sz="2800" dirty="0"/>
          </a:p>
          <a:p>
            <a:pPr>
              <a:lnSpc>
                <a:spcPct val="140000"/>
              </a:lnSpc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99037" y="1978321"/>
            <a:ext cx="2190750" cy="476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72637" y="1978321"/>
            <a:ext cx="2190750" cy="476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78046" y="4121213"/>
            <a:ext cx="2190750" cy="476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endParaRPr lang="en-US" sz="1600" dirty="0"/>
          </a:p>
        </p:txBody>
      </p:sp>
      <p:pic>
        <p:nvPicPr>
          <p:cNvPr id="61" name="Image 0" descr="https://kimi-web-img.moonshot.cn/img/media.geeksforgeeks.org/6a7d5f84726c278d3b87e633b316169395cae907.webp"/>
          <p:cNvPicPr>
            <a:picLocks noChangeAspect="1"/>
          </p:cNvPicPr>
          <p:nvPr/>
        </p:nvPicPr>
        <p:blipFill>
          <a:blip r:embed="rId1"/>
          <a:srcRect l="-1856" t="-1042" r="-618" b="-3214"/>
          <a:stretch>
            <a:fillRect/>
          </a:stretch>
        </p:blipFill>
        <p:spPr>
          <a:xfrm>
            <a:off x="7178510" y="3044611"/>
            <a:ext cx="4484931" cy="2500916"/>
          </a:xfrm>
          <a:prstGeom prst="roundRect">
            <a:avLst>
              <a:gd name="adj" fmla="val 0"/>
            </a:avLst>
          </a:prstGeom>
        </p:spPr>
      </p:pic>
      <p:sp>
        <p:nvSpPr>
          <p:cNvPr id="126" name="Shape 21"/>
          <p:cNvSpPr/>
          <p:nvPr/>
        </p:nvSpPr>
        <p:spPr>
          <a:xfrm>
            <a:off x="465058" y="509242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27" name="Text 22"/>
          <p:cNvSpPr/>
          <p:nvPr/>
        </p:nvSpPr>
        <p:spPr>
          <a:xfrm>
            <a:off x="688895" y="5040796"/>
            <a:ext cx="6246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Scaling Coefficients for EfficientNet-B0</a:t>
            </a:r>
            <a:endParaRPr lang="en-US" sz="1600" dirty="0"/>
          </a:p>
        </p:txBody>
      </p:sp>
      <p:sp>
        <p:nvSpPr>
          <p:cNvPr id="128" name="Shape 23"/>
          <p:cNvSpPr/>
          <p:nvPr/>
        </p:nvSpPr>
        <p:spPr>
          <a:xfrm>
            <a:off x="493633" y="5418619"/>
            <a:ext cx="1490663" cy="736600"/>
          </a:xfrm>
          <a:custGeom>
            <a:avLst/>
            <a:gdLst/>
            <a:ahLst/>
            <a:cxnLst/>
            <a:rect l="l" t="t" r="r" b="b"/>
            <a:pathLst>
              <a:path w="1490663" h="736600">
                <a:moveTo>
                  <a:pt x="0" y="0"/>
                </a:moveTo>
                <a:lnTo>
                  <a:pt x="1490663" y="0"/>
                </a:lnTo>
                <a:lnTo>
                  <a:pt x="1490663" y="736600"/>
                </a:lnTo>
                <a:lnTo>
                  <a:pt x="0" y="736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24"/>
          <p:cNvSpPr/>
          <p:nvPr/>
        </p:nvSpPr>
        <p:spPr>
          <a:xfrm>
            <a:off x="564277" y="5548795"/>
            <a:ext cx="13493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α = 1.2</a:t>
            </a:r>
            <a:endParaRPr lang="en-US" sz="1600" dirty="0"/>
          </a:p>
        </p:txBody>
      </p:sp>
      <p:sp>
        <p:nvSpPr>
          <p:cNvPr id="130" name="Text 25"/>
          <p:cNvSpPr/>
          <p:nvPr/>
        </p:nvSpPr>
        <p:spPr>
          <a:xfrm>
            <a:off x="596027" y="5866295"/>
            <a:ext cx="1285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Depth factor</a:t>
            </a:r>
            <a:endParaRPr lang="en-US" sz="1600" dirty="0"/>
          </a:p>
        </p:txBody>
      </p:sp>
      <p:sp>
        <p:nvSpPr>
          <p:cNvPr id="131" name="Shape 26"/>
          <p:cNvSpPr/>
          <p:nvPr/>
        </p:nvSpPr>
        <p:spPr>
          <a:xfrm>
            <a:off x="2117646" y="5418619"/>
            <a:ext cx="1490663" cy="736600"/>
          </a:xfrm>
          <a:custGeom>
            <a:avLst/>
            <a:gdLst/>
            <a:ahLst/>
            <a:cxnLst/>
            <a:rect l="l" t="t" r="r" b="b"/>
            <a:pathLst>
              <a:path w="1490663" h="736600">
                <a:moveTo>
                  <a:pt x="0" y="0"/>
                </a:moveTo>
                <a:lnTo>
                  <a:pt x="1490663" y="0"/>
                </a:lnTo>
                <a:lnTo>
                  <a:pt x="1490663" y="736600"/>
                </a:lnTo>
                <a:lnTo>
                  <a:pt x="0" y="736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27"/>
          <p:cNvSpPr/>
          <p:nvPr/>
        </p:nvSpPr>
        <p:spPr>
          <a:xfrm>
            <a:off x="2188289" y="5548795"/>
            <a:ext cx="13493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β = 1.1</a:t>
            </a:r>
            <a:endParaRPr lang="en-US" sz="1600" dirty="0"/>
          </a:p>
        </p:txBody>
      </p:sp>
      <p:sp>
        <p:nvSpPr>
          <p:cNvPr id="133" name="Text 28"/>
          <p:cNvSpPr/>
          <p:nvPr/>
        </p:nvSpPr>
        <p:spPr>
          <a:xfrm>
            <a:off x="2220039" y="5866295"/>
            <a:ext cx="1285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Width factor</a:t>
            </a:r>
            <a:endParaRPr lang="en-US" sz="1600" dirty="0"/>
          </a:p>
        </p:txBody>
      </p:sp>
      <p:sp>
        <p:nvSpPr>
          <p:cNvPr id="134" name="Shape 29"/>
          <p:cNvSpPr/>
          <p:nvPr/>
        </p:nvSpPr>
        <p:spPr>
          <a:xfrm>
            <a:off x="3741658" y="5418619"/>
            <a:ext cx="1490663" cy="736600"/>
          </a:xfrm>
          <a:custGeom>
            <a:avLst/>
            <a:gdLst/>
            <a:ahLst/>
            <a:cxnLst/>
            <a:rect l="l" t="t" r="r" b="b"/>
            <a:pathLst>
              <a:path w="1490663" h="736600">
                <a:moveTo>
                  <a:pt x="0" y="0"/>
                </a:moveTo>
                <a:lnTo>
                  <a:pt x="1490663" y="0"/>
                </a:lnTo>
                <a:lnTo>
                  <a:pt x="1490663" y="736600"/>
                </a:lnTo>
                <a:lnTo>
                  <a:pt x="0" y="736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30"/>
          <p:cNvSpPr/>
          <p:nvPr/>
        </p:nvSpPr>
        <p:spPr>
          <a:xfrm>
            <a:off x="3812302" y="5548795"/>
            <a:ext cx="13493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γ = 1.15</a:t>
            </a:r>
            <a:endParaRPr lang="en-US" sz="1600" dirty="0"/>
          </a:p>
        </p:txBody>
      </p:sp>
      <p:sp>
        <p:nvSpPr>
          <p:cNvPr id="136" name="Text 31"/>
          <p:cNvSpPr/>
          <p:nvPr/>
        </p:nvSpPr>
        <p:spPr>
          <a:xfrm>
            <a:off x="3844052" y="5866295"/>
            <a:ext cx="1285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Resolution factor</a:t>
            </a:r>
            <a:endParaRPr lang="en-US" sz="1600" dirty="0"/>
          </a:p>
        </p:txBody>
      </p:sp>
      <p:sp>
        <p:nvSpPr>
          <p:cNvPr id="137" name="Shape 32"/>
          <p:cNvSpPr/>
          <p:nvPr/>
        </p:nvSpPr>
        <p:spPr>
          <a:xfrm>
            <a:off x="5365670" y="5418619"/>
            <a:ext cx="1490663" cy="736600"/>
          </a:xfrm>
          <a:custGeom>
            <a:avLst/>
            <a:gdLst/>
            <a:ahLst/>
            <a:cxnLst/>
            <a:rect l="l" t="t" r="r" b="b"/>
            <a:pathLst>
              <a:path w="1490663" h="736600">
                <a:moveTo>
                  <a:pt x="0" y="0"/>
                </a:moveTo>
                <a:lnTo>
                  <a:pt x="1490663" y="0"/>
                </a:lnTo>
                <a:lnTo>
                  <a:pt x="1490663" y="736600"/>
                </a:lnTo>
                <a:lnTo>
                  <a:pt x="0" y="736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Text 33"/>
          <p:cNvSpPr/>
          <p:nvPr/>
        </p:nvSpPr>
        <p:spPr>
          <a:xfrm>
            <a:off x="5436315" y="5548795"/>
            <a:ext cx="13493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φ = 1.0</a:t>
            </a:r>
            <a:endParaRPr lang="en-US" sz="1600" dirty="0"/>
          </a:p>
        </p:txBody>
      </p:sp>
      <p:sp>
        <p:nvSpPr>
          <p:cNvPr id="139" name="Text 34"/>
          <p:cNvSpPr/>
          <p:nvPr/>
        </p:nvSpPr>
        <p:spPr>
          <a:xfrm>
            <a:off x="5468065" y="5866295"/>
            <a:ext cx="1285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Compound coefficient</a:t>
            </a:r>
            <a:endParaRPr lang="en-US" sz="1600" dirty="0"/>
          </a:p>
        </p:txBody>
      </p:sp>
      <p:sp>
        <p:nvSpPr>
          <p:cNvPr id="140" name="Text 9"/>
          <p:cNvSpPr/>
          <p:nvPr/>
        </p:nvSpPr>
        <p:spPr>
          <a:xfrm>
            <a:off x="524590" y="3146193"/>
            <a:ext cx="6167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Mathematical Formulation</a:t>
            </a:r>
            <a:endParaRPr lang="en-US" sz="1600" dirty="0"/>
          </a:p>
        </p:txBody>
      </p:sp>
      <p:sp>
        <p:nvSpPr>
          <p:cNvPr id="141" name="Text 10"/>
          <p:cNvSpPr/>
          <p:nvPr/>
        </p:nvSpPr>
        <p:spPr>
          <a:xfrm>
            <a:off x="520621" y="3431943"/>
            <a:ext cx="2024062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8B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 = α</a:t>
            </a:r>
            <a:r>
              <a:rPr lang="en-US" sz="845" b="1" dirty="0">
                <a:solidFill>
                  <a:srgbClr val="8B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φ</a:t>
            </a:r>
            <a:endParaRPr lang="en-US" sz="1600" dirty="0"/>
          </a:p>
        </p:txBody>
      </p:sp>
      <p:sp>
        <p:nvSpPr>
          <p:cNvPr id="142" name="Text 11"/>
          <p:cNvSpPr/>
          <p:nvPr/>
        </p:nvSpPr>
        <p:spPr>
          <a:xfrm>
            <a:off x="528559" y="3685943"/>
            <a:ext cx="2008187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Depth scaling</a:t>
            </a:r>
            <a:endParaRPr lang="en-US" sz="1600" dirty="0"/>
          </a:p>
        </p:txBody>
      </p:sp>
      <p:sp>
        <p:nvSpPr>
          <p:cNvPr id="143" name="Text 12"/>
          <p:cNvSpPr/>
          <p:nvPr/>
        </p:nvSpPr>
        <p:spPr>
          <a:xfrm>
            <a:off x="2597071" y="3431943"/>
            <a:ext cx="2024062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8B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 = β</a:t>
            </a:r>
            <a:r>
              <a:rPr lang="en-US" sz="845" b="1" dirty="0">
                <a:solidFill>
                  <a:srgbClr val="8B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φ</a:t>
            </a:r>
            <a:endParaRPr lang="en-US" sz="1600" dirty="0"/>
          </a:p>
        </p:txBody>
      </p:sp>
      <p:sp>
        <p:nvSpPr>
          <p:cNvPr id="144" name="Text 13"/>
          <p:cNvSpPr/>
          <p:nvPr/>
        </p:nvSpPr>
        <p:spPr>
          <a:xfrm>
            <a:off x="2605009" y="3685943"/>
            <a:ext cx="2008187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Width scaling</a:t>
            </a:r>
            <a:endParaRPr lang="en-US" sz="1600" dirty="0"/>
          </a:p>
        </p:txBody>
      </p:sp>
      <p:sp>
        <p:nvSpPr>
          <p:cNvPr id="145" name="Text 14"/>
          <p:cNvSpPr/>
          <p:nvPr/>
        </p:nvSpPr>
        <p:spPr>
          <a:xfrm>
            <a:off x="4673521" y="3431943"/>
            <a:ext cx="2024062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8B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 = γ</a:t>
            </a:r>
            <a:r>
              <a:rPr lang="en-US" sz="845" b="1" dirty="0">
                <a:solidFill>
                  <a:srgbClr val="8B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φ</a:t>
            </a:r>
            <a:endParaRPr lang="en-US" sz="1600" dirty="0"/>
          </a:p>
        </p:txBody>
      </p:sp>
      <p:sp>
        <p:nvSpPr>
          <p:cNvPr id="146" name="Text 15"/>
          <p:cNvSpPr/>
          <p:nvPr/>
        </p:nvSpPr>
        <p:spPr>
          <a:xfrm>
            <a:off x="4681459" y="3685943"/>
            <a:ext cx="2008187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Resolution scaling</a:t>
            </a:r>
            <a:endParaRPr lang="en-US" sz="1600" dirty="0"/>
          </a:p>
        </p:txBody>
      </p:sp>
      <p:sp>
        <p:nvSpPr>
          <p:cNvPr id="147" name="Shape 16"/>
          <p:cNvSpPr/>
          <p:nvPr/>
        </p:nvSpPr>
        <p:spPr>
          <a:xfrm>
            <a:off x="556340" y="3974868"/>
            <a:ext cx="6103938" cy="6350"/>
          </a:xfrm>
          <a:custGeom>
            <a:avLst/>
            <a:gdLst/>
            <a:ahLst/>
            <a:cxnLst/>
            <a:rect l="l" t="t" r="r" b="b"/>
            <a:pathLst>
              <a:path w="6103938" h="6350">
                <a:moveTo>
                  <a:pt x="0" y="0"/>
                </a:moveTo>
                <a:lnTo>
                  <a:pt x="6103938" y="0"/>
                </a:lnTo>
                <a:lnTo>
                  <a:pt x="6103938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 lang="en-IN"/>
          </a:p>
        </p:txBody>
      </p:sp>
      <p:sp>
        <p:nvSpPr>
          <p:cNvPr id="148" name="Text 17"/>
          <p:cNvSpPr/>
          <p:nvPr/>
        </p:nvSpPr>
        <p:spPr>
          <a:xfrm>
            <a:off x="524590" y="4105044"/>
            <a:ext cx="6167438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Constraint: </a:t>
            </a:r>
            <a:r>
              <a:rPr lang="en-US" sz="1000" b="1" dirty="0">
                <a:solidFill>
                  <a:srgbClr val="8B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α · β² · γ² ≈ 2</a:t>
            </a:r>
            <a:endParaRPr lang="en-US" sz="1600" dirty="0"/>
          </a:p>
        </p:txBody>
      </p:sp>
      <p:sp>
        <p:nvSpPr>
          <p:cNvPr id="149" name="Text 18"/>
          <p:cNvSpPr/>
          <p:nvPr/>
        </p:nvSpPr>
        <p:spPr>
          <a:xfrm>
            <a:off x="528559" y="4346343"/>
            <a:ext cx="6159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Ensures FLOPs approximately double with each φ increment</a:t>
            </a:r>
            <a:endParaRPr lang="en-US" sz="1600" dirty="0"/>
          </a:p>
        </p:txBody>
      </p:sp>
      <p:sp>
        <p:nvSpPr>
          <p:cNvPr id="151" name="TextBox 150"/>
          <p:cNvSpPr txBox="1"/>
          <p:nvPr/>
        </p:nvSpPr>
        <p:spPr>
          <a:xfrm>
            <a:off x="6429375" y="5588585"/>
            <a:ext cx="6097384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Figure 6: Compound scaling visualization</a:t>
            </a:r>
            <a:endParaRPr lang="en-US" sz="10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38" y="368338"/>
            <a:ext cx="11519782" cy="184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kern="0" spc="102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338" y="626175"/>
            <a:ext cx="11676326" cy="442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EfficientNet-B0 Architecture</a:t>
            </a:r>
            <a:endParaRPr lang="en-US" sz="1600" dirty="0"/>
          </a:p>
        </p:txBody>
      </p:sp>
      <p:sp>
        <p:nvSpPr>
          <p:cNvPr id="32" name="Shape 3"/>
          <p:cNvSpPr/>
          <p:nvPr/>
        </p:nvSpPr>
        <p:spPr>
          <a:xfrm>
            <a:off x="373224" y="1208536"/>
            <a:ext cx="4487580" cy="4247650"/>
          </a:xfrm>
          <a:custGeom>
            <a:avLst/>
            <a:gdLst/>
            <a:ahLst/>
            <a:cxnLst/>
            <a:rect l="l" t="t" r="r" b="b"/>
            <a:pathLst>
              <a:path w="4487580" h="4247650">
                <a:moveTo>
                  <a:pt x="0" y="0"/>
                </a:moveTo>
                <a:lnTo>
                  <a:pt x="4487580" y="0"/>
                </a:lnTo>
                <a:lnTo>
                  <a:pt x="4487580" y="4247650"/>
                </a:lnTo>
                <a:lnTo>
                  <a:pt x="0" y="42476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4"/>
          <p:cNvSpPr/>
          <p:nvPr/>
        </p:nvSpPr>
        <p:spPr>
          <a:xfrm>
            <a:off x="363050" y="1386260"/>
            <a:ext cx="45719" cy="4069925"/>
          </a:xfrm>
          <a:custGeom>
            <a:avLst/>
            <a:gdLst/>
            <a:ahLst/>
            <a:cxnLst/>
            <a:rect l="l" t="t" r="r" b="b"/>
            <a:pathLst>
              <a:path w="35545" h="4247650">
                <a:moveTo>
                  <a:pt x="0" y="0"/>
                </a:moveTo>
                <a:lnTo>
                  <a:pt x="35545" y="0"/>
                </a:lnTo>
                <a:lnTo>
                  <a:pt x="35545" y="4247650"/>
                </a:lnTo>
                <a:lnTo>
                  <a:pt x="0" y="42476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Shape 5"/>
          <p:cNvSpPr/>
          <p:nvPr/>
        </p:nvSpPr>
        <p:spPr>
          <a:xfrm>
            <a:off x="590939" y="1421808"/>
            <a:ext cx="177726" cy="177726"/>
          </a:xfrm>
          <a:custGeom>
            <a:avLst/>
            <a:gdLst/>
            <a:ahLst/>
            <a:cxnLst/>
            <a:rect l="l" t="t" r="r" b="b"/>
            <a:pathLst>
              <a:path w="177726" h="177726">
                <a:moveTo>
                  <a:pt x="80706" y="1805"/>
                </a:moveTo>
                <a:cubicBezTo>
                  <a:pt x="85878" y="-590"/>
                  <a:pt x="91848" y="-590"/>
                  <a:pt x="97020" y="1805"/>
                </a:cubicBezTo>
                <a:lnTo>
                  <a:pt x="172901" y="36864"/>
                </a:lnTo>
                <a:cubicBezTo>
                  <a:pt x="175851" y="38218"/>
                  <a:pt x="177726" y="41169"/>
                  <a:pt x="177726" y="44431"/>
                </a:cubicBezTo>
                <a:cubicBezTo>
                  <a:pt x="177726" y="47694"/>
                  <a:pt x="175851" y="50645"/>
                  <a:pt x="172901" y="51999"/>
                </a:cubicBezTo>
                <a:lnTo>
                  <a:pt x="97020" y="87058"/>
                </a:lnTo>
                <a:cubicBezTo>
                  <a:pt x="91848" y="89453"/>
                  <a:pt x="85878" y="89453"/>
                  <a:pt x="80706" y="87058"/>
                </a:cubicBezTo>
                <a:lnTo>
                  <a:pt x="4825" y="51999"/>
                </a:lnTo>
                <a:cubicBezTo>
                  <a:pt x="1874" y="50610"/>
                  <a:pt x="0" y="47660"/>
                  <a:pt x="0" y="44431"/>
                </a:cubicBezTo>
                <a:cubicBezTo>
                  <a:pt x="0" y="41203"/>
                  <a:pt x="1874" y="38218"/>
                  <a:pt x="4825" y="36864"/>
                </a:cubicBezTo>
                <a:lnTo>
                  <a:pt x="80706" y="1805"/>
                </a:lnTo>
                <a:close/>
                <a:moveTo>
                  <a:pt x="16697" y="75811"/>
                </a:moveTo>
                <a:lnTo>
                  <a:pt x="73728" y="102158"/>
                </a:lnTo>
                <a:cubicBezTo>
                  <a:pt x="83344" y="106601"/>
                  <a:pt x="94417" y="106601"/>
                  <a:pt x="104032" y="102158"/>
                </a:cubicBezTo>
                <a:lnTo>
                  <a:pt x="161064" y="75811"/>
                </a:lnTo>
                <a:lnTo>
                  <a:pt x="172901" y="81296"/>
                </a:lnTo>
                <a:cubicBezTo>
                  <a:pt x="175851" y="82650"/>
                  <a:pt x="177726" y="85600"/>
                  <a:pt x="177726" y="88863"/>
                </a:cubicBezTo>
                <a:cubicBezTo>
                  <a:pt x="177726" y="92126"/>
                  <a:pt x="175851" y="95076"/>
                  <a:pt x="172901" y="96430"/>
                </a:cubicBezTo>
                <a:lnTo>
                  <a:pt x="97020" y="131489"/>
                </a:lnTo>
                <a:cubicBezTo>
                  <a:pt x="91848" y="133885"/>
                  <a:pt x="85878" y="133885"/>
                  <a:pt x="80706" y="131489"/>
                </a:cubicBezTo>
                <a:lnTo>
                  <a:pt x="4825" y="96430"/>
                </a:lnTo>
                <a:cubicBezTo>
                  <a:pt x="1874" y="95042"/>
                  <a:pt x="0" y="92091"/>
                  <a:pt x="0" y="88863"/>
                </a:cubicBezTo>
                <a:cubicBezTo>
                  <a:pt x="0" y="85635"/>
                  <a:pt x="1874" y="82650"/>
                  <a:pt x="4825" y="81296"/>
                </a:cubicBezTo>
                <a:lnTo>
                  <a:pt x="16662" y="75811"/>
                </a:lnTo>
                <a:close/>
                <a:moveTo>
                  <a:pt x="4825" y="125727"/>
                </a:moveTo>
                <a:lnTo>
                  <a:pt x="16662" y="120243"/>
                </a:lnTo>
                <a:lnTo>
                  <a:pt x="73694" y="146589"/>
                </a:lnTo>
                <a:cubicBezTo>
                  <a:pt x="83309" y="151032"/>
                  <a:pt x="94382" y="151032"/>
                  <a:pt x="103997" y="146589"/>
                </a:cubicBezTo>
                <a:lnTo>
                  <a:pt x="161029" y="120243"/>
                </a:lnTo>
                <a:lnTo>
                  <a:pt x="172866" y="125727"/>
                </a:lnTo>
                <a:cubicBezTo>
                  <a:pt x="175817" y="127081"/>
                  <a:pt x="177691" y="130032"/>
                  <a:pt x="177691" y="133294"/>
                </a:cubicBezTo>
                <a:cubicBezTo>
                  <a:pt x="177691" y="136557"/>
                  <a:pt x="175817" y="139508"/>
                  <a:pt x="172866" y="140862"/>
                </a:cubicBezTo>
                <a:lnTo>
                  <a:pt x="96986" y="175921"/>
                </a:lnTo>
                <a:cubicBezTo>
                  <a:pt x="91814" y="178316"/>
                  <a:pt x="85843" y="178316"/>
                  <a:pt x="80671" y="175921"/>
                </a:cubicBezTo>
                <a:lnTo>
                  <a:pt x="4825" y="140862"/>
                </a:lnTo>
                <a:cubicBezTo>
                  <a:pt x="1874" y="139473"/>
                  <a:pt x="0" y="136523"/>
                  <a:pt x="0" y="133294"/>
                </a:cubicBezTo>
                <a:cubicBezTo>
                  <a:pt x="0" y="130066"/>
                  <a:pt x="1874" y="127081"/>
                  <a:pt x="4825" y="125727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Text 6"/>
          <p:cNvSpPr/>
          <p:nvPr/>
        </p:nvSpPr>
        <p:spPr>
          <a:xfrm>
            <a:off x="790880" y="1386262"/>
            <a:ext cx="3981061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Layer-wise Architecture</a:t>
            </a:r>
            <a:endParaRPr lang="en-US" sz="1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568723" y="1777259"/>
          <a:ext cx="4114355" cy="3525460"/>
        </p:xfrm>
        <a:graphic>
          <a:graphicData uri="http://schemas.openxmlformats.org/drawingml/2006/table">
            <a:tbl>
              <a:tblPr/>
              <a:tblGrid>
                <a:gridCol w="515405"/>
                <a:gridCol w="1457353"/>
                <a:gridCol w="817539"/>
                <a:gridCol w="746449"/>
                <a:gridCol w="577609"/>
              </a:tblGrid>
              <a:tr h="345440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Stage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Operator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Resolution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Channels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Layers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Conv3×3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224×224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32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MBConv1, k3×3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112×112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16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3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MBConv6, k3×3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112×112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24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4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MBConv6, k5×5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56×56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40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5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MBConv6, k3×3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28×28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80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3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6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MBConv6, k5×5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14×14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112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3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7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MBConv6, k5×5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14×14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192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4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8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MBConv6, k3×3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7×7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320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9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Conv1×1 &amp; Pool &amp; FC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7×7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1280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</a:t>
                      </a:r>
                      <a:endParaRPr lang="en-US" sz="9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106636" marR="106636" marT="71090" marB="710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 7"/>
          <p:cNvSpPr/>
          <p:nvPr/>
        </p:nvSpPr>
        <p:spPr>
          <a:xfrm>
            <a:off x="568723" y="5306165"/>
            <a:ext cx="4167673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Table 1: EfficientNet-B0 baseline network architecture (adapted from Tan &amp; Le, 2019)</a:t>
            </a:r>
            <a:endParaRPr lang="en-US" sz="1600" dirty="0"/>
          </a:p>
        </p:txBody>
      </p:sp>
      <p:sp>
        <p:nvSpPr>
          <p:cNvPr id="38" name="Shape 8"/>
          <p:cNvSpPr/>
          <p:nvPr/>
        </p:nvSpPr>
        <p:spPr>
          <a:xfrm>
            <a:off x="355452" y="5601813"/>
            <a:ext cx="1404035" cy="941948"/>
          </a:xfrm>
          <a:custGeom>
            <a:avLst/>
            <a:gdLst/>
            <a:ahLst/>
            <a:cxnLst/>
            <a:rect l="l" t="t" r="r" b="b"/>
            <a:pathLst>
              <a:path w="1404035" h="941948">
                <a:moveTo>
                  <a:pt x="0" y="0"/>
                </a:moveTo>
                <a:lnTo>
                  <a:pt x="1404035" y="0"/>
                </a:lnTo>
                <a:lnTo>
                  <a:pt x="1404035" y="941948"/>
                </a:lnTo>
                <a:lnTo>
                  <a:pt x="0" y="94194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9"/>
          <p:cNvSpPr/>
          <p:nvPr/>
        </p:nvSpPr>
        <p:spPr>
          <a:xfrm>
            <a:off x="928396" y="5743993"/>
            <a:ext cx="266589" cy="266589"/>
          </a:xfrm>
          <a:custGeom>
            <a:avLst/>
            <a:gdLst/>
            <a:ahLst/>
            <a:cxnLst/>
            <a:rect l="l" t="t" r="r" b="b"/>
            <a:pathLst>
              <a:path w="266589" h="266589">
                <a:moveTo>
                  <a:pt x="99971" y="33324"/>
                </a:moveTo>
                <a:cubicBezTo>
                  <a:pt x="99971" y="24108"/>
                  <a:pt x="107417" y="16662"/>
                  <a:pt x="116633" y="16662"/>
                </a:cubicBezTo>
                <a:lnTo>
                  <a:pt x="149956" y="16662"/>
                </a:lnTo>
                <a:cubicBezTo>
                  <a:pt x="159172" y="16662"/>
                  <a:pt x="166618" y="24108"/>
                  <a:pt x="166618" y="33324"/>
                </a:cubicBezTo>
                <a:lnTo>
                  <a:pt x="166618" y="66647"/>
                </a:lnTo>
                <a:cubicBezTo>
                  <a:pt x="166618" y="75863"/>
                  <a:pt x="159172" y="83309"/>
                  <a:pt x="149956" y="83309"/>
                </a:cubicBezTo>
                <a:lnTo>
                  <a:pt x="145791" y="83309"/>
                </a:lnTo>
                <a:lnTo>
                  <a:pt x="145791" y="116633"/>
                </a:lnTo>
                <a:lnTo>
                  <a:pt x="208273" y="116633"/>
                </a:lnTo>
                <a:cubicBezTo>
                  <a:pt x="228996" y="116633"/>
                  <a:pt x="245762" y="133399"/>
                  <a:pt x="245762" y="154122"/>
                </a:cubicBezTo>
                <a:lnTo>
                  <a:pt x="245762" y="183280"/>
                </a:lnTo>
                <a:lnTo>
                  <a:pt x="249927" y="183280"/>
                </a:lnTo>
                <a:cubicBezTo>
                  <a:pt x="259143" y="183280"/>
                  <a:pt x="266589" y="190726"/>
                  <a:pt x="266589" y="199942"/>
                </a:cubicBezTo>
                <a:lnTo>
                  <a:pt x="266589" y="233265"/>
                </a:lnTo>
                <a:cubicBezTo>
                  <a:pt x="266589" y="242481"/>
                  <a:pt x="259143" y="249927"/>
                  <a:pt x="249927" y="249927"/>
                </a:cubicBezTo>
                <a:lnTo>
                  <a:pt x="216603" y="249927"/>
                </a:lnTo>
                <a:cubicBezTo>
                  <a:pt x="207387" y="249927"/>
                  <a:pt x="199942" y="242481"/>
                  <a:pt x="199942" y="233265"/>
                </a:cubicBezTo>
                <a:lnTo>
                  <a:pt x="199942" y="199942"/>
                </a:lnTo>
                <a:cubicBezTo>
                  <a:pt x="199942" y="190726"/>
                  <a:pt x="207387" y="183280"/>
                  <a:pt x="216603" y="183280"/>
                </a:cubicBezTo>
                <a:lnTo>
                  <a:pt x="220769" y="183280"/>
                </a:lnTo>
                <a:lnTo>
                  <a:pt x="220769" y="154122"/>
                </a:lnTo>
                <a:cubicBezTo>
                  <a:pt x="220769" y="147197"/>
                  <a:pt x="215198" y="141625"/>
                  <a:pt x="208273" y="141625"/>
                </a:cubicBezTo>
                <a:lnTo>
                  <a:pt x="145791" y="141625"/>
                </a:lnTo>
                <a:lnTo>
                  <a:pt x="145791" y="183280"/>
                </a:lnTo>
                <a:lnTo>
                  <a:pt x="149956" y="183280"/>
                </a:lnTo>
                <a:cubicBezTo>
                  <a:pt x="159172" y="183280"/>
                  <a:pt x="166618" y="190726"/>
                  <a:pt x="166618" y="199942"/>
                </a:cubicBezTo>
                <a:lnTo>
                  <a:pt x="166618" y="233265"/>
                </a:lnTo>
                <a:cubicBezTo>
                  <a:pt x="166618" y="242481"/>
                  <a:pt x="159172" y="249927"/>
                  <a:pt x="149956" y="249927"/>
                </a:cubicBezTo>
                <a:lnTo>
                  <a:pt x="116633" y="249927"/>
                </a:lnTo>
                <a:cubicBezTo>
                  <a:pt x="107417" y="249927"/>
                  <a:pt x="99971" y="242481"/>
                  <a:pt x="99971" y="233265"/>
                </a:cubicBezTo>
                <a:lnTo>
                  <a:pt x="99971" y="199942"/>
                </a:lnTo>
                <a:cubicBezTo>
                  <a:pt x="99971" y="190726"/>
                  <a:pt x="107417" y="183280"/>
                  <a:pt x="116633" y="183280"/>
                </a:cubicBezTo>
                <a:lnTo>
                  <a:pt x="120798" y="183280"/>
                </a:lnTo>
                <a:lnTo>
                  <a:pt x="120798" y="141625"/>
                </a:lnTo>
                <a:lnTo>
                  <a:pt x="58316" y="141625"/>
                </a:lnTo>
                <a:cubicBezTo>
                  <a:pt x="51391" y="141625"/>
                  <a:pt x="45820" y="147197"/>
                  <a:pt x="45820" y="154122"/>
                </a:cubicBezTo>
                <a:lnTo>
                  <a:pt x="45820" y="183280"/>
                </a:lnTo>
                <a:lnTo>
                  <a:pt x="49985" y="183280"/>
                </a:lnTo>
                <a:cubicBezTo>
                  <a:pt x="59201" y="183280"/>
                  <a:pt x="66647" y="190726"/>
                  <a:pt x="66647" y="199942"/>
                </a:cubicBezTo>
                <a:lnTo>
                  <a:pt x="66647" y="233265"/>
                </a:lnTo>
                <a:cubicBezTo>
                  <a:pt x="66647" y="242481"/>
                  <a:pt x="59201" y="249927"/>
                  <a:pt x="49985" y="249927"/>
                </a:cubicBezTo>
                <a:lnTo>
                  <a:pt x="16662" y="249927"/>
                </a:lnTo>
                <a:cubicBezTo>
                  <a:pt x="7446" y="249927"/>
                  <a:pt x="0" y="242481"/>
                  <a:pt x="0" y="233265"/>
                </a:cubicBezTo>
                <a:lnTo>
                  <a:pt x="0" y="199942"/>
                </a:lnTo>
                <a:cubicBezTo>
                  <a:pt x="0" y="190726"/>
                  <a:pt x="7446" y="183280"/>
                  <a:pt x="16662" y="183280"/>
                </a:cubicBezTo>
                <a:lnTo>
                  <a:pt x="20827" y="183280"/>
                </a:lnTo>
                <a:lnTo>
                  <a:pt x="20827" y="154122"/>
                </a:lnTo>
                <a:cubicBezTo>
                  <a:pt x="20827" y="133399"/>
                  <a:pt x="37593" y="116633"/>
                  <a:pt x="58316" y="116633"/>
                </a:cubicBezTo>
                <a:lnTo>
                  <a:pt x="120798" y="116633"/>
                </a:lnTo>
                <a:lnTo>
                  <a:pt x="120798" y="83309"/>
                </a:lnTo>
                <a:lnTo>
                  <a:pt x="116633" y="83309"/>
                </a:lnTo>
                <a:cubicBezTo>
                  <a:pt x="107417" y="83309"/>
                  <a:pt x="99971" y="75863"/>
                  <a:pt x="99971" y="66647"/>
                </a:cubicBezTo>
                <a:lnTo>
                  <a:pt x="99971" y="33324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Text 10"/>
          <p:cNvSpPr/>
          <p:nvPr/>
        </p:nvSpPr>
        <p:spPr>
          <a:xfrm>
            <a:off x="466531" y="6081673"/>
            <a:ext cx="1181878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FFFFFF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Stem</a:t>
            </a:r>
            <a:endParaRPr lang="en-US" sz="1600" dirty="0"/>
          </a:p>
        </p:txBody>
      </p:sp>
      <p:sp>
        <p:nvSpPr>
          <p:cNvPr id="41" name="Text 11"/>
          <p:cNvSpPr/>
          <p:nvPr/>
        </p:nvSpPr>
        <p:spPr>
          <a:xfrm>
            <a:off x="470974" y="6259399"/>
            <a:ext cx="1172991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dirty="0">
                <a:solidFill>
                  <a:srgbClr val="FFFFFF">
                    <a:alpha val="80000"/>
                  </a:srgbClr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Initial Conv3×3</a:t>
            </a:r>
            <a:endParaRPr lang="en-US" sz="1600" dirty="0"/>
          </a:p>
        </p:txBody>
      </p:sp>
      <p:sp>
        <p:nvSpPr>
          <p:cNvPr id="42" name="Shape 12"/>
          <p:cNvSpPr/>
          <p:nvPr/>
        </p:nvSpPr>
        <p:spPr>
          <a:xfrm>
            <a:off x="1905666" y="5601813"/>
            <a:ext cx="1404035" cy="941948"/>
          </a:xfrm>
          <a:custGeom>
            <a:avLst/>
            <a:gdLst/>
            <a:ahLst/>
            <a:cxnLst/>
            <a:rect l="l" t="t" r="r" b="b"/>
            <a:pathLst>
              <a:path w="1404035" h="941948">
                <a:moveTo>
                  <a:pt x="0" y="0"/>
                </a:moveTo>
                <a:lnTo>
                  <a:pt x="1404035" y="0"/>
                </a:lnTo>
                <a:lnTo>
                  <a:pt x="1404035" y="941948"/>
                </a:lnTo>
                <a:lnTo>
                  <a:pt x="0" y="94194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Shape 13"/>
          <p:cNvSpPr/>
          <p:nvPr/>
        </p:nvSpPr>
        <p:spPr>
          <a:xfrm>
            <a:off x="2478611" y="5743993"/>
            <a:ext cx="266589" cy="266589"/>
          </a:xfrm>
          <a:custGeom>
            <a:avLst/>
            <a:gdLst/>
            <a:ahLst/>
            <a:cxnLst/>
            <a:rect l="l" t="t" r="r" b="b"/>
            <a:pathLst>
              <a:path w="266589" h="266589">
                <a:moveTo>
                  <a:pt x="147874" y="-677"/>
                </a:moveTo>
                <a:cubicBezTo>
                  <a:pt x="138866" y="-5884"/>
                  <a:pt x="127723" y="-5884"/>
                  <a:pt x="118715" y="-677"/>
                </a:cubicBezTo>
                <a:lnTo>
                  <a:pt x="74874" y="24628"/>
                </a:lnTo>
                <a:cubicBezTo>
                  <a:pt x="65866" y="29835"/>
                  <a:pt x="60295" y="39468"/>
                  <a:pt x="60295" y="49881"/>
                </a:cubicBezTo>
                <a:lnTo>
                  <a:pt x="60295" y="102939"/>
                </a:lnTo>
                <a:lnTo>
                  <a:pt x="14319" y="129493"/>
                </a:lnTo>
                <a:cubicBezTo>
                  <a:pt x="5311" y="134700"/>
                  <a:pt x="-260" y="144333"/>
                  <a:pt x="-260" y="154747"/>
                </a:cubicBezTo>
                <a:lnTo>
                  <a:pt x="-260" y="205409"/>
                </a:lnTo>
                <a:cubicBezTo>
                  <a:pt x="-260" y="215822"/>
                  <a:pt x="5311" y="225455"/>
                  <a:pt x="14319" y="230662"/>
                </a:cubicBezTo>
                <a:lnTo>
                  <a:pt x="58212" y="255967"/>
                </a:lnTo>
                <a:cubicBezTo>
                  <a:pt x="67220" y="261174"/>
                  <a:pt x="78363" y="261174"/>
                  <a:pt x="87370" y="255967"/>
                </a:cubicBezTo>
                <a:lnTo>
                  <a:pt x="133347" y="229412"/>
                </a:lnTo>
                <a:lnTo>
                  <a:pt x="179323" y="255967"/>
                </a:lnTo>
                <a:cubicBezTo>
                  <a:pt x="188330" y="261174"/>
                  <a:pt x="199473" y="261174"/>
                  <a:pt x="208481" y="255967"/>
                </a:cubicBezTo>
                <a:lnTo>
                  <a:pt x="252270" y="230662"/>
                </a:lnTo>
                <a:cubicBezTo>
                  <a:pt x="261278" y="225455"/>
                  <a:pt x="266849" y="215822"/>
                  <a:pt x="266849" y="205409"/>
                </a:cubicBezTo>
                <a:lnTo>
                  <a:pt x="266849" y="154747"/>
                </a:lnTo>
                <a:cubicBezTo>
                  <a:pt x="266849" y="144333"/>
                  <a:pt x="261278" y="134700"/>
                  <a:pt x="252270" y="129493"/>
                </a:cubicBezTo>
                <a:lnTo>
                  <a:pt x="206294" y="102939"/>
                </a:lnTo>
                <a:lnTo>
                  <a:pt x="206294" y="49881"/>
                </a:lnTo>
                <a:cubicBezTo>
                  <a:pt x="206294" y="39468"/>
                  <a:pt x="200723" y="29835"/>
                  <a:pt x="191715" y="24628"/>
                </a:cubicBezTo>
                <a:lnTo>
                  <a:pt x="147874" y="-677"/>
                </a:lnTo>
                <a:close/>
                <a:moveTo>
                  <a:pt x="120798" y="152351"/>
                </a:moveTo>
                <a:lnTo>
                  <a:pt x="120798" y="207804"/>
                </a:lnTo>
                <a:lnTo>
                  <a:pt x="74822" y="234359"/>
                </a:lnTo>
                <a:cubicBezTo>
                  <a:pt x="74197" y="234723"/>
                  <a:pt x="73468" y="234931"/>
                  <a:pt x="72739" y="234931"/>
                </a:cubicBezTo>
                <a:lnTo>
                  <a:pt x="72739" y="180104"/>
                </a:lnTo>
                <a:lnTo>
                  <a:pt x="120798" y="152351"/>
                </a:lnTo>
                <a:close/>
                <a:moveTo>
                  <a:pt x="241284" y="152664"/>
                </a:moveTo>
                <a:cubicBezTo>
                  <a:pt x="241648" y="153289"/>
                  <a:pt x="241857" y="154018"/>
                  <a:pt x="241857" y="154747"/>
                </a:cubicBezTo>
                <a:lnTo>
                  <a:pt x="241857" y="205409"/>
                </a:lnTo>
                <a:cubicBezTo>
                  <a:pt x="241857" y="206919"/>
                  <a:pt x="241076" y="208273"/>
                  <a:pt x="239774" y="209002"/>
                </a:cubicBezTo>
                <a:lnTo>
                  <a:pt x="195880" y="234307"/>
                </a:lnTo>
                <a:cubicBezTo>
                  <a:pt x="195256" y="234671"/>
                  <a:pt x="194527" y="234879"/>
                  <a:pt x="193798" y="234879"/>
                </a:cubicBezTo>
                <a:lnTo>
                  <a:pt x="193798" y="180052"/>
                </a:lnTo>
                <a:lnTo>
                  <a:pt x="241284" y="152664"/>
                </a:lnTo>
                <a:close/>
                <a:moveTo>
                  <a:pt x="181353" y="49881"/>
                </a:moveTo>
                <a:lnTo>
                  <a:pt x="181353" y="102939"/>
                </a:lnTo>
                <a:lnTo>
                  <a:pt x="133294" y="130691"/>
                </a:lnTo>
                <a:lnTo>
                  <a:pt x="133294" y="75238"/>
                </a:lnTo>
                <a:lnTo>
                  <a:pt x="180781" y="47851"/>
                </a:lnTo>
                <a:cubicBezTo>
                  <a:pt x="181145" y="48475"/>
                  <a:pt x="181353" y="49204"/>
                  <a:pt x="181353" y="4993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14"/>
          <p:cNvSpPr/>
          <p:nvPr/>
        </p:nvSpPr>
        <p:spPr>
          <a:xfrm>
            <a:off x="2016745" y="6081673"/>
            <a:ext cx="1181878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FFFFFF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Body</a:t>
            </a:r>
            <a:endParaRPr lang="en-US" sz="1600" dirty="0"/>
          </a:p>
        </p:txBody>
      </p:sp>
      <p:sp>
        <p:nvSpPr>
          <p:cNvPr id="45" name="Text 15"/>
          <p:cNvSpPr/>
          <p:nvPr/>
        </p:nvSpPr>
        <p:spPr>
          <a:xfrm>
            <a:off x="2021188" y="6259399"/>
            <a:ext cx="1172991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dirty="0">
                <a:solidFill>
                  <a:srgbClr val="FFFFFF">
                    <a:alpha val="80000"/>
                  </a:srgbClr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MBConv Blocks</a:t>
            </a:r>
            <a:endParaRPr lang="en-US" sz="1600" dirty="0"/>
          </a:p>
        </p:txBody>
      </p:sp>
      <p:sp>
        <p:nvSpPr>
          <p:cNvPr id="46" name="Shape 16"/>
          <p:cNvSpPr/>
          <p:nvPr/>
        </p:nvSpPr>
        <p:spPr>
          <a:xfrm>
            <a:off x="3455992" y="5601813"/>
            <a:ext cx="1404035" cy="941948"/>
          </a:xfrm>
          <a:custGeom>
            <a:avLst/>
            <a:gdLst/>
            <a:ahLst/>
            <a:cxnLst/>
            <a:rect l="l" t="t" r="r" b="b"/>
            <a:pathLst>
              <a:path w="1404035" h="941948">
                <a:moveTo>
                  <a:pt x="0" y="0"/>
                </a:moveTo>
                <a:lnTo>
                  <a:pt x="1404035" y="0"/>
                </a:lnTo>
                <a:lnTo>
                  <a:pt x="1404035" y="941948"/>
                </a:lnTo>
                <a:lnTo>
                  <a:pt x="0" y="94194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Shape 17"/>
          <p:cNvSpPr/>
          <p:nvPr/>
        </p:nvSpPr>
        <p:spPr>
          <a:xfrm>
            <a:off x="4028936" y="5743993"/>
            <a:ext cx="266589" cy="266589"/>
          </a:xfrm>
          <a:custGeom>
            <a:avLst/>
            <a:gdLst/>
            <a:ahLst/>
            <a:cxnLst/>
            <a:rect l="l" t="t" r="r" b="b"/>
            <a:pathLst>
              <a:path w="266589" h="266589">
                <a:moveTo>
                  <a:pt x="233265" y="133294"/>
                </a:moveTo>
                <a:cubicBezTo>
                  <a:pt x="233265" y="78119"/>
                  <a:pt x="188470" y="33324"/>
                  <a:pt x="133294" y="33324"/>
                </a:cubicBezTo>
                <a:cubicBezTo>
                  <a:pt x="78119" y="33324"/>
                  <a:pt x="33324" y="78119"/>
                  <a:pt x="33324" y="133294"/>
                </a:cubicBezTo>
                <a:cubicBezTo>
                  <a:pt x="33324" y="188470"/>
                  <a:pt x="78119" y="233265"/>
                  <a:pt x="133294" y="233265"/>
                </a:cubicBezTo>
                <a:cubicBezTo>
                  <a:pt x="188470" y="233265"/>
                  <a:pt x="233265" y="188470"/>
                  <a:pt x="233265" y="133294"/>
                </a:cubicBezTo>
                <a:close/>
                <a:moveTo>
                  <a:pt x="0" y="133294"/>
                </a:moveTo>
                <a:cubicBezTo>
                  <a:pt x="0" y="59727"/>
                  <a:pt x="59727" y="0"/>
                  <a:pt x="133294" y="0"/>
                </a:cubicBezTo>
                <a:cubicBezTo>
                  <a:pt x="206862" y="0"/>
                  <a:pt x="266589" y="59727"/>
                  <a:pt x="266589" y="133294"/>
                </a:cubicBezTo>
                <a:cubicBezTo>
                  <a:pt x="266589" y="206862"/>
                  <a:pt x="206862" y="266589"/>
                  <a:pt x="133294" y="266589"/>
                </a:cubicBezTo>
                <a:cubicBezTo>
                  <a:pt x="59727" y="266589"/>
                  <a:pt x="0" y="206862"/>
                  <a:pt x="0" y="133294"/>
                </a:cubicBezTo>
                <a:close/>
                <a:moveTo>
                  <a:pt x="133294" y="174949"/>
                </a:moveTo>
                <a:cubicBezTo>
                  <a:pt x="156284" y="174949"/>
                  <a:pt x="174949" y="156284"/>
                  <a:pt x="174949" y="133294"/>
                </a:cubicBezTo>
                <a:cubicBezTo>
                  <a:pt x="174949" y="110305"/>
                  <a:pt x="156284" y="91640"/>
                  <a:pt x="133294" y="91640"/>
                </a:cubicBezTo>
                <a:cubicBezTo>
                  <a:pt x="110305" y="91640"/>
                  <a:pt x="91640" y="110305"/>
                  <a:pt x="91640" y="133294"/>
                </a:cubicBezTo>
                <a:cubicBezTo>
                  <a:pt x="91640" y="156284"/>
                  <a:pt x="110305" y="174949"/>
                  <a:pt x="133294" y="174949"/>
                </a:cubicBezTo>
                <a:close/>
                <a:moveTo>
                  <a:pt x="133294" y="58316"/>
                </a:moveTo>
                <a:cubicBezTo>
                  <a:pt x="174676" y="58316"/>
                  <a:pt x="208273" y="91913"/>
                  <a:pt x="208273" y="133294"/>
                </a:cubicBezTo>
                <a:cubicBezTo>
                  <a:pt x="208273" y="174676"/>
                  <a:pt x="174676" y="208273"/>
                  <a:pt x="133294" y="208273"/>
                </a:cubicBezTo>
                <a:cubicBezTo>
                  <a:pt x="91913" y="208273"/>
                  <a:pt x="58316" y="174676"/>
                  <a:pt x="58316" y="133294"/>
                </a:cubicBezTo>
                <a:cubicBezTo>
                  <a:pt x="58316" y="91913"/>
                  <a:pt x="91913" y="58316"/>
                  <a:pt x="133294" y="58316"/>
                </a:cubicBezTo>
                <a:close/>
                <a:moveTo>
                  <a:pt x="116633" y="133294"/>
                </a:moveTo>
                <a:cubicBezTo>
                  <a:pt x="116633" y="124099"/>
                  <a:pt x="124099" y="116633"/>
                  <a:pt x="133294" y="116633"/>
                </a:cubicBezTo>
                <a:cubicBezTo>
                  <a:pt x="142490" y="116633"/>
                  <a:pt x="149956" y="124099"/>
                  <a:pt x="149956" y="133294"/>
                </a:cubicBezTo>
                <a:cubicBezTo>
                  <a:pt x="149956" y="142490"/>
                  <a:pt x="142490" y="149956"/>
                  <a:pt x="133294" y="149956"/>
                </a:cubicBezTo>
                <a:cubicBezTo>
                  <a:pt x="124099" y="149956"/>
                  <a:pt x="116633" y="142490"/>
                  <a:pt x="116633" y="13329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48" name="Text 18"/>
          <p:cNvSpPr/>
          <p:nvPr/>
        </p:nvSpPr>
        <p:spPr>
          <a:xfrm>
            <a:off x="3567071" y="6081673"/>
            <a:ext cx="1181878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FFFFFF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Head</a:t>
            </a:r>
            <a:endParaRPr lang="en-US" sz="1600" dirty="0"/>
          </a:p>
        </p:txBody>
      </p:sp>
      <p:sp>
        <p:nvSpPr>
          <p:cNvPr id="49" name="Text 19"/>
          <p:cNvSpPr/>
          <p:nvPr/>
        </p:nvSpPr>
        <p:spPr>
          <a:xfrm>
            <a:off x="3571514" y="6259399"/>
            <a:ext cx="1172991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dirty="0">
                <a:solidFill>
                  <a:srgbClr val="FFFFFF">
                    <a:alpha val="80000"/>
                  </a:srgbClr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53" name="Shape 22"/>
          <p:cNvSpPr/>
          <p:nvPr/>
        </p:nvSpPr>
        <p:spPr>
          <a:xfrm>
            <a:off x="5085004" y="1386261"/>
            <a:ext cx="45719" cy="5157500"/>
          </a:xfrm>
          <a:custGeom>
            <a:avLst/>
            <a:gdLst/>
            <a:ahLst/>
            <a:cxnLst/>
            <a:rect l="l" t="t" r="r" b="b"/>
            <a:pathLst>
              <a:path w="35545" h="2674776">
                <a:moveTo>
                  <a:pt x="0" y="0"/>
                </a:moveTo>
                <a:lnTo>
                  <a:pt x="35545" y="0"/>
                </a:lnTo>
                <a:lnTo>
                  <a:pt x="35545" y="2674776"/>
                </a:lnTo>
                <a:lnTo>
                  <a:pt x="0" y="267477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Shape 23"/>
          <p:cNvSpPr/>
          <p:nvPr/>
        </p:nvSpPr>
        <p:spPr>
          <a:xfrm>
            <a:off x="5290679" y="1457352"/>
            <a:ext cx="177726" cy="177726"/>
          </a:xfrm>
          <a:custGeom>
            <a:avLst/>
            <a:gdLst/>
            <a:ahLst/>
            <a:cxnLst/>
            <a:rect l="l" t="t" r="r" b="b"/>
            <a:pathLst>
              <a:path w="177726" h="177726">
                <a:moveTo>
                  <a:pt x="88863" y="177726"/>
                </a:moveTo>
                <a:cubicBezTo>
                  <a:pt x="137908" y="177726"/>
                  <a:pt x="177726" y="137908"/>
                  <a:pt x="177726" y="88863"/>
                </a:cubicBezTo>
                <a:cubicBezTo>
                  <a:pt x="177726" y="39818"/>
                  <a:pt x="137908" y="0"/>
                  <a:pt x="88863" y="0"/>
                </a:cubicBezTo>
                <a:cubicBezTo>
                  <a:pt x="39818" y="0"/>
                  <a:pt x="0" y="39818"/>
                  <a:pt x="0" y="88863"/>
                </a:cubicBezTo>
                <a:cubicBezTo>
                  <a:pt x="0" y="137908"/>
                  <a:pt x="39818" y="177726"/>
                  <a:pt x="88863" y="177726"/>
                </a:cubicBezTo>
                <a:close/>
                <a:moveTo>
                  <a:pt x="77755" y="55539"/>
                </a:moveTo>
                <a:cubicBezTo>
                  <a:pt x="77755" y="49409"/>
                  <a:pt x="82732" y="44431"/>
                  <a:pt x="88863" y="44431"/>
                </a:cubicBezTo>
                <a:cubicBezTo>
                  <a:pt x="94994" y="44431"/>
                  <a:pt x="99971" y="49409"/>
                  <a:pt x="99971" y="55539"/>
                </a:cubicBezTo>
                <a:cubicBezTo>
                  <a:pt x="99971" y="61670"/>
                  <a:pt x="94994" y="66647"/>
                  <a:pt x="88863" y="66647"/>
                </a:cubicBezTo>
                <a:cubicBezTo>
                  <a:pt x="82732" y="66647"/>
                  <a:pt x="77755" y="61670"/>
                  <a:pt x="77755" y="55539"/>
                </a:cubicBezTo>
                <a:close/>
                <a:moveTo>
                  <a:pt x="74978" y="77755"/>
                </a:moveTo>
                <a:lnTo>
                  <a:pt x="91640" y="77755"/>
                </a:lnTo>
                <a:cubicBezTo>
                  <a:pt x="96257" y="77755"/>
                  <a:pt x="99971" y="81469"/>
                  <a:pt x="99971" y="86086"/>
                </a:cubicBezTo>
                <a:lnTo>
                  <a:pt x="99971" y="116633"/>
                </a:lnTo>
                <a:lnTo>
                  <a:pt x="102748" y="116633"/>
                </a:lnTo>
                <a:cubicBezTo>
                  <a:pt x="107365" y="116633"/>
                  <a:pt x="111079" y="120347"/>
                  <a:pt x="111079" y="124964"/>
                </a:cubicBezTo>
                <a:cubicBezTo>
                  <a:pt x="111079" y="129580"/>
                  <a:pt x="107365" y="133294"/>
                  <a:pt x="102748" y="133294"/>
                </a:cubicBezTo>
                <a:lnTo>
                  <a:pt x="74978" y="133294"/>
                </a:lnTo>
                <a:cubicBezTo>
                  <a:pt x="70361" y="133294"/>
                  <a:pt x="66647" y="129580"/>
                  <a:pt x="66647" y="124964"/>
                </a:cubicBezTo>
                <a:cubicBezTo>
                  <a:pt x="66647" y="120347"/>
                  <a:pt x="70361" y="116633"/>
                  <a:pt x="74978" y="116633"/>
                </a:cubicBezTo>
                <a:lnTo>
                  <a:pt x="83309" y="116633"/>
                </a:lnTo>
                <a:lnTo>
                  <a:pt x="83309" y="94417"/>
                </a:lnTo>
                <a:lnTo>
                  <a:pt x="74978" y="94417"/>
                </a:lnTo>
                <a:cubicBezTo>
                  <a:pt x="70361" y="94417"/>
                  <a:pt x="66647" y="90703"/>
                  <a:pt x="66647" y="86086"/>
                </a:cubicBezTo>
                <a:cubicBezTo>
                  <a:pt x="66647" y="81469"/>
                  <a:pt x="70361" y="77755"/>
                  <a:pt x="74978" y="77755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5" name="Text 24"/>
          <p:cNvSpPr/>
          <p:nvPr/>
        </p:nvSpPr>
        <p:spPr>
          <a:xfrm>
            <a:off x="5543268" y="1404447"/>
            <a:ext cx="6238181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Architecture Components</a:t>
            </a:r>
            <a:endParaRPr lang="en-US" sz="1600" dirty="0"/>
          </a:p>
        </p:txBody>
      </p:sp>
      <p:sp>
        <p:nvSpPr>
          <p:cNvPr id="56" name="Text 25"/>
          <p:cNvSpPr/>
          <p:nvPr/>
        </p:nvSpPr>
        <p:spPr>
          <a:xfrm>
            <a:off x="5539585" y="1856054"/>
            <a:ext cx="3190181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Stem Layer</a:t>
            </a:r>
            <a:endParaRPr lang="en-US" sz="1300" dirty="0"/>
          </a:p>
        </p:txBody>
      </p:sp>
      <p:sp>
        <p:nvSpPr>
          <p:cNvPr id="57" name="Text 26"/>
          <p:cNvSpPr/>
          <p:nvPr/>
        </p:nvSpPr>
        <p:spPr>
          <a:xfrm>
            <a:off x="5557360" y="2198619"/>
            <a:ext cx="5739635" cy="604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Initial 3×3 convolution with stride 2, batch normalization. Reduces spatial dimensions from 224×224 to 112×112 while increasing channels to 32.</a:t>
            </a:r>
            <a:endParaRPr lang="en-US" sz="1300" dirty="0"/>
          </a:p>
        </p:txBody>
      </p:sp>
      <p:sp>
        <p:nvSpPr>
          <p:cNvPr id="58" name="Text 27"/>
          <p:cNvSpPr/>
          <p:nvPr/>
        </p:nvSpPr>
        <p:spPr>
          <a:xfrm>
            <a:off x="5539584" y="3136592"/>
            <a:ext cx="3190181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MBConv Blocks</a:t>
            </a:r>
            <a:endParaRPr lang="en-US" sz="1300" dirty="0"/>
          </a:p>
        </p:txBody>
      </p:sp>
      <p:sp>
        <p:nvSpPr>
          <p:cNvPr id="59" name="Text 28"/>
          <p:cNvSpPr/>
          <p:nvPr/>
        </p:nvSpPr>
        <p:spPr>
          <a:xfrm>
            <a:off x="5539583" y="3371557"/>
            <a:ext cx="5748522" cy="604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Mobile Inverted Bottleneck blocks with expansion ratios (1× or 6×), depthwise separable convolutions, and squeeze-and-excitation optimization.</a:t>
            </a:r>
            <a:endParaRPr lang="en-US" sz="1300" dirty="0"/>
          </a:p>
        </p:txBody>
      </p:sp>
      <p:sp>
        <p:nvSpPr>
          <p:cNvPr id="60" name="Text 29"/>
          <p:cNvSpPr/>
          <p:nvPr/>
        </p:nvSpPr>
        <p:spPr>
          <a:xfrm>
            <a:off x="5539583" y="4252293"/>
            <a:ext cx="3190181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Squeeze-and-Excitation</a:t>
            </a:r>
            <a:endParaRPr lang="en-US" sz="1300" dirty="0"/>
          </a:p>
        </p:txBody>
      </p:sp>
      <p:sp>
        <p:nvSpPr>
          <p:cNvPr id="61" name="Text 30"/>
          <p:cNvSpPr/>
          <p:nvPr/>
        </p:nvSpPr>
        <p:spPr>
          <a:xfrm>
            <a:off x="5557360" y="4614796"/>
            <a:ext cx="5757410" cy="604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Channel attention mechanism learning adaptive channel-wise weights to enhance important features.</a:t>
            </a:r>
            <a:endParaRPr lang="en-US" sz="1300" dirty="0">
              <a:latin typeface="Sorts Mill Goudy" panose="02000503000000000000" pitchFamily="34" charset="0"/>
            </a:endParaRPr>
          </a:p>
          <a:p>
            <a:pPr>
              <a:lnSpc>
                <a:spcPct val="140000"/>
              </a:lnSpc>
            </a:pPr>
            <a:endParaRPr lang="en-US" sz="1300" dirty="0">
              <a:latin typeface="Sorts Mill Goudy" panose="02000503000000000000" pitchFamily="34" charset="0"/>
            </a:endParaRPr>
          </a:p>
        </p:txBody>
      </p:sp>
      <p:sp>
        <p:nvSpPr>
          <p:cNvPr id="62" name="Text 31"/>
          <p:cNvSpPr/>
          <p:nvPr/>
        </p:nvSpPr>
        <p:spPr>
          <a:xfrm>
            <a:off x="5539585" y="5418274"/>
            <a:ext cx="3190181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Classification Head</a:t>
            </a:r>
            <a:endParaRPr lang="en-US" sz="1300" dirty="0"/>
          </a:p>
        </p:txBody>
      </p:sp>
      <p:sp>
        <p:nvSpPr>
          <p:cNvPr id="63" name="Text 32"/>
          <p:cNvSpPr/>
          <p:nvPr/>
        </p:nvSpPr>
        <p:spPr>
          <a:xfrm>
            <a:off x="5548472" y="5694119"/>
            <a:ext cx="5739633" cy="604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Final 1×1 convolution expanding to 1280 channels, global average pooling, and fully connected layer with softmax activation for class prediction.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kern="0" spc="104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41684"/>
            <a:ext cx="11663554" cy="45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5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MBConv Block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461" y="1321115"/>
            <a:ext cx="6718811" cy="3019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Mobile Inverted Bottleneck Convolution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8566" y="1686653"/>
            <a:ext cx="6690502" cy="1081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MBConv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is the core building block of EfficientNet. It's an inverted residual block with linear bottleneck and squeeze-and-excitation optimization. This design significantly reduces computational cost while maintaining representational capacity through depth-wise separable convolutions.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43439" y="5714228"/>
            <a:ext cx="4518212" cy="449500"/>
          </a:xfrm>
          <a:custGeom>
            <a:avLst/>
            <a:gdLst/>
            <a:ahLst/>
            <a:cxnLst/>
            <a:rect l="l" t="t" r="r" b="b"/>
            <a:pathLst>
              <a:path w="4518212" h="686980">
                <a:moveTo>
                  <a:pt x="0" y="0"/>
                </a:moveTo>
                <a:lnTo>
                  <a:pt x="4518212" y="0"/>
                </a:lnTo>
                <a:lnTo>
                  <a:pt x="4518212" y="686980"/>
                </a:lnTo>
                <a:lnTo>
                  <a:pt x="0" y="6869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1244390" y="5714228"/>
            <a:ext cx="4274749" cy="377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Figure 7:</a:t>
            </a:r>
            <a:r>
              <a:rPr lang="en-US" sz="1040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MBConv block structure showing expansion, depthwise convolution, SE block, and projection phases</a:t>
            </a:r>
            <a:endParaRPr lang="en-US" sz="1600" dirty="0"/>
          </a:p>
        </p:txBody>
      </p:sp>
      <p:sp>
        <p:nvSpPr>
          <p:cNvPr id="31" name="Shape 8"/>
          <p:cNvSpPr/>
          <p:nvPr/>
        </p:nvSpPr>
        <p:spPr>
          <a:xfrm>
            <a:off x="437972" y="2879728"/>
            <a:ext cx="6778443" cy="2657157"/>
          </a:xfrm>
          <a:custGeom>
            <a:avLst/>
            <a:gdLst/>
            <a:ahLst/>
            <a:cxnLst/>
            <a:rect l="l" t="t" r="r" b="b"/>
            <a:pathLst>
              <a:path w="6456291" h="1188640">
                <a:moveTo>
                  <a:pt x="0" y="0"/>
                </a:moveTo>
                <a:lnTo>
                  <a:pt x="6456291" y="0"/>
                </a:lnTo>
                <a:lnTo>
                  <a:pt x="6456291" y="1188640"/>
                </a:lnTo>
                <a:lnTo>
                  <a:pt x="0" y="11886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9"/>
          <p:cNvSpPr/>
          <p:nvPr/>
        </p:nvSpPr>
        <p:spPr>
          <a:xfrm>
            <a:off x="644706" y="3289459"/>
            <a:ext cx="6569044" cy="431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MBConv Block Flow</a:t>
            </a:r>
            <a:endParaRPr lang="en-US" sz="1300" dirty="0"/>
          </a:p>
        </p:txBody>
      </p:sp>
      <p:sp>
        <p:nvSpPr>
          <p:cNvPr id="33" name="Shape 10"/>
          <p:cNvSpPr/>
          <p:nvPr/>
        </p:nvSpPr>
        <p:spPr>
          <a:xfrm>
            <a:off x="605702" y="3891401"/>
            <a:ext cx="1043617" cy="1107449"/>
          </a:xfrm>
          <a:custGeom>
            <a:avLst/>
            <a:gdLst/>
            <a:ahLst/>
            <a:cxnLst/>
            <a:rect l="l" t="t" r="r" b="b"/>
            <a:pathLst>
              <a:path w="994018" h="495401">
                <a:moveTo>
                  <a:pt x="0" y="0"/>
                </a:moveTo>
                <a:lnTo>
                  <a:pt x="994018" y="0"/>
                </a:lnTo>
                <a:lnTo>
                  <a:pt x="994018" y="495401"/>
                </a:lnTo>
                <a:lnTo>
                  <a:pt x="0" y="495401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11"/>
          <p:cNvSpPr/>
          <p:nvPr/>
        </p:nvSpPr>
        <p:spPr>
          <a:xfrm>
            <a:off x="637883" y="4153381"/>
            <a:ext cx="886568" cy="359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Input</a:t>
            </a:r>
            <a:endParaRPr lang="en-US" sz="1000" dirty="0"/>
          </a:p>
        </p:txBody>
      </p:sp>
      <p:sp>
        <p:nvSpPr>
          <p:cNvPr id="35" name="Text 12"/>
          <p:cNvSpPr/>
          <p:nvPr/>
        </p:nvSpPr>
        <p:spPr>
          <a:xfrm>
            <a:off x="637883" y="4432292"/>
            <a:ext cx="878124" cy="287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h×w×c</a:t>
            </a:r>
            <a:endParaRPr lang="en-US" sz="1000" dirty="0"/>
          </a:p>
        </p:txBody>
      </p:sp>
      <p:sp>
        <p:nvSpPr>
          <p:cNvPr id="36" name="Shape 13"/>
          <p:cNvSpPr/>
          <p:nvPr/>
        </p:nvSpPr>
        <p:spPr>
          <a:xfrm>
            <a:off x="1690996" y="4260812"/>
            <a:ext cx="135096" cy="287647"/>
          </a:xfrm>
          <a:custGeom>
            <a:avLst/>
            <a:gdLst/>
            <a:ahLst/>
            <a:cxnLst/>
            <a:rect l="l" t="t" r="r" b="b"/>
            <a:pathLst>
              <a:path w="128675" h="128675">
                <a:moveTo>
                  <a:pt x="126313" y="70018"/>
                </a:moveTo>
                <a:cubicBezTo>
                  <a:pt x="129455" y="66876"/>
                  <a:pt x="129455" y="61774"/>
                  <a:pt x="126313" y="58633"/>
                </a:cubicBezTo>
                <a:lnTo>
                  <a:pt x="86102" y="18422"/>
                </a:lnTo>
                <a:cubicBezTo>
                  <a:pt x="82960" y="15280"/>
                  <a:pt x="77859" y="15280"/>
                  <a:pt x="74717" y="18422"/>
                </a:cubicBezTo>
                <a:cubicBezTo>
                  <a:pt x="71576" y="21563"/>
                  <a:pt x="71576" y="26665"/>
                  <a:pt x="74717" y="29806"/>
                </a:cubicBezTo>
                <a:lnTo>
                  <a:pt x="101206" y="56296"/>
                </a:lnTo>
                <a:lnTo>
                  <a:pt x="8042" y="56296"/>
                </a:lnTo>
                <a:cubicBezTo>
                  <a:pt x="3594" y="56296"/>
                  <a:pt x="0" y="59889"/>
                  <a:pt x="0" y="64338"/>
                </a:cubicBezTo>
                <a:cubicBezTo>
                  <a:pt x="0" y="68786"/>
                  <a:pt x="3594" y="72380"/>
                  <a:pt x="8042" y="72380"/>
                </a:cubicBezTo>
                <a:lnTo>
                  <a:pt x="101206" y="72380"/>
                </a:lnTo>
                <a:lnTo>
                  <a:pt x="74717" y="98869"/>
                </a:lnTo>
                <a:cubicBezTo>
                  <a:pt x="71576" y="102010"/>
                  <a:pt x="71576" y="107112"/>
                  <a:pt x="74717" y="110254"/>
                </a:cubicBezTo>
                <a:cubicBezTo>
                  <a:pt x="77859" y="113395"/>
                  <a:pt x="82960" y="113395"/>
                  <a:pt x="86102" y="110254"/>
                </a:cubicBezTo>
                <a:lnTo>
                  <a:pt x="126313" y="70043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Shape 14"/>
          <p:cNvSpPr/>
          <p:nvPr/>
        </p:nvSpPr>
        <p:spPr>
          <a:xfrm>
            <a:off x="1917857" y="3891400"/>
            <a:ext cx="1043617" cy="1107449"/>
          </a:xfrm>
          <a:custGeom>
            <a:avLst/>
            <a:gdLst/>
            <a:ahLst/>
            <a:cxnLst/>
            <a:rect l="l" t="t" r="r" b="b"/>
            <a:pathLst>
              <a:path w="994018" h="495401">
                <a:moveTo>
                  <a:pt x="0" y="0"/>
                </a:moveTo>
                <a:lnTo>
                  <a:pt x="994018" y="0"/>
                </a:lnTo>
                <a:lnTo>
                  <a:pt x="994018" y="495401"/>
                </a:lnTo>
                <a:lnTo>
                  <a:pt x="0" y="495401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15"/>
          <p:cNvSpPr/>
          <p:nvPr/>
        </p:nvSpPr>
        <p:spPr>
          <a:xfrm>
            <a:off x="1990076" y="4146657"/>
            <a:ext cx="886568" cy="359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39" name="Text 16"/>
          <p:cNvSpPr/>
          <p:nvPr/>
        </p:nvSpPr>
        <p:spPr>
          <a:xfrm>
            <a:off x="2019068" y="4432292"/>
            <a:ext cx="878124" cy="287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1×1 Conv (×6)</a:t>
            </a:r>
            <a:endParaRPr lang="en-US" sz="1000" dirty="0"/>
          </a:p>
        </p:txBody>
      </p:sp>
      <p:sp>
        <p:nvSpPr>
          <p:cNvPr id="40" name="Shape 17"/>
          <p:cNvSpPr/>
          <p:nvPr/>
        </p:nvSpPr>
        <p:spPr>
          <a:xfrm>
            <a:off x="3004526" y="4288468"/>
            <a:ext cx="135096" cy="287647"/>
          </a:xfrm>
          <a:custGeom>
            <a:avLst/>
            <a:gdLst/>
            <a:ahLst/>
            <a:cxnLst/>
            <a:rect l="l" t="t" r="r" b="b"/>
            <a:pathLst>
              <a:path w="128675" h="128675">
                <a:moveTo>
                  <a:pt x="126313" y="70018"/>
                </a:moveTo>
                <a:cubicBezTo>
                  <a:pt x="129455" y="66876"/>
                  <a:pt x="129455" y="61774"/>
                  <a:pt x="126313" y="58633"/>
                </a:cubicBezTo>
                <a:lnTo>
                  <a:pt x="86102" y="18422"/>
                </a:lnTo>
                <a:cubicBezTo>
                  <a:pt x="82960" y="15280"/>
                  <a:pt x="77859" y="15280"/>
                  <a:pt x="74717" y="18422"/>
                </a:cubicBezTo>
                <a:cubicBezTo>
                  <a:pt x="71576" y="21563"/>
                  <a:pt x="71576" y="26665"/>
                  <a:pt x="74717" y="29806"/>
                </a:cubicBezTo>
                <a:lnTo>
                  <a:pt x="101206" y="56296"/>
                </a:lnTo>
                <a:lnTo>
                  <a:pt x="8042" y="56296"/>
                </a:lnTo>
                <a:cubicBezTo>
                  <a:pt x="3594" y="56296"/>
                  <a:pt x="0" y="59889"/>
                  <a:pt x="0" y="64338"/>
                </a:cubicBezTo>
                <a:cubicBezTo>
                  <a:pt x="0" y="68786"/>
                  <a:pt x="3594" y="72380"/>
                  <a:pt x="8042" y="72380"/>
                </a:cubicBezTo>
                <a:lnTo>
                  <a:pt x="101206" y="72380"/>
                </a:lnTo>
                <a:lnTo>
                  <a:pt x="74717" y="98869"/>
                </a:lnTo>
                <a:cubicBezTo>
                  <a:pt x="71576" y="102010"/>
                  <a:pt x="71576" y="107112"/>
                  <a:pt x="74717" y="110254"/>
                </a:cubicBezTo>
                <a:cubicBezTo>
                  <a:pt x="77859" y="113395"/>
                  <a:pt x="82960" y="113395"/>
                  <a:pt x="86102" y="110254"/>
                </a:cubicBezTo>
                <a:lnTo>
                  <a:pt x="126313" y="70043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1" name="Shape 18"/>
          <p:cNvSpPr/>
          <p:nvPr/>
        </p:nvSpPr>
        <p:spPr>
          <a:xfrm>
            <a:off x="3176142" y="3882203"/>
            <a:ext cx="1043617" cy="1107449"/>
          </a:xfrm>
          <a:custGeom>
            <a:avLst/>
            <a:gdLst/>
            <a:ahLst/>
            <a:cxnLst/>
            <a:rect l="l" t="t" r="r" b="b"/>
            <a:pathLst>
              <a:path w="994018" h="495401">
                <a:moveTo>
                  <a:pt x="0" y="0"/>
                </a:moveTo>
                <a:lnTo>
                  <a:pt x="994018" y="0"/>
                </a:lnTo>
                <a:lnTo>
                  <a:pt x="994018" y="495401"/>
                </a:lnTo>
                <a:lnTo>
                  <a:pt x="0" y="495401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30196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19"/>
          <p:cNvSpPr/>
          <p:nvPr/>
        </p:nvSpPr>
        <p:spPr>
          <a:xfrm>
            <a:off x="3217938" y="4135231"/>
            <a:ext cx="886568" cy="359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Depthwise</a:t>
            </a:r>
            <a:endParaRPr lang="en-US" sz="1000" dirty="0"/>
          </a:p>
        </p:txBody>
      </p:sp>
      <p:sp>
        <p:nvSpPr>
          <p:cNvPr id="43" name="Text 20"/>
          <p:cNvSpPr/>
          <p:nvPr/>
        </p:nvSpPr>
        <p:spPr>
          <a:xfrm>
            <a:off x="3230012" y="4404635"/>
            <a:ext cx="878124" cy="287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3×3 or 5×5 DW</a:t>
            </a:r>
            <a:endParaRPr lang="en-US" sz="1000" dirty="0"/>
          </a:p>
        </p:txBody>
      </p:sp>
      <p:sp>
        <p:nvSpPr>
          <p:cNvPr id="44" name="Shape 21"/>
          <p:cNvSpPr/>
          <p:nvPr/>
        </p:nvSpPr>
        <p:spPr>
          <a:xfrm>
            <a:off x="4263752" y="4241822"/>
            <a:ext cx="135096" cy="287647"/>
          </a:xfrm>
          <a:custGeom>
            <a:avLst/>
            <a:gdLst/>
            <a:ahLst/>
            <a:cxnLst/>
            <a:rect l="l" t="t" r="r" b="b"/>
            <a:pathLst>
              <a:path w="128675" h="128675">
                <a:moveTo>
                  <a:pt x="126313" y="70018"/>
                </a:moveTo>
                <a:cubicBezTo>
                  <a:pt x="129455" y="66876"/>
                  <a:pt x="129455" y="61774"/>
                  <a:pt x="126313" y="58633"/>
                </a:cubicBezTo>
                <a:lnTo>
                  <a:pt x="86102" y="18422"/>
                </a:lnTo>
                <a:cubicBezTo>
                  <a:pt x="82960" y="15280"/>
                  <a:pt x="77859" y="15280"/>
                  <a:pt x="74717" y="18422"/>
                </a:cubicBezTo>
                <a:cubicBezTo>
                  <a:pt x="71576" y="21563"/>
                  <a:pt x="71576" y="26665"/>
                  <a:pt x="74717" y="29806"/>
                </a:cubicBezTo>
                <a:lnTo>
                  <a:pt x="101206" y="56296"/>
                </a:lnTo>
                <a:lnTo>
                  <a:pt x="8042" y="56296"/>
                </a:lnTo>
                <a:cubicBezTo>
                  <a:pt x="3594" y="56296"/>
                  <a:pt x="0" y="59889"/>
                  <a:pt x="0" y="64338"/>
                </a:cubicBezTo>
                <a:cubicBezTo>
                  <a:pt x="0" y="68786"/>
                  <a:pt x="3594" y="72380"/>
                  <a:pt x="8042" y="72380"/>
                </a:cubicBezTo>
                <a:lnTo>
                  <a:pt x="101206" y="72380"/>
                </a:lnTo>
                <a:lnTo>
                  <a:pt x="74717" y="98869"/>
                </a:lnTo>
                <a:cubicBezTo>
                  <a:pt x="71576" y="102010"/>
                  <a:pt x="71576" y="107112"/>
                  <a:pt x="74717" y="110254"/>
                </a:cubicBezTo>
                <a:cubicBezTo>
                  <a:pt x="77859" y="113395"/>
                  <a:pt x="82960" y="113395"/>
                  <a:pt x="86102" y="110254"/>
                </a:cubicBezTo>
                <a:lnTo>
                  <a:pt x="126313" y="70043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Shape 22"/>
          <p:cNvSpPr/>
          <p:nvPr/>
        </p:nvSpPr>
        <p:spPr>
          <a:xfrm>
            <a:off x="4475522" y="3843278"/>
            <a:ext cx="1139291" cy="1146374"/>
          </a:xfrm>
          <a:custGeom>
            <a:avLst/>
            <a:gdLst/>
            <a:ahLst/>
            <a:cxnLst/>
            <a:rect l="l" t="t" r="r" b="b"/>
            <a:pathLst>
              <a:path w="994018" h="624076">
                <a:moveTo>
                  <a:pt x="0" y="0"/>
                </a:moveTo>
                <a:lnTo>
                  <a:pt x="994018" y="0"/>
                </a:lnTo>
                <a:lnTo>
                  <a:pt x="994018" y="624076"/>
                </a:lnTo>
                <a:lnTo>
                  <a:pt x="0" y="624076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23"/>
          <p:cNvSpPr/>
          <p:nvPr/>
        </p:nvSpPr>
        <p:spPr>
          <a:xfrm>
            <a:off x="4567955" y="4115793"/>
            <a:ext cx="886568" cy="359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SE Module</a:t>
            </a:r>
            <a:endParaRPr lang="en-US" sz="1000" dirty="0"/>
          </a:p>
        </p:txBody>
      </p:sp>
      <p:sp>
        <p:nvSpPr>
          <p:cNvPr id="47" name="Text 24"/>
          <p:cNvSpPr/>
          <p:nvPr/>
        </p:nvSpPr>
        <p:spPr>
          <a:xfrm>
            <a:off x="4603557" y="4333162"/>
            <a:ext cx="878124" cy="5752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Channel Attention</a:t>
            </a:r>
            <a:endParaRPr lang="en-US" sz="1000" dirty="0"/>
          </a:p>
        </p:txBody>
      </p:sp>
      <p:sp>
        <p:nvSpPr>
          <p:cNvPr id="48" name="Shape 25"/>
          <p:cNvSpPr/>
          <p:nvPr/>
        </p:nvSpPr>
        <p:spPr>
          <a:xfrm>
            <a:off x="5655082" y="4208306"/>
            <a:ext cx="135096" cy="287647"/>
          </a:xfrm>
          <a:custGeom>
            <a:avLst/>
            <a:gdLst/>
            <a:ahLst/>
            <a:cxnLst/>
            <a:rect l="l" t="t" r="r" b="b"/>
            <a:pathLst>
              <a:path w="128675" h="128675">
                <a:moveTo>
                  <a:pt x="126313" y="70018"/>
                </a:moveTo>
                <a:cubicBezTo>
                  <a:pt x="129455" y="66876"/>
                  <a:pt x="129455" y="61774"/>
                  <a:pt x="126313" y="58633"/>
                </a:cubicBezTo>
                <a:lnTo>
                  <a:pt x="86102" y="18422"/>
                </a:lnTo>
                <a:cubicBezTo>
                  <a:pt x="82960" y="15280"/>
                  <a:pt x="77859" y="15280"/>
                  <a:pt x="74717" y="18422"/>
                </a:cubicBezTo>
                <a:cubicBezTo>
                  <a:pt x="71576" y="21563"/>
                  <a:pt x="71576" y="26665"/>
                  <a:pt x="74717" y="29806"/>
                </a:cubicBezTo>
                <a:lnTo>
                  <a:pt x="101206" y="56296"/>
                </a:lnTo>
                <a:lnTo>
                  <a:pt x="8042" y="56296"/>
                </a:lnTo>
                <a:cubicBezTo>
                  <a:pt x="3594" y="56296"/>
                  <a:pt x="0" y="59889"/>
                  <a:pt x="0" y="64338"/>
                </a:cubicBezTo>
                <a:cubicBezTo>
                  <a:pt x="0" y="68786"/>
                  <a:pt x="3594" y="72380"/>
                  <a:pt x="8042" y="72380"/>
                </a:cubicBezTo>
                <a:lnTo>
                  <a:pt x="101206" y="72380"/>
                </a:lnTo>
                <a:lnTo>
                  <a:pt x="74717" y="98869"/>
                </a:lnTo>
                <a:cubicBezTo>
                  <a:pt x="71576" y="102010"/>
                  <a:pt x="71576" y="107112"/>
                  <a:pt x="74717" y="110254"/>
                </a:cubicBezTo>
                <a:cubicBezTo>
                  <a:pt x="77859" y="113395"/>
                  <a:pt x="82960" y="113395"/>
                  <a:pt x="86102" y="110254"/>
                </a:cubicBezTo>
                <a:lnTo>
                  <a:pt x="126313" y="70043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Shape 26"/>
          <p:cNvSpPr/>
          <p:nvPr/>
        </p:nvSpPr>
        <p:spPr>
          <a:xfrm>
            <a:off x="5872686" y="3829617"/>
            <a:ext cx="1126339" cy="1169233"/>
          </a:xfrm>
          <a:custGeom>
            <a:avLst/>
            <a:gdLst/>
            <a:ahLst/>
            <a:cxnLst/>
            <a:rect l="l" t="t" r="r" b="b"/>
            <a:pathLst>
              <a:path w="994018" h="495401">
                <a:moveTo>
                  <a:pt x="0" y="0"/>
                </a:moveTo>
                <a:lnTo>
                  <a:pt x="994018" y="0"/>
                </a:lnTo>
                <a:lnTo>
                  <a:pt x="994018" y="495401"/>
                </a:lnTo>
                <a:lnTo>
                  <a:pt x="0" y="495401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27"/>
          <p:cNvSpPr/>
          <p:nvPr/>
        </p:nvSpPr>
        <p:spPr>
          <a:xfrm>
            <a:off x="5925667" y="4072730"/>
            <a:ext cx="886568" cy="359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Projection</a:t>
            </a:r>
            <a:endParaRPr lang="en-US" sz="1000" dirty="0"/>
          </a:p>
        </p:txBody>
      </p:sp>
      <p:sp>
        <p:nvSpPr>
          <p:cNvPr id="51" name="Text 28"/>
          <p:cNvSpPr/>
          <p:nvPr/>
        </p:nvSpPr>
        <p:spPr>
          <a:xfrm>
            <a:off x="5934111" y="4342622"/>
            <a:ext cx="878124" cy="287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1×1 Conv</a:t>
            </a:r>
            <a:endParaRPr lang="en-US" sz="1000" dirty="0"/>
          </a:p>
        </p:txBody>
      </p:sp>
      <p:sp>
        <p:nvSpPr>
          <p:cNvPr id="53" name="Text 5"/>
          <p:cNvSpPr/>
          <p:nvPr/>
        </p:nvSpPr>
        <p:spPr>
          <a:xfrm>
            <a:off x="7658834" y="835627"/>
            <a:ext cx="1422824" cy="507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1. Expansion Phase</a:t>
            </a:r>
            <a:endParaRPr lang="en-US" sz="1300" dirty="0"/>
          </a:p>
        </p:txBody>
      </p:sp>
      <p:sp>
        <p:nvSpPr>
          <p:cNvPr id="54" name="Text 6"/>
          <p:cNvSpPr/>
          <p:nvPr/>
        </p:nvSpPr>
        <p:spPr>
          <a:xfrm>
            <a:off x="7667615" y="711698"/>
            <a:ext cx="3774853" cy="2023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1×1 convolution expands channels by expansion factor (typically 6×), increasing representational capacity.</a:t>
            </a:r>
            <a:endParaRPr lang="en-US" sz="1300" dirty="0"/>
          </a:p>
        </p:txBody>
      </p:sp>
      <p:sp>
        <p:nvSpPr>
          <p:cNvPr id="55" name="Shape 7"/>
          <p:cNvSpPr/>
          <p:nvPr/>
        </p:nvSpPr>
        <p:spPr>
          <a:xfrm flipH="1">
            <a:off x="7414764" y="980902"/>
            <a:ext cx="45719" cy="5235413"/>
          </a:xfrm>
          <a:custGeom>
            <a:avLst/>
            <a:gdLst/>
            <a:ahLst/>
            <a:cxnLst/>
            <a:rect l="l" t="t" r="r" b="b"/>
            <a:pathLst>
              <a:path w="37746" h="585065">
                <a:moveTo>
                  <a:pt x="0" y="0"/>
                </a:moveTo>
                <a:lnTo>
                  <a:pt x="37746" y="0"/>
                </a:lnTo>
                <a:lnTo>
                  <a:pt x="37746" y="585065"/>
                </a:lnTo>
                <a:lnTo>
                  <a:pt x="0" y="58506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6" name="Text 8"/>
          <p:cNvSpPr/>
          <p:nvPr/>
        </p:nvSpPr>
        <p:spPr>
          <a:xfrm>
            <a:off x="7667616" y="2140442"/>
            <a:ext cx="2137718" cy="531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2. Depthwise Convolution</a:t>
            </a:r>
            <a:endParaRPr lang="en-US" sz="1300" dirty="0"/>
          </a:p>
        </p:txBody>
      </p:sp>
      <p:sp>
        <p:nvSpPr>
          <p:cNvPr id="57" name="Text 9"/>
          <p:cNvSpPr/>
          <p:nvPr/>
        </p:nvSpPr>
        <p:spPr>
          <a:xfrm>
            <a:off x="7658834" y="2572477"/>
            <a:ext cx="3644622" cy="1011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Spatial filtering applied independently per channel using 3×3 or 5×5 kernels, reducing computation.</a:t>
            </a:r>
            <a:endParaRPr lang="en-US" sz="1300" dirty="0"/>
          </a:p>
        </p:txBody>
      </p:sp>
      <p:sp>
        <p:nvSpPr>
          <p:cNvPr id="59" name="Text 11"/>
          <p:cNvSpPr/>
          <p:nvPr/>
        </p:nvSpPr>
        <p:spPr>
          <a:xfrm>
            <a:off x="7675741" y="3514311"/>
            <a:ext cx="1970893" cy="544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3. Squeeze-and-Excitation</a:t>
            </a:r>
            <a:endParaRPr lang="en-US" sz="1300" dirty="0"/>
          </a:p>
        </p:txBody>
      </p:sp>
      <p:sp>
        <p:nvSpPr>
          <p:cNvPr id="60" name="Text 12"/>
          <p:cNvSpPr/>
          <p:nvPr/>
        </p:nvSpPr>
        <p:spPr>
          <a:xfrm>
            <a:off x="7658834" y="4016208"/>
            <a:ext cx="3644622" cy="1011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Channel attention mechanism that adaptively recalibrates channel-wise feature responses.</a:t>
            </a:r>
            <a:endParaRPr lang="en-US" sz="1300" dirty="0"/>
          </a:p>
        </p:txBody>
      </p:sp>
      <p:sp>
        <p:nvSpPr>
          <p:cNvPr id="62" name="Text 14"/>
          <p:cNvSpPr/>
          <p:nvPr/>
        </p:nvSpPr>
        <p:spPr>
          <a:xfrm>
            <a:off x="7683567" y="4965995"/>
            <a:ext cx="1430666" cy="5447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4. Projection Phase</a:t>
            </a:r>
            <a:endParaRPr lang="en-US" sz="1300" dirty="0"/>
          </a:p>
        </p:txBody>
      </p:sp>
      <p:sp>
        <p:nvSpPr>
          <p:cNvPr id="63" name="Text 15"/>
          <p:cNvSpPr/>
          <p:nvPr/>
        </p:nvSpPr>
        <p:spPr>
          <a:xfrm>
            <a:off x="7667616" y="5333645"/>
            <a:ext cx="3635838" cy="1011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1×1 convolution projects back to original channel count with linear activation (no non-linearity).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kern="0" spc="104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28" name="Text 1"/>
          <p:cNvSpPr/>
          <p:nvPr/>
        </p:nvSpPr>
        <p:spPr>
          <a:xfrm>
            <a:off x="377461" y="641684"/>
            <a:ext cx="11663554" cy="45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5" b="1" dirty="0">
                <a:solidFill>
                  <a:srgbClr val="1F2937"/>
                </a:solidFill>
                <a:latin typeface="Oranienbaum" panose="02000506080000020003" pitchFamily="34" charset="0"/>
              </a:rPr>
              <a:t>Squeeze-and-Excitation (SE) Module</a:t>
            </a:r>
            <a:endParaRPr lang="en-US" sz="1600" dirty="0"/>
          </a:p>
        </p:txBody>
      </p:sp>
      <p:sp>
        <p:nvSpPr>
          <p:cNvPr id="42" name="Shape 31"/>
          <p:cNvSpPr/>
          <p:nvPr/>
        </p:nvSpPr>
        <p:spPr>
          <a:xfrm>
            <a:off x="377461" y="1689117"/>
            <a:ext cx="160844" cy="160844"/>
          </a:xfrm>
          <a:custGeom>
            <a:avLst/>
            <a:gdLst/>
            <a:ahLst/>
            <a:cxnLst/>
            <a:rect l="l" t="t" r="r" b="b"/>
            <a:pathLst>
              <a:path w="160844" h="160844">
                <a:moveTo>
                  <a:pt x="143252" y="70369"/>
                </a:moveTo>
                <a:lnTo>
                  <a:pt x="98015" y="70369"/>
                </a:lnTo>
                <a:cubicBezTo>
                  <a:pt x="93836" y="70369"/>
                  <a:pt x="90475" y="67008"/>
                  <a:pt x="90475" y="62830"/>
                </a:cubicBezTo>
                <a:lnTo>
                  <a:pt x="90475" y="17592"/>
                </a:lnTo>
                <a:cubicBezTo>
                  <a:pt x="90475" y="14545"/>
                  <a:pt x="92297" y="11781"/>
                  <a:pt x="95124" y="10618"/>
                </a:cubicBezTo>
                <a:cubicBezTo>
                  <a:pt x="97952" y="9456"/>
                  <a:pt x="101187" y="10116"/>
                  <a:pt x="103355" y="12252"/>
                </a:cubicBezTo>
                <a:lnTo>
                  <a:pt x="115921" y="24818"/>
                </a:lnTo>
                <a:lnTo>
                  <a:pt x="138980" y="1759"/>
                </a:lnTo>
                <a:cubicBezTo>
                  <a:pt x="140110" y="628"/>
                  <a:pt x="141650" y="0"/>
                  <a:pt x="143252" y="0"/>
                </a:cubicBezTo>
                <a:cubicBezTo>
                  <a:pt x="144854" y="0"/>
                  <a:pt x="146393" y="628"/>
                  <a:pt x="147556" y="1791"/>
                </a:cubicBezTo>
                <a:lnTo>
                  <a:pt x="159085" y="13320"/>
                </a:lnTo>
                <a:cubicBezTo>
                  <a:pt x="160216" y="14451"/>
                  <a:pt x="160844" y="15990"/>
                  <a:pt x="160844" y="17592"/>
                </a:cubicBezTo>
                <a:cubicBezTo>
                  <a:pt x="160844" y="19195"/>
                  <a:pt x="160216" y="20734"/>
                  <a:pt x="159054" y="21896"/>
                </a:cubicBezTo>
                <a:lnTo>
                  <a:pt x="136027" y="44923"/>
                </a:lnTo>
                <a:lnTo>
                  <a:pt x="148593" y="57489"/>
                </a:lnTo>
                <a:cubicBezTo>
                  <a:pt x="150760" y="59657"/>
                  <a:pt x="151388" y="62893"/>
                  <a:pt x="150226" y="65720"/>
                </a:cubicBezTo>
                <a:cubicBezTo>
                  <a:pt x="149064" y="68547"/>
                  <a:pt x="146299" y="70369"/>
                  <a:pt x="143252" y="70369"/>
                </a:cubicBezTo>
                <a:close/>
                <a:moveTo>
                  <a:pt x="143252" y="90475"/>
                </a:moveTo>
                <a:cubicBezTo>
                  <a:pt x="146299" y="90475"/>
                  <a:pt x="149064" y="92297"/>
                  <a:pt x="150226" y="95124"/>
                </a:cubicBezTo>
                <a:cubicBezTo>
                  <a:pt x="151388" y="97952"/>
                  <a:pt x="150760" y="101187"/>
                  <a:pt x="148593" y="103355"/>
                </a:cubicBezTo>
                <a:lnTo>
                  <a:pt x="136027" y="115921"/>
                </a:lnTo>
                <a:lnTo>
                  <a:pt x="159085" y="138980"/>
                </a:lnTo>
                <a:cubicBezTo>
                  <a:pt x="160216" y="140110"/>
                  <a:pt x="160876" y="141650"/>
                  <a:pt x="160876" y="143283"/>
                </a:cubicBezTo>
                <a:cubicBezTo>
                  <a:pt x="160876" y="144917"/>
                  <a:pt x="160247" y="146425"/>
                  <a:pt x="159085" y="147587"/>
                </a:cubicBezTo>
                <a:lnTo>
                  <a:pt x="147556" y="159117"/>
                </a:lnTo>
                <a:cubicBezTo>
                  <a:pt x="146393" y="160216"/>
                  <a:pt x="144854" y="160844"/>
                  <a:pt x="143252" y="160844"/>
                </a:cubicBezTo>
                <a:cubicBezTo>
                  <a:pt x="141650" y="160844"/>
                  <a:pt x="140110" y="160216"/>
                  <a:pt x="138948" y="159054"/>
                </a:cubicBezTo>
                <a:lnTo>
                  <a:pt x="115921" y="136027"/>
                </a:lnTo>
                <a:lnTo>
                  <a:pt x="103355" y="148593"/>
                </a:lnTo>
                <a:cubicBezTo>
                  <a:pt x="101187" y="150760"/>
                  <a:pt x="97952" y="151388"/>
                  <a:pt x="95124" y="150226"/>
                </a:cubicBezTo>
                <a:cubicBezTo>
                  <a:pt x="92297" y="149064"/>
                  <a:pt x="90475" y="146299"/>
                  <a:pt x="90475" y="143252"/>
                </a:cubicBezTo>
                <a:lnTo>
                  <a:pt x="90475" y="98015"/>
                </a:lnTo>
                <a:cubicBezTo>
                  <a:pt x="90475" y="93836"/>
                  <a:pt x="93836" y="90475"/>
                  <a:pt x="98015" y="90475"/>
                </a:cubicBezTo>
                <a:lnTo>
                  <a:pt x="143252" y="90475"/>
                </a:lnTo>
                <a:close/>
                <a:moveTo>
                  <a:pt x="62830" y="90475"/>
                </a:moveTo>
                <a:cubicBezTo>
                  <a:pt x="67008" y="90475"/>
                  <a:pt x="70369" y="93836"/>
                  <a:pt x="70369" y="98015"/>
                </a:cubicBezTo>
                <a:lnTo>
                  <a:pt x="70369" y="143252"/>
                </a:lnTo>
                <a:cubicBezTo>
                  <a:pt x="70369" y="146299"/>
                  <a:pt x="68547" y="149064"/>
                  <a:pt x="65720" y="150226"/>
                </a:cubicBezTo>
                <a:cubicBezTo>
                  <a:pt x="62893" y="151388"/>
                  <a:pt x="59657" y="150760"/>
                  <a:pt x="57489" y="148593"/>
                </a:cubicBezTo>
                <a:lnTo>
                  <a:pt x="44923" y="136027"/>
                </a:lnTo>
                <a:lnTo>
                  <a:pt x="21865" y="159085"/>
                </a:lnTo>
                <a:cubicBezTo>
                  <a:pt x="20734" y="160216"/>
                  <a:pt x="19195" y="160844"/>
                  <a:pt x="17592" y="160844"/>
                </a:cubicBezTo>
                <a:cubicBezTo>
                  <a:pt x="15990" y="160844"/>
                  <a:pt x="14451" y="160216"/>
                  <a:pt x="13289" y="159054"/>
                </a:cubicBezTo>
                <a:lnTo>
                  <a:pt x="1791" y="147556"/>
                </a:lnTo>
                <a:cubicBezTo>
                  <a:pt x="628" y="146393"/>
                  <a:pt x="0" y="144854"/>
                  <a:pt x="0" y="143252"/>
                </a:cubicBezTo>
                <a:cubicBezTo>
                  <a:pt x="0" y="141650"/>
                  <a:pt x="628" y="140110"/>
                  <a:pt x="1791" y="138948"/>
                </a:cubicBezTo>
                <a:lnTo>
                  <a:pt x="24818" y="115921"/>
                </a:lnTo>
                <a:lnTo>
                  <a:pt x="12252" y="103355"/>
                </a:lnTo>
                <a:cubicBezTo>
                  <a:pt x="10084" y="101187"/>
                  <a:pt x="9456" y="97952"/>
                  <a:pt x="10618" y="95124"/>
                </a:cubicBezTo>
                <a:cubicBezTo>
                  <a:pt x="11781" y="92297"/>
                  <a:pt x="14545" y="90475"/>
                  <a:pt x="17592" y="90475"/>
                </a:cubicBezTo>
                <a:lnTo>
                  <a:pt x="62830" y="90475"/>
                </a:lnTo>
                <a:close/>
                <a:moveTo>
                  <a:pt x="17592" y="70369"/>
                </a:moveTo>
                <a:cubicBezTo>
                  <a:pt x="14545" y="70369"/>
                  <a:pt x="11781" y="68547"/>
                  <a:pt x="10618" y="65720"/>
                </a:cubicBezTo>
                <a:cubicBezTo>
                  <a:pt x="9456" y="62893"/>
                  <a:pt x="10116" y="59657"/>
                  <a:pt x="12252" y="57489"/>
                </a:cubicBezTo>
                <a:lnTo>
                  <a:pt x="24818" y="44923"/>
                </a:lnTo>
                <a:lnTo>
                  <a:pt x="1791" y="21896"/>
                </a:lnTo>
                <a:cubicBezTo>
                  <a:pt x="628" y="20734"/>
                  <a:pt x="0" y="19195"/>
                  <a:pt x="0" y="17592"/>
                </a:cubicBezTo>
                <a:cubicBezTo>
                  <a:pt x="0" y="15990"/>
                  <a:pt x="628" y="14451"/>
                  <a:pt x="1791" y="13289"/>
                </a:cubicBezTo>
                <a:lnTo>
                  <a:pt x="13289" y="1791"/>
                </a:lnTo>
                <a:cubicBezTo>
                  <a:pt x="14451" y="628"/>
                  <a:pt x="15990" y="0"/>
                  <a:pt x="17592" y="0"/>
                </a:cubicBezTo>
                <a:cubicBezTo>
                  <a:pt x="19195" y="0"/>
                  <a:pt x="20734" y="628"/>
                  <a:pt x="21896" y="1791"/>
                </a:cubicBezTo>
                <a:lnTo>
                  <a:pt x="44923" y="24818"/>
                </a:lnTo>
                <a:lnTo>
                  <a:pt x="57489" y="12252"/>
                </a:lnTo>
                <a:cubicBezTo>
                  <a:pt x="59657" y="10084"/>
                  <a:pt x="62893" y="9456"/>
                  <a:pt x="65720" y="10618"/>
                </a:cubicBezTo>
                <a:cubicBezTo>
                  <a:pt x="68547" y="11781"/>
                  <a:pt x="70369" y="14545"/>
                  <a:pt x="70369" y="17592"/>
                </a:cubicBezTo>
                <a:lnTo>
                  <a:pt x="70369" y="62830"/>
                </a:lnTo>
                <a:cubicBezTo>
                  <a:pt x="70369" y="67008"/>
                  <a:pt x="67008" y="70369"/>
                  <a:pt x="62830" y="70369"/>
                </a:cubicBezTo>
                <a:lnTo>
                  <a:pt x="17592" y="70369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Text 32"/>
          <p:cNvSpPr/>
          <p:nvPr/>
        </p:nvSpPr>
        <p:spPr>
          <a:xfrm>
            <a:off x="634733" y="1676248"/>
            <a:ext cx="6337266" cy="225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Squeeze-and-Excitation (SE) Module</a:t>
            </a:r>
            <a:endParaRPr lang="en-US" sz="1300" dirty="0"/>
          </a:p>
        </p:txBody>
      </p:sp>
      <p:sp>
        <p:nvSpPr>
          <p:cNvPr id="44" name="Text 33"/>
          <p:cNvSpPr/>
          <p:nvPr/>
        </p:nvSpPr>
        <p:spPr>
          <a:xfrm>
            <a:off x="377461" y="2239268"/>
            <a:ext cx="3232971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Squeeze Operation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377462" y="2496619"/>
            <a:ext cx="7960204" cy="546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Global Average Pooling (GAP) compresses spatial dimensions H×W×C into 1×1×C, generating channel-wise statistics that capture global receptive field information.</a:t>
            </a:r>
            <a:endParaRPr lang="en-US" sz="1300" dirty="0"/>
          </a:p>
        </p:txBody>
      </p:sp>
      <p:sp>
        <p:nvSpPr>
          <p:cNvPr id="46" name="Shape 35"/>
          <p:cNvSpPr/>
          <p:nvPr/>
        </p:nvSpPr>
        <p:spPr>
          <a:xfrm>
            <a:off x="2419639" y="3215944"/>
            <a:ext cx="3615402" cy="546871"/>
          </a:xfrm>
          <a:custGeom>
            <a:avLst/>
            <a:gdLst/>
            <a:ahLst/>
            <a:cxnLst/>
            <a:rect l="l" t="t" r="r" b="b"/>
            <a:pathLst>
              <a:path w="3158983" h="360291">
                <a:moveTo>
                  <a:pt x="0" y="0"/>
                </a:moveTo>
                <a:lnTo>
                  <a:pt x="3158983" y="0"/>
                </a:lnTo>
                <a:lnTo>
                  <a:pt x="3158983" y="360291"/>
                </a:lnTo>
                <a:lnTo>
                  <a:pt x="0" y="3602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6"/>
          <p:cNvSpPr/>
          <p:nvPr/>
        </p:nvSpPr>
        <p:spPr>
          <a:xfrm>
            <a:off x="2711343" y="3369834"/>
            <a:ext cx="3015831" cy="160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8B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zc = (1/H×W) Σi=1H Σj=1W uc(i,j)</a:t>
            </a:r>
            <a:endParaRPr lang="en-US" sz="1300" dirty="0"/>
          </a:p>
        </p:txBody>
      </p:sp>
      <p:sp>
        <p:nvSpPr>
          <p:cNvPr id="53" name="Text 37"/>
          <p:cNvSpPr/>
          <p:nvPr/>
        </p:nvSpPr>
        <p:spPr>
          <a:xfrm>
            <a:off x="457883" y="4260363"/>
            <a:ext cx="3232971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Excitation Operation</a:t>
            </a:r>
            <a:endParaRPr lang="en-US" sz="1300" dirty="0"/>
          </a:p>
        </p:txBody>
      </p:sp>
      <p:sp>
        <p:nvSpPr>
          <p:cNvPr id="54" name="Text 38"/>
          <p:cNvSpPr/>
          <p:nvPr/>
        </p:nvSpPr>
        <p:spPr>
          <a:xfrm>
            <a:off x="457883" y="4606841"/>
            <a:ext cx="7879783" cy="546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Two FC layers with reduction ratio r=4 learn non-linear interactions between channels, producing per-channel modulation weights through sigmoid activation.</a:t>
            </a:r>
            <a:endParaRPr lang="en-US" sz="1300" dirty="0"/>
          </a:p>
        </p:txBody>
      </p:sp>
      <p:sp>
        <p:nvSpPr>
          <p:cNvPr id="55" name="Shape 39"/>
          <p:cNvSpPr/>
          <p:nvPr/>
        </p:nvSpPr>
        <p:spPr>
          <a:xfrm>
            <a:off x="2419639" y="5651260"/>
            <a:ext cx="3615402" cy="521136"/>
          </a:xfrm>
          <a:custGeom>
            <a:avLst/>
            <a:gdLst/>
            <a:ahLst/>
            <a:cxnLst/>
            <a:rect l="l" t="t" r="r" b="b"/>
            <a:pathLst>
              <a:path w="3158983" h="521136">
                <a:moveTo>
                  <a:pt x="0" y="0"/>
                </a:moveTo>
                <a:lnTo>
                  <a:pt x="3158983" y="0"/>
                </a:lnTo>
                <a:lnTo>
                  <a:pt x="3158983" y="521136"/>
                </a:lnTo>
                <a:lnTo>
                  <a:pt x="0" y="5211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40"/>
          <p:cNvSpPr/>
          <p:nvPr/>
        </p:nvSpPr>
        <p:spPr>
          <a:xfrm>
            <a:off x="2514680" y="5731682"/>
            <a:ext cx="3015831" cy="160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8B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 = σ(W2δ(W1z))</a:t>
            </a:r>
            <a:endParaRPr lang="en-US" sz="1300" dirty="0"/>
          </a:p>
        </p:txBody>
      </p:sp>
      <p:sp>
        <p:nvSpPr>
          <p:cNvPr id="57" name="Text 41"/>
          <p:cNvSpPr/>
          <p:nvPr/>
        </p:nvSpPr>
        <p:spPr>
          <a:xfrm>
            <a:off x="2522722" y="5948915"/>
            <a:ext cx="3007789" cy="128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δ = ReLU, σ = Sigmoid</a:t>
            </a:r>
            <a:endParaRPr lang="en-US" sz="1200" dirty="0"/>
          </a:p>
        </p:txBody>
      </p:sp>
      <p:sp>
        <p:nvSpPr>
          <p:cNvPr id="58" name="Shape 58"/>
          <p:cNvSpPr/>
          <p:nvPr/>
        </p:nvSpPr>
        <p:spPr>
          <a:xfrm>
            <a:off x="8446060" y="1701044"/>
            <a:ext cx="3232971" cy="4210784"/>
          </a:xfrm>
          <a:custGeom>
            <a:avLst/>
            <a:gdLst/>
            <a:ahLst/>
            <a:cxnLst/>
            <a:rect l="l" t="t" r="r" b="b"/>
            <a:pathLst>
              <a:path w="5667910" h="1130157">
                <a:moveTo>
                  <a:pt x="0" y="0"/>
                </a:moveTo>
                <a:lnTo>
                  <a:pt x="5667910" y="0"/>
                </a:lnTo>
                <a:lnTo>
                  <a:pt x="5667910" y="1130157"/>
                </a:lnTo>
                <a:lnTo>
                  <a:pt x="0" y="1130157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60" name="Text 60"/>
          <p:cNvSpPr/>
          <p:nvPr/>
        </p:nvSpPr>
        <p:spPr>
          <a:xfrm>
            <a:off x="8621209" y="1857669"/>
            <a:ext cx="3105996" cy="5023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SE Benefits</a:t>
            </a:r>
            <a:endParaRPr lang="en-US" sz="1400" dirty="0">
              <a:latin typeface="Sorts Mill Goudy" panose="02000503000000000000" pitchFamily="34" charset="0"/>
            </a:endParaRPr>
          </a:p>
        </p:txBody>
      </p:sp>
      <p:sp>
        <p:nvSpPr>
          <p:cNvPr id="61" name="Shape 61"/>
          <p:cNvSpPr/>
          <p:nvPr/>
        </p:nvSpPr>
        <p:spPr>
          <a:xfrm>
            <a:off x="8777003" y="2496619"/>
            <a:ext cx="112407" cy="293065"/>
          </a:xfrm>
          <a:custGeom>
            <a:avLst/>
            <a:gdLst/>
            <a:ahLst/>
            <a:cxnLst/>
            <a:rect l="l" t="t" r="r" b="b"/>
            <a:pathLst>
              <a:path w="89899" h="119865">
                <a:moveTo>
                  <a:pt x="50240" y="4074"/>
                </a:moveTo>
                <a:cubicBezTo>
                  <a:pt x="47314" y="1147"/>
                  <a:pt x="42561" y="1147"/>
                  <a:pt x="39635" y="4074"/>
                </a:cubicBezTo>
                <a:lnTo>
                  <a:pt x="2177" y="41531"/>
                </a:lnTo>
                <a:cubicBezTo>
                  <a:pt x="-749" y="44458"/>
                  <a:pt x="-749" y="49210"/>
                  <a:pt x="2177" y="52137"/>
                </a:cubicBezTo>
                <a:cubicBezTo>
                  <a:pt x="5104" y="55063"/>
                  <a:pt x="9856" y="55063"/>
                  <a:pt x="12782" y="52137"/>
                </a:cubicBezTo>
                <a:lnTo>
                  <a:pt x="37458" y="27461"/>
                </a:lnTo>
                <a:lnTo>
                  <a:pt x="37458" y="114246"/>
                </a:lnTo>
                <a:cubicBezTo>
                  <a:pt x="37458" y="118390"/>
                  <a:pt x="40806" y="121738"/>
                  <a:pt x="44949" y="121738"/>
                </a:cubicBezTo>
                <a:cubicBezTo>
                  <a:pt x="49093" y="121738"/>
                  <a:pt x="52441" y="118390"/>
                  <a:pt x="52441" y="114246"/>
                </a:cubicBezTo>
                <a:lnTo>
                  <a:pt x="52441" y="27461"/>
                </a:lnTo>
                <a:lnTo>
                  <a:pt x="77116" y="52137"/>
                </a:lnTo>
                <a:cubicBezTo>
                  <a:pt x="80043" y="55063"/>
                  <a:pt x="84795" y="55063"/>
                  <a:pt x="87722" y="52137"/>
                </a:cubicBezTo>
                <a:cubicBezTo>
                  <a:pt x="90648" y="49210"/>
                  <a:pt x="90648" y="44458"/>
                  <a:pt x="87722" y="41531"/>
                </a:cubicBezTo>
                <a:lnTo>
                  <a:pt x="50264" y="407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62" name="Text 62"/>
          <p:cNvSpPr/>
          <p:nvPr/>
        </p:nvSpPr>
        <p:spPr>
          <a:xfrm>
            <a:off x="8961735" y="2599994"/>
            <a:ext cx="1899737" cy="418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Amplifies important features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while suppressing less useful ones</a:t>
            </a:r>
            <a:endParaRPr lang="en-US" sz="1300" dirty="0">
              <a:latin typeface="Sorts Mill Goudy" panose="02000503000000000000" pitchFamily="34" charset="0"/>
            </a:endParaRPr>
          </a:p>
        </p:txBody>
      </p:sp>
      <p:sp>
        <p:nvSpPr>
          <p:cNvPr id="63" name="Shape 63"/>
          <p:cNvSpPr/>
          <p:nvPr/>
        </p:nvSpPr>
        <p:spPr>
          <a:xfrm>
            <a:off x="8725553" y="3547542"/>
            <a:ext cx="188009" cy="293065"/>
          </a:xfrm>
          <a:custGeom>
            <a:avLst/>
            <a:gdLst/>
            <a:ahLst/>
            <a:cxnLst/>
            <a:rect l="l" t="t" r="r" b="b"/>
            <a:pathLst>
              <a:path w="119865" h="119865">
                <a:moveTo>
                  <a:pt x="28093" y="13110"/>
                </a:moveTo>
                <a:cubicBezTo>
                  <a:pt x="28093" y="5876"/>
                  <a:pt x="33970" y="0"/>
                  <a:pt x="41204" y="0"/>
                </a:cubicBezTo>
                <a:lnTo>
                  <a:pt x="46822" y="0"/>
                </a:lnTo>
                <a:cubicBezTo>
                  <a:pt x="50966" y="0"/>
                  <a:pt x="54314" y="3348"/>
                  <a:pt x="54314" y="7492"/>
                </a:cubicBezTo>
                <a:lnTo>
                  <a:pt x="54314" y="112374"/>
                </a:lnTo>
                <a:cubicBezTo>
                  <a:pt x="54314" y="116517"/>
                  <a:pt x="50966" y="119865"/>
                  <a:pt x="46822" y="119865"/>
                </a:cubicBezTo>
                <a:lnTo>
                  <a:pt x="39331" y="119865"/>
                </a:lnTo>
                <a:cubicBezTo>
                  <a:pt x="32354" y="119865"/>
                  <a:pt x="26478" y="115089"/>
                  <a:pt x="24816" y="108628"/>
                </a:cubicBezTo>
                <a:cubicBezTo>
                  <a:pt x="24652" y="108628"/>
                  <a:pt x="24511" y="108628"/>
                  <a:pt x="24348" y="108628"/>
                </a:cubicBezTo>
                <a:cubicBezTo>
                  <a:pt x="14000" y="108628"/>
                  <a:pt x="5619" y="100247"/>
                  <a:pt x="5619" y="89899"/>
                </a:cubicBezTo>
                <a:cubicBezTo>
                  <a:pt x="5619" y="85685"/>
                  <a:pt x="7023" y="81799"/>
                  <a:pt x="9364" y="78662"/>
                </a:cubicBezTo>
                <a:cubicBezTo>
                  <a:pt x="4823" y="75243"/>
                  <a:pt x="1873" y="69812"/>
                  <a:pt x="1873" y="63678"/>
                </a:cubicBezTo>
                <a:cubicBezTo>
                  <a:pt x="1873" y="56444"/>
                  <a:pt x="5993" y="50147"/>
                  <a:pt x="11987" y="47033"/>
                </a:cubicBezTo>
                <a:cubicBezTo>
                  <a:pt x="10324" y="44224"/>
                  <a:pt x="9364" y="40946"/>
                  <a:pt x="9364" y="37458"/>
                </a:cubicBezTo>
                <a:cubicBezTo>
                  <a:pt x="9364" y="27110"/>
                  <a:pt x="17746" y="18729"/>
                  <a:pt x="28093" y="18729"/>
                </a:cubicBezTo>
                <a:lnTo>
                  <a:pt x="28093" y="13110"/>
                </a:lnTo>
                <a:close/>
                <a:moveTo>
                  <a:pt x="91772" y="13110"/>
                </a:moveTo>
                <a:lnTo>
                  <a:pt x="91772" y="18729"/>
                </a:lnTo>
                <a:cubicBezTo>
                  <a:pt x="102120" y="18729"/>
                  <a:pt x="110501" y="27110"/>
                  <a:pt x="110501" y="37458"/>
                </a:cubicBezTo>
                <a:cubicBezTo>
                  <a:pt x="110501" y="40970"/>
                  <a:pt x="109541" y="44247"/>
                  <a:pt x="107879" y="47033"/>
                </a:cubicBezTo>
                <a:cubicBezTo>
                  <a:pt x="113895" y="50147"/>
                  <a:pt x="117992" y="56421"/>
                  <a:pt x="117992" y="63678"/>
                </a:cubicBezTo>
                <a:cubicBezTo>
                  <a:pt x="117992" y="69812"/>
                  <a:pt x="115042" y="75243"/>
                  <a:pt x="110501" y="78662"/>
                </a:cubicBezTo>
                <a:cubicBezTo>
                  <a:pt x="112842" y="81799"/>
                  <a:pt x="114246" y="85685"/>
                  <a:pt x="114246" y="89899"/>
                </a:cubicBezTo>
                <a:cubicBezTo>
                  <a:pt x="114246" y="100247"/>
                  <a:pt x="105865" y="108628"/>
                  <a:pt x="95518" y="108628"/>
                </a:cubicBezTo>
                <a:cubicBezTo>
                  <a:pt x="95354" y="108628"/>
                  <a:pt x="95213" y="108628"/>
                  <a:pt x="95049" y="108628"/>
                </a:cubicBezTo>
                <a:cubicBezTo>
                  <a:pt x="93387" y="115089"/>
                  <a:pt x="87511" y="119865"/>
                  <a:pt x="80534" y="119865"/>
                </a:cubicBezTo>
                <a:lnTo>
                  <a:pt x="73043" y="119865"/>
                </a:lnTo>
                <a:cubicBezTo>
                  <a:pt x="68899" y="119865"/>
                  <a:pt x="65551" y="116517"/>
                  <a:pt x="65551" y="112374"/>
                </a:cubicBezTo>
                <a:lnTo>
                  <a:pt x="65551" y="7492"/>
                </a:lnTo>
                <a:cubicBezTo>
                  <a:pt x="65551" y="3348"/>
                  <a:pt x="68899" y="0"/>
                  <a:pt x="73043" y="0"/>
                </a:cubicBezTo>
                <a:lnTo>
                  <a:pt x="78662" y="0"/>
                </a:lnTo>
                <a:cubicBezTo>
                  <a:pt x="85896" y="0"/>
                  <a:pt x="91772" y="5876"/>
                  <a:pt x="91772" y="13110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64" name="Text 64"/>
          <p:cNvSpPr/>
          <p:nvPr/>
        </p:nvSpPr>
        <p:spPr>
          <a:xfrm>
            <a:off x="8961736" y="3659940"/>
            <a:ext cx="2158570" cy="418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Improves representational power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minimal computational overhead</a:t>
            </a:r>
            <a:endParaRPr lang="en-US" sz="1300" dirty="0">
              <a:latin typeface="Sorts Mill Goudy" panose="02000503000000000000" pitchFamily="34" charset="0"/>
            </a:endParaRPr>
          </a:p>
        </p:txBody>
      </p:sp>
      <p:sp>
        <p:nvSpPr>
          <p:cNvPr id="65" name="Shape 65"/>
          <p:cNvSpPr/>
          <p:nvPr/>
        </p:nvSpPr>
        <p:spPr>
          <a:xfrm>
            <a:off x="8740515" y="4566867"/>
            <a:ext cx="110525" cy="293065"/>
          </a:xfrm>
          <a:custGeom>
            <a:avLst/>
            <a:gdLst/>
            <a:ahLst/>
            <a:cxnLst/>
            <a:rect l="l" t="t" r="r" b="b"/>
            <a:pathLst>
              <a:path w="119865" h="119865">
                <a:moveTo>
                  <a:pt x="41204" y="0"/>
                </a:moveTo>
                <a:cubicBezTo>
                  <a:pt x="35000" y="0"/>
                  <a:pt x="29966" y="5033"/>
                  <a:pt x="29966" y="11237"/>
                </a:cubicBezTo>
                <a:lnTo>
                  <a:pt x="29966" y="59933"/>
                </a:lnTo>
                <a:cubicBezTo>
                  <a:pt x="29966" y="66137"/>
                  <a:pt x="35000" y="71170"/>
                  <a:pt x="41204" y="71170"/>
                </a:cubicBezTo>
                <a:lnTo>
                  <a:pt x="56187" y="71170"/>
                </a:lnTo>
                <a:cubicBezTo>
                  <a:pt x="62391" y="71170"/>
                  <a:pt x="67424" y="66137"/>
                  <a:pt x="67424" y="59933"/>
                </a:cubicBezTo>
                <a:lnTo>
                  <a:pt x="67424" y="44949"/>
                </a:lnTo>
                <a:lnTo>
                  <a:pt x="74916" y="44949"/>
                </a:lnTo>
                <a:cubicBezTo>
                  <a:pt x="91467" y="44949"/>
                  <a:pt x="104882" y="58364"/>
                  <a:pt x="104882" y="74916"/>
                </a:cubicBezTo>
                <a:cubicBezTo>
                  <a:pt x="104882" y="91467"/>
                  <a:pt x="91467" y="104882"/>
                  <a:pt x="74916" y="104882"/>
                </a:cubicBezTo>
                <a:lnTo>
                  <a:pt x="7492" y="104882"/>
                </a:lnTo>
                <a:cubicBezTo>
                  <a:pt x="3348" y="104882"/>
                  <a:pt x="0" y="108230"/>
                  <a:pt x="0" y="112374"/>
                </a:cubicBezTo>
                <a:cubicBezTo>
                  <a:pt x="0" y="116517"/>
                  <a:pt x="3348" y="119865"/>
                  <a:pt x="7492" y="119865"/>
                </a:cubicBezTo>
                <a:lnTo>
                  <a:pt x="112374" y="119865"/>
                </a:lnTo>
                <a:cubicBezTo>
                  <a:pt x="116517" y="119865"/>
                  <a:pt x="119865" y="116517"/>
                  <a:pt x="119865" y="112374"/>
                </a:cubicBezTo>
                <a:cubicBezTo>
                  <a:pt x="119865" y="108230"/>
                  <a:pt x="116517" y="104882"/>
                  <a:pt x="112374" y="104882"/>
                </a:cubicBezTo>
                <a:lnTo>
                  <a:pt x="108417" y="104882"/>
                </a:lnTo>
                <a:cubicBezTo>
                  <a:pt x="115534" y="96922"/>
                  <a:pt x="119865" y="86434"/>
                  <a:pt x="119865" y="74916"/>
                </a:cubicBezTo>
                <a:cubicBezTo>
                  <a:pt x="119865" y="50100"/>
                  <a:pt x="99732" y="29966"/>
                  <a:pt x="74916" y="29966"/>
                </a:cubicBezTo>
                <a:lnTo>
                  <a:pt x="67424" y="29966"/>
                </a:lnTo>
                <a:lnTo>
                  <a:pt x="67424" y="11237"/>
                </a:lnTo>
                <a:cubicBezTo>
                  <a:pt x="67424" y="5033"/>
                  <a:pt x="62391" y="0"/>
                  <a:pt x="56187" y="0"/>
                </a:cubicBezTo>
                <a:lnTo>
                  <a:pt x="41204" y="0"/>
                </a:lnTo>
                <a:close/>
                <a:moveTo>
                  <a:pt x="28093" y="82407"/>
                </a:moveTo>
                <a:cubicBezTo>
                  <a:pt x="24980" y="82407"/>
                  <a:pt x="22475" y="84912"/>
                  <a:pt x="22475" y="88026"/>
                </a:cubicBezTo>
                <a:cubicBezTo>
                  <a:pt x="22475" y="91140"/>
                  <a:pt x="24980" y="93645"/>
                  <a:pt x="28093" y="93645"/>
                </a:cubicBezTo>
                <a:lnTo>
                  <a:pt x="69297" y="93645"/>
                </a:lnTo>
                <a:cubicBezTo>
                  <a:pt x="72411" y="93645"/>
                  <a:pt x="74916" y="91140"/>
                  <a:pt x="74916" y="88026"/>
                </a:cubicBezTo>
                <a:cubicBezTo>
                  <a:pt x="74916" y="84912"/>
                  <a:pt x="72411" y="82407"/>
                  <a:pt x="69297" y="82407"/>
                </a:cubicBezTo>
                <a:lnTo>
                  <a:pt x="28093" y="82407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66" name="Text 66"/>
          <p:cNvSpPr/>
          <p:nvPr/>
        </p:nvSpPr>
        <p:spPr>
          <a:xfrm>
            <a:off x="8961737" y="4566867"/>
            <a:ext cx="1899736" cy="783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Enhances discriminative capability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fine-grained classification</a:t>
            </a:r>
            <a:endParaRPr lang="en-US" sz="1300" dirty="0">
              <a:latin typeface="Sorts Mill Goudy" panose="02000503000000000000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Proposed Model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1687834"/>
            <a:ext cx="977265" cy="1272540"/>
          </a:xfrm>
          <a:custGeom>
            <a:avLst/>
            <a:gdLst/>
            <a:ahLst/>
            <a:cxnLst/>
            <a:rect l="l" t="t" r="r" b="b"/>
            <a:pathLst>
              <a:path w="977265" h="1272540">
                <a:moveTo>
                  <a:pt x="0" y="0"/>
                </a:moveTo>
                <a:lnTo>
                  <a:pt x="977265" y="0"/>
                </a:lnTo>
                <a:lnTo>
                  <a:pt x="977265" y="1272540"/>
                </a:lnTo>
                <a:lnTo>
                  <a:pt x="0" y="12725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62915" y="1847850"/>
            <a:ext cx="828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🖼️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5778" y="2305050"/>
            <a:ext cx="742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0540" y="2571750"/>
            <a:ext cx="733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224×224×3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39359" y="2181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87748" y="1333500"/>
            <a:ext cx="1285875" cy="1981200"/>
          </a:xfrm>
          <a:custGeom>
            <a:avLst/>
            <a:gdLst/>
            <a:ahLst/>
            <a:cxnLst/>
            <a:rect l="l" t="t" r="r" b="b"/>
            <a:pathLst>
              <a:path w="1285875" h="1981200">
                <a:moveTo>
                  <a:pt x="0" y="0"/>
                </a:moveTo>
                <a:lnTo>
                  <a:pt x="1285875" y="0"/>
                </a:lnTo>
                <a:lnTo>
                  <a:pt x="1285875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54423" y="1485900"/>
            <a:ext cx="1152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97286" y="1943100"/>
            <a:ext cx="10668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EfficientNet-B0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2048" y="2476500"/>
            <a:ext cx="10572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Feature Extractor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6811" y="2971800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(Frozen Layers)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32096" y="2181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88105" y="1440184"/>
            <a:ext cx="1367790" cy="1767840"/>
          </a:xfrm>
          <a:custGeom>
            <a:avLst/>
            <a:gdLst/>
            <a:ahLst/>
            <a:cxnLst/>
            <a:rect l="l" t="t" r="r" b="b"/>
            <a:pathLst>
              <a:path w="1367790" h="1767840">
                <a:moveTo>
                  <a:pt x="0" y="0"/>
                </a:moveTo>
                <a:lnTo>
                  <a:pt x="1367790" y="0"/>
                </a:lnTo>
                <a:lnTo>
                  <a:pt x="1367790" y="1767840"/>
                </a:lnTo>
                <a:lnTo>
                  <a:pt x="0" y="17678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62400" y="1600200"/>
            <a:ext cx="1219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05262" y="2057400"/>
            <a:ext cx="11334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Global Avg Pool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10025" y="2590800"/>
            <a:ext cx="1123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7×7×1280 → 1280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1392" y="2181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877401" y="1554484"/>
            <a:ext cx="1139190" cy="1539240"/>
          </a:xfrm>
          <a:custGeom>
            <a:avLst/>
            <a:gdLst/>
            <a:ahLst/>
            <a:cxnLst/>
            <a:rect l="l" t="t" r="r" b="b"/>
            <a:pathLst>
              <a:path w="1139190" h="1539240">
                <a:moveTo>
                  <a:pt x="0" y="0"/>
                </a:moveTo>
                <a:lnTo>
                  <a:pt x="1139190" y="0"/>
                </a:lnTo>
                <a:lnTo>
                  <a:pt x="1139190" y="1539240"/>
                </a:lnTo>
                <a:lnTo>
                  <a:pt x="0" y="15392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51697" y="1714500"/>
            <a:ext cx="9906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94559" y="2171700"/>
            <a:ext cx="9048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Batch Norm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99322" y="2705100"/>
            <a:ext cx="895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Stabilization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89351" y="2181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645360" y="1459234"/>
            <a:ext cx="1101090" cy="1729740"/>
          </a:xfrm>
          <a:custGeom>
            <a:avLst/>
            <a:gdLst/>
            <a:ahLst/>
            <a:cxnLst/>
            <a:rect l="l" t="t" r="r" b="b"/>
            <a:pathLst>
              <a:path w="1101090" h="1729740">
                <a:moveTo>
                  <a:pt x="0" y="0"/>
                </a:moveTo>
                <a:lnTo>
                  <a:pt x="1101090" y="0"/>
                </a:lnTo>
                <a:lnTo>
                  <a:pt x="1101090" y="1729740"/>
                </a:lnTo>
                <a:lnTo>
                  <a:pt x="0" y="17297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19656" y="16192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62518" y="2076450"/>
            <a:ext cx="86677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Dense Layer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67281" y="260985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1280 → 512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043" y="2838450"/>
            <a:ext cx="847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ReLU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915758" y="2181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371766" y="1687834"/>
            <a:ext cx="958215" cy="1272540"/>
          </a:xfrm>
          <a:custGeom>
            <a:avLst/>
            <a:gdLst/>
            <a:ahLst/>
            <a:cxnLst/>
            <a:rect l="l" t="t" r="r" b="b"/>
            <a:pathLst>
              <a:path w="958215" h="1272540">
                <a:moveTo>
                  <a:pt x="0" y="0"/>
                </a:moveTo>
                <a:lnTo>
                  <a:pt x="958215" y="0"/>
                </a:lnTo>
                <a:lnTo>
                  <a:pt x="958215" y="1272540"/>
                </a:lnTo>
                <a:lnTo>
                  <a:pt x="0" y="12725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446062" y="1847850"/>
            <a:ext cx="809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🚫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88924" y="2305050"/>
            <a:ext cx="723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Dropout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93687" y="2571750"/>
            <a:ext cx="714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Rate: 0.5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501551" y="2181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0949940" y="1581150"/>
            <a:ext cx="857250" cy="1485900"/>
          </a:xfrm>
          <a:custGeom>
            <a:avLst/>
            <a:gdLst/>
            <a:ahLst/>
            <a:cxnLst/>
            <a:rect l="l" t="t" r="r" b="b"/>
            <a:pathLst>
              <a:path w="857250" h="1485900">
                <a:moveTo>
                  <a:pt x="0" y="0"/>
                </a:moveTo>
                <a:lnTo>
                  <a:pt x="857250" y="0"/>
                </a:lnTo>
                <a:lnTo>
                  <a:pt x="85725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1016615" y="1733550"/>
            <a:ext cx="723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59477" y="2190750"/>
            <a:ext cx="638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Output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64240" y="2457450"/>
            <a:ext cx="628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512 → 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069002" y="2724150"/>
            <a:ext cx="619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SoftMax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346" y="3655356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90896" y="3655356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Feature Extractor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0896" y="4074335"/>
            <a:ext cx="54483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Pretrained EfficientNet-B0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serves as the feature extractor with ImageNet weights. The convolutional base is frozen to retain learned features.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0896" y="4683935"/>
            <a:ext cx="5372100" cy="457200"/>
          </a:xfrm>
          <a:custGeom>
            <a:avLst/>
            <a:gdLst/>
            <a:ahLst/>
            <a:cxnLst/>
            <a:rect l="l" t="t" r="r" b="b"/>
            <a:pathLst>
              <a:path w="5372100" h="457200">
                <a:moveTo>
                  <a:pt x="0" y="0"/>
                </a:moveTo>
                <a:lnTo>
                  <a:pt x="5372100" y="0"/>
                </a:lnTo>
                <a:lnTo>
                  <a:pt x="5372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05196" y="4798235"/>
            <a:ext cx="521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Output:</a:t>
            </a: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7×7×1280 feature maps capturing hierarchical visual features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0646" y="3609975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20196" y="3609975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Classification Head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20196" y="4028954"/>
            <a:ext cx="54483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Custom layers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are added on top for leukemia-specific classification, trained to adapt to blood cell characteristics.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20196" y="4638554"/>
            <a:ext cx="5372100" cy="685800"/>
          </a:xfrm>
          <a:custGeom>
            <a:avLst/>
            <a:gdLst/>
            <a:ahLst/>
            <a:cxnLst/>
            <a:rect l="l" t="t" r="r" b="b"/>
            <a:pathLst>
              <a:path w="5372100" h="685800">
                <a:moveTo>
                  <a:pt x="0" y="0"/>
                </a:moveTo>
                <a:lnTo>
                  <a:pt x="5372100" y="0"/>
                </a:lnTo>
                <a:lnTo>
                  <a:pt x="5372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34496" y="4752854"/>
            <a:ext cx="5219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Components:</a:t>
            </a: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Global Average Pooling → Batch Norm → Dense → Dropout → Output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38150" y="5760260"/>
            <a:ext cx="11430000" cy="976279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0" y="0"/>
                </a:moveTo>
                <a:lnTo>
                  <a:pt x="11430000" y="0"/>
                </a:lnTo>
                <a:lnTo>
                  <a:pt x="114300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701820" y="5905499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122435" y="5874560"/>
            <a:ext cx="10563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Design Rationale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41485" y="6179816"/>
            <a:ext cx="105441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architecture leverages </a:t>
            </a: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transfer learning</a:t>
            </a: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by using pretrained features while training only the classification head, enabling effective learning with limited medical data and preventing overfitting.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11525321" cy="182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kern="0" spc="101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21016"/>
            <a:ext cx="11680575" cy="438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Transfer Learning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303" y="1278562"/>
            <a:ext cx="7443056" cy="292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Why Transfer Learning?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303" y="1716810"/>
            <a:ext cx="11102485" cy="5388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Deep CNNs require </a:t>
            </a: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massive labeled datasets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and significant computational resources. Medical imaging datasets are typically small, making training from scratch impractical.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3569" y="2397187"/>
            <a:ext cx="10760518" cy="767137"/>
          </a:xfrm>
          <a:custGeom>
            <a:avLst/>
            <a:gdLst/>
            <a:ahLst/>
            <a:cxnLst/>
            <a:rect l="l" t="t" r="r" b="b"/>
            <a:pathLst>
              <a:path w="7315200" h="767137">
                <a:moveTo>
                  <a:pt x="0" y="0"/>
                </a:moveTo>
                <a:lnTo>
                  <a:pt x="7315200" y="0"/>
                </a:lnTo>
                <a:lnTo>
                  <a:pt x="7315200" y="767137"/>
                </a:lnTo>
                <a:lnTo>
                  <a:pt x="0" y="767137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3569" y="2397187"/>
            <a:ext cx="36530" cy="767137"/>
          </a:xfrm>
          <a:custGeom>
            <a:avLst/>
            <a:gdLst/>
            <a:ahLst/>
            <a:cxnLst/>
            <a:rect l="l" t="t" r="r" b="b"/>
            <a:pathLst>
              <a:path w="36530" h="767137">
                <a:moveTo>
                  <a:pt x="0" y="0"/>
                </a:moveTo>
                <a:lnTo>
                  <a:pt x="36530" y="0"/>
                </a:lnTo>
                <a:lnTo>
                  <a:pt x="36530" y="767137"/>
                </a:lnTo>
                <a:lnTo>
                  <a:pt x="0" y="76713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7955" y="2543309"/>
            <a:ext cx="10399907" cy="4748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Transfer learning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leverages knowledge from models pretrained on large datasets (ImageNet with 1.2M images) and adapts it to medical imaging tasks.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303" y="3405089"/>
            <a:ext cx="7443056" cy="292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3568" y="3843338"/>
            <a:ext cx="45719" cy="438364"/>
          </a:xfrm>
          <a:custGeom>
            <a:avLst/>
            <a:gdLst/>
            <a:ahLst/>
            <a:cxnLst/>
            <a:rect l="l" t="t" r="r" b="b"/>
            <a:pathLst>
              <a:path w="36530" h="438364">
                <a:moveTo>
                  <a:pt x="0" y="0"/>
                </a:moveTo>
                <a:lnTo>
                  <a:pt x="36530" y="0"/>
                </a:lnTo>
                <a:lnTo>
                  <a:pt x="36530" y="438364"/>
                </a:lnTo>
                <a:lnTo>
                  <a:pt x="0" y="4383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7955" y="3843338"/>
            <a:ext cx="326017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0" y="0"/>
                </a:moveTo>
                <a:lnTo>
                  <a:pt x="292243" y="0"/>
                </a:lnTo>
                <a:lnTo>
                  <a:pt x="292243" y="292243"/>
                </a:lnTo>
                <a:lnTo>
                  <a:pt x="0" y="29224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11425" y="3843338"/>
            <a:ext cx="407521" cy="292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9789" y="3843338"/>
            <a:ext cx="5705294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Load Pretrained Weights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9789" y="4062520"/>
            <a:ext cx="5705294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ImageNet weights provide strong low-level and mid-level feature representations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3568" y="4391293"/>
            <a:ext cx="45719" cy="438364"/>
          </a:xfrm>
          <a:custGeom>
            <a:avLst/>
            <a:gdLst/>
            <a:ahLst/>
            <a:cxnLst/>
            <a:rect l="l" t="t" r="r" b="b"/>
            <a:pathLst>
              <a:path w="36530" h="438364">
                <a:moveTo>
                  <a:pt x="0" y="0"/>
                </a:moveTo>
                <a:lnTo>
                  <a:pt x="36530" y="0"/>
                </a:lnTo>
                <a:lnTo>
                  <a:pt x="36530" y="438364"/>
                </a:lnTo>
                <a:lnTo>
                  <a:pt x="0" y="4383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7955" y="4391293"/>
            <a:ext cx="326017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0" y="0"/>
                </a:moveTo>
                <a:lnTo>
                  <a:pt x="292243" y="0"/>
                </a:lnTo>
                <a:lnTo>
                  <a:pt x="292243" y="292243"/>
                </a:lnTo>
                <a:lnTo>
                  <a:pt x="0" y="29224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1425" y="4391293"/>
            <a:ext cx="407521" cy="292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9789" y="4391293"/>
            <a:ext cx="4054835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Freeze Base Layers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9789" y="4610475"/>
            <a:ext cx="4054835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Convolutional layers are frozen to retain learned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3568" y="4939248"/>
            <a:ext cx="45719" cy="438364"/>
          </a:xfrm>
          <a:custGeom>
            <a:avLst/>
            <a:gdLst/>
            <a:ahLst/>
            <a:cxnLst/>
            <a:rect l="l" t="t" r="r" b="b"/>
            <a:pathLst>
              <a:path w="36530" h="438364">
                <a:moveTo>
                  <a:pt x="0" y="0"/>
                </a:moveTo>
                <a:lnTo>
                  <a:pt x="36530" y="0"/>
                </a:lnTo>
                <a:lnTo>
                  <a:pt x="36530" y="438364"/>
                </a:lnTo>
                <a:lnTo>
                  <a:pt x="0" y="4383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7955" y="4939248"/>
            <a:ext cx="326017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0" y="0"/>
                </a:moveTo>
                <a:lnTo>
                  <a:pt x="292243" y="0"/>
                </a:lnTo>
                <a:lnTo>
                  <a:pt x="292243" y="292243"/>
                </a:lnTo>
                <a:lnTo>
                  <a:pt x="0" y="29224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1425" y="4939248"/>
            <a:ext cx="407521" cy="292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9789" y="4939248"/>
            <a:ext cx="4594800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Train Classification Head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9789" y="5158430"/>
            <a:ext cx="4594800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Only custom layers are trained to adapt to leukemia classification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303" y="5737857"/>
            <a:ext cx="7365826" cy="1000171"/>
          </a:xfrm>
          <a:custGeom>
            <a:avLst/>
            <a:gdLst/>
            <a:ahLst/>
            <a:cxnLst/>
            <a:rect l="l" t="t" r="r" b="b"/>
            <a:pathLst>
              <a:path w="7333465" h="1242031">
                <a:moveTo>
                  <a:pt x="0" y="0"/>
                </a:moveTo>
                <a:lnTo>
                  <a:pt x="7333465" y="0"/>
                </a:lnTo>
                <a:lnTo>
                  <a:pt x="7333465" y="1242031"/>
                </a:lnTo>
                <a:lnTo>
                  <a:pt x="0" y="124203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5078" y="5836203"/>
            <a:ext cx="7059488" cy="255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Benefits of Our Strategy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3160" y="6129792"/>
            <a:ext cx="2337942" cy="292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5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↓70%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1425" y="6458449"/>
            <a:ext cx="2301411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Training Time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864892" y="6129792"/>
            <a:ext cx="2337942" cy="292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5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↑40%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883157" y="6458449"/>
            <a:ext cx="2301411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36624" y="6129792"/>
            <a:ext cx="2337942" cy="292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5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↓85%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4889" y="6458449"/>
            <a:ext cx="2301411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Data Required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07411" y="3551210"/>
            <a:ext cx="3433852" cy="3186818"/>
          </a:xfrm>
          <a:custGeom>
            <a:avLst/>
            <a:gdLst/>
            <a:ahLst/>
            <a:cxnLst/>
            <a:rect l="l" t="t" r="r" b="b"/>
            <a:pathLst>
              <a:path w="3822900" h="1841129">
                <a:moveTo>
                  <a:pt x="0" y="0"/>
                </a:moveTo>
                <a:lnTo>
                  <a:pt x="3822900" y="0"/>
                </a:lnTo>
                <a:lnTo>
                  <a:pt x="3822900" y="1841129"/>
                </a:lnTo>
                <a:lnTo>
                  <a:pt x="0" y="1841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Text 40"/>
          <p:cNvSpPr/>
          <p:nvPr/>
        </p:nvSpPr>
        <p:spPr>
          <a:xfrm>
            <a:off x="8476061" y="4281703"/>
            <a:ext cx="3534310" cy="255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Preventing Overfitting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520700" y="4668696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24089" y="20006"/>
                </a:moveTo>
                <a:cubicBezTo>
                  <a:pt x="128170" y="22974"/>
                  <a:pt x="129083" y="28682"/>
                  <a:pt x="126115" y="32763"/>
                </a:cubicBezTo>
                <a:lnTo>
                  <a:pt x="53055" y="133222"/>
                </a:lnTo>
                <a:cubicBezTo>
                  <a:pt x="51485" y="135391"/>
                  <a:pt x="49059" y="136732"/>
                  <a:pt x="46376" y="136960"/>
                </a:cubicBezTo>
                <a:cubicBezTo>
                  <a:pt x="43694" y="137189"/>
                  <a:pt x="41097" y="136190"/>
                  <a:pt x="39213" y="134306"/>
                </a:cubicBezTo>
                <a:lnTo>
                  <a:pt x="2683" y="97776"/>
                </a:lnTo>
                <a:cubicBezTo>
                  <a:pt x="-885" y="94208"/>
                  <a:pt x="-885" y="88415"/>
                  <a:pt x="2683" y="84847"/>
                </a:cubicBezTo>
                <a:cubicBezTo>
                  <a:pt x="6250" y="81280"/>
                  <a:pt x="12044" y="81280"/>
                  <a:pt x="15611" y="84847"/>
                </a:cubicBezTo>
                <a:lnTo>
                  <a:pt x="44578" y="113815"/>
                </a:lnTo>
                <a:lnTo>
                  <a:pt x="111360" y="22004"/>
                </a:lnTo>
                <a:cubicBezTo>
                  <a:pt x="114329" y="17923"/>
                  <a:pt x="120036" y="17009"/>
                  <a:pt x="124118" y="19978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869346" y="4607646"/>
            <a:ext cx="2551432" cy="243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Frozen layers retain general features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520700" y="4960939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24089" y="20006"/>
                </a:moveTo>
                <a:cubicBezTo>
                  <a:pt x="128170" y="22974"/>
                  <a:pt x="129083" y="28682"/>
                  <a:pt x="126115" y="32763"/>
                </a:cubicBezTo>
                <a:lnTo>
                  <a:pt x="53055" y="133222"/>
                </a:lnTo>
                <a:cubicBezTo>
                  <a:pt x="51485" y="135391"/>
                  <a:pt x="49059" y="136732"/>
                  <a:pt x="46376" y="136960"/>
                </a:cubicBezTo>
                <a:cubicBezTo>
                  <a:pt x="43694" y="137189"/>
                  <a:pt x="41097" y="136190"/>
                  <a:pt x="39213" y="134306"/>
                </a:cubicBezTo>
                <a:lnTo>
                  <a:pt x="2683" y="97776"/>
                </a:lnTo>
                <a:cubicBezTo>
                  <a:pt x="-885" y="94208"/>
                  <a:pt x="-885" y="88415"/>
                  <a:pt x="2683" y="84847"/>
                </a:cubicBezTo>
                <a:cubicBezTo>
                  <a:pt x="6250" y="81280"/>
                  <a:pt x="12044" y="81280"/>
                  <a:pt x="15611" y="84847"/>
                </a:cubicBezTo>
                <a:lnTo>
                  <a:pt x="44578" y="113815"/>
                </a:lnTo>
                <a:lnTo>
                  <a:pt x="111360" y="22004"/>
                </a:lnTo>
                <a:cubicBezTo>
                  <a:pt x="114329" y="17923"/>
                  <a:pt x="120036" y="17009"/>
                  <a:pt x="124118" y="19978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846557" y="4902719"/>
            <a:ext cx="1946533" cy="262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Fewer trainable parameters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520700" y="5253182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24089" y="20006"/>
                </a:moveTo>
                <a:cubicBezTo>
                  <a:pt x="128170" y="22974"/>
                  <a:pt x="129083" y="28682"/>
                  <a:pt x="126115" y="32763"/>
                </a:cubicBezTo>
                <a:lnTo>
                  <a:pt x="53055" y="133222"/>
                </a:lnTo>
                <a:cubicBezTo>
                  <a:pt x="51485" y="135391"/>
                  <a:pt x="49059" y="136732"/>
                  <a:pt x="46376" y="136960"/>
                </a:cubicBezTo>
                <a:cubicBezTo>
                  <a:pt x="43694" y="137189"/>
                  <a:pt x="41097" y="136190"/>
                  <a:pt x="39213" y="134306"/>
                </a:cubicBezTo>
                <a:lnTo>
                  <a:pt x="2683" y="97776"/>
                </a:lnTo>
                <a:cubicBezTo>
                  <a:pt x="-885" y="94208"/>
                  <a:pt x="-885" y="88415"/>
                  <a:pt x="2683" y="84847"/>
                </a:cubicBezTo>
                <a:cubicBezTo>
                  <a:pt x="6250" y="81280"/>
                  <a:pt x="12044" y="81280"/>
                  <a:pt x="15611" y="84847"/>
                </a:cubicBezTo>
                <a:lnTo>
                  <a:pt x="44578" y="113815"/>
                </a:lnTo>
                <a:lnTo>
                  <a:pt x="111360" y="22004"/>
                </a:lnTo>
                <a:cubicBezTo>
                  <a:pt x="114329" y="17923"/>
                  <a:pt x="120036" y="17009"/>
                  <a:pt x="124118" y="19978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846557" y="5202030"/>
            <a:ext cx="1744536" cy="2406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Dropout regularization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520700" y="5545424"/>
            <a:ext cx="127856" cy="146121"/>
          </a:xfrm>
          <a:custGeom>
            <a:avLst/>
            <a:gdLst/>
            <a:ahLst/>
            <a:cxnLst/>
            <a:rect l="l" t="t" r="r" b="b"/>
            <a:pathLst>
              <a:path w="127856" h="146121">
                <a:moveTo>
                  <a:pt x="124089" y="20006"/>
                </a:moveTo>
                <a:cubicBezTo>
                  <a:pt x="128170" y="22974"/>
                  <a:pt x="129083" y="28682"/>
                  <a:pt x="126115" y="32763"/>
                </a:cubicBezTo>
                <a:lnTo>
                  <a:pt x="53055" y="133222"/>
                </a:lnTo>
                <a:cubicBezTo>
                  <a:pt x="51485" y="135391"/>
                  <a:pt x="49059" y="136732"/>
                  <a:pt x="46376" y="136960"/>
                </a:cubicBezTo>
                <a:cubicBezTo>
                  <a:pt x="43694" y="137189"/>
                  <a:pt x="41097" y="136190"/>
                  <a:pt x="39213" y="134306"/>
                </a:cubicBezTo>
                <a:lnTo>
                  <a:pt x="2683" y="97776"/>
                </a:lnTo>
                <a:cubicBezTo>
                  <a:pt x="-885" y="94208"/>
                  <a:pt x="-885" y="88415"/>
                  <a:pt x="2683" y="84847"/>
                </a:cubicBezTo>
                <a:cubicBezTo>
                  <a:pt x="6250" y="81280"/>
                  <a:pt x="12044" y="81280"/>
                  <a:pt x="15611" y="84847"/>
                </a:cubicBezTo>
                <a:lnTo>
                  <a:pt x="44578" y="113815"/>
                </a:lnTo>
                <a:lnTo>
                  <a:pt x="111360" y="22004"/>
                </a:lnTo>
                <a:cubicBezTo>
                  <a:pt x="114329" y="17923"/>
                  <a:pt x="120036" y="17009"/>
                  <a:pt x="124118" y="19978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846556" y="5490628"/>
            <a:ext cx="1946533" cy="226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Early stopping mechanism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337310"/>
            <a:ext cx="3674745" cy="2293620"/>
          </a:xfrm>
          <a:custGeom>
            <a:avLst/>
            <a:gdLst/>
            <a:ahLst/>
            <a:cxnLst/>
            <a:rect l="l" t="t" r="r" b="b"/>
            <a:pathLst>
              <a:path w="3674745" h="2293620">
                <a:moveTo>
                  <a:pt x="0" y="0"/>
                </a:moveTo>
                <a:lnTo>
                  <a:pt x="3674745" y="0"/>
                </a:lnTo>
                <a:lnTo>
                  <a:pt x="3674745" y="2293620"/>
                </a:lnTo>
                <a:lnTo>
                  <a:pt x="0" y="2293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81501" y="153162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0608" y="1541152"/>
            <a:ext cx="92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Optimizer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9120" y="1969777"/>
            <a:ext cx="336232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Adam Optimizer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with adaptive learning rate mechanism for faster and more stable convergence.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9120" y="2827027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0" y="0"/>
                </a:moveTo>
                <a:lnTo>
                  <a:pt x="3286125" y="0"/>
                </a:lnTo>
                <a:lnTo>
                  <a:pt x="3286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93420" y="2941327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Learning Rate: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0.001 (adaptive)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3420" y="3131827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Beta1: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0.9, </a:t>
            </a: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Beta2: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0.999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8270" y="1337310"/>
            <a:ext cx="3674745" cy="2293620"/>
          </a:xfrm>
          <a:custGeom>
            <a:avLst/>
            <a:gdLst/>
            <a:ahLst/>
            <a:cxnLst/>
            <a:rect l="l" t="t" r="r" b="b"/>
            <a:pathLst>
              <a:path w="3674745" h="2293620">
                <a:moveTo>
                  <a:pt x="0" y="0"/>
                </a:moveTo>
                <a:lnTo>
                  <a:pt x="3674745" y="0"/>
                </a:lnTo>
                <a:lnTo>
                  <a:pt x="3674745" y="2293620"/>
                </a:lnTo>
                <a:lnTo>
                  <a:pt x="0" y="2293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90680" y="15316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24068" y="1541152"/>
            <a:ext cx="125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Loss Function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52580" y="1969777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Sparse Categorical Cross-Entropy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for multiclass classification with integer labels.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52580" y="2579377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0" y="0"/>
                </a:moveTo>
                <a:lnTo>
                  <a:pt x="3286125" y="0"/>
                </a:lnTo>
                <a:lnTo>
                  <a:pt x="3286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66880" y="2693677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Type: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Sparse Categorical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6880" y="2884177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Classes: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4 (multiclass)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1731" y="1337310"/>
            <a:ext cx="3674745" cy="2293620"/>
          </a:xfrm>
          <a:custGeom>
            <a:avLst/>
            <a:gdLst/>
            <a:ahLst/>
            <a:cxnLst/>
            <a:rect l="l" t="t" r="r" b="b"/>
            <a:pathLst>
              <a:path w="3674745" h="2293620">
                <a:moveTo>
                  <a:pt x="0" y="0"/>
                </a:moveTo>
                <a:lnTo>
                  <a:pt x="3674745" y="0"/>
                </a:lnTo>
                <a:lnTo>
                  <a:pt x="3674745" y="2293620"/>
                </a:lnTo>
                <a:lnTo>
                  <a:pt x="0" y="2293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64141" y="15316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797528" y="1541152"/>
            <a:ext cx="933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6041" y="1969777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Batch Size: 32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for balanced memory usage and gradient stability during training.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26041" y="2579377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0" y="0"/>
                </a:moveTo>
                <a:lnTo>
                  <a:pt x="3286125" y="0"/>
                </a:lnTo>
                <a:lnTo>
                  <a:pt x="3286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440341" y="2693677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Training: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32 samples/batch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40341" y="2884177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Validation: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32 samples/batch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3638546"/>
            <a:ext cx="3674745" cy="2045970"/>
          </a:xfrm>
          <a:custGeom>
            <a:avLst/>
            <a:gdLst/>
            <a:ahLst/>
            <a:cxnLst/>
            <a:rect l="l" t="t" r="r" b="b"/>
            <a:pathLst>
              <a:path w="3674745" h="2045970">
                <a:moveTo>
                  <a:pt x="0" y="0"/>
                </a:moveTo>
                <a:lnTo>
                  <a:pt x="3674745" y="0"/>
                </a:lnTo>
                <a:lnTo>
                  <a:pt x="3674745" y="2045970"/>
                </a:lnTo>
                <a:lnTo>
                  <a:pt x="0" y="2045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7220" y="383286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43725" y="41690"/>
                </a:moveTo>
                <a:lnTo>
                  <a:pt x="250031" y="47662"/>
                </a:lnTo>
                <a:lnTo>
                  <a:pt x="250031" y="17859"/>
                </a:lnTo>
                <a:cubicBezTo>
                  <a:pt x="250031" y="7981"/>
                  <a:pt x="258012" y="0"/>
                  <a:pt x="267891" y="0"/>
                </a:cubicBezTo>
                <a:cubicBezTo>
                  <a:pt x="277769" y="0"/>
                  <a:pt x="285750" y="7981"/>
                  <a:pt x="285750" y="17859"/>
                </a:cubicBezTo>
                <a:lnTo>
                  <a:pt x="285750" y="89297"/>
                </a:lnTo>
                <a:cubicBezTo>
                  <a:pt x="285750" y="99175"/>
                  <a:pt x="277769" y="107156"/>
                  <a:pt x="267891" y="107156"/>
                </a:cubicBezTo>
                <a:lnTo>
                  <a:pt x="196453" y="107156"/>
                </a:lnTo>
                <a:cubicBezTo>
                  <a:pt x="186575" y="107156"/>
                  <a:pt x="178594" y="99175"/>
                  <a:pt x="178594" y="89297"/>
                </a:cubicBezTo>
                <a:cubicBezTo>
                  <a:pt x="178594" y="79418"/>
                  <a:pt x="186575" y="71438"/>
                  <a:pt x="196453" y="71438"/>
                </a:cubicBezTo>
                <a:lnTo>
                  <a:pt x="223186" y="71438"/>
                </a:lnTo>
                <a:lnTo>
                  <a:pt x="218945" y="67419"/>
                </a:lnTo>
                <a:cubicBezTo>
                  <a:pt x="218833" y="67308"/>
                  <a:pt x="218722" y="67196"/>
                  <a:pt x="218610" y="67084"/>
                </a:cubicBezTo>
                <a:cubicBezTo>
                  <a:pt x="176752" y="25226"/>
                  <a:pt x="108942" y="25226"/>
                  <a:pt x="67084" y="67084"/>
                </a:cubicBezTo>
                <a:cubicBezTo>
                  <a:pt x="25226" y="108942"/>
                  <a:pt x="25226" y="176752"/>
                  <a:pt x="67084" y="218610"/>
                </a:cubicBezTo>
                <a:cubicBezTo>
                  <a:pt x="108942" y="260468"/>
                  <a:pt x="176752" y="260468"/>
                  <a:pt x="218610" y="218610"/>
                </a:cubicBezTo>
                <a:cubicBezTo>
                  <a:pt x="223186" y="214033"/>
                  <a:pt x="227261" y="209178"/>
                  <a:pt x="230832" y="204043"/>
                </a:cubicBezTo>
                <a:cubicBezTo>
                  <a:pt x="236469" y="195951"/>
                  <a:pt x="247631" y="193997"/>
                  <a:pt x="255724" y="199634"/>
                </a:cubicBezTo>
                <a:cubicBezTo>
                  <a:pt x="263816" y="205271"/>
                  <a:pt x="265770" y="216433"/>
                  <a:pt x="260133" y="224526"/>
                </a:cubicBezTo>
                <a:cubicBezTo>
                  <a:pt x="255389" y="231335"/>
                  <a:pt x="249975" y="237809"/>
                  <a:pt x="243892" y="243892"/>
                </a:cubicBezTo>
                <a:cubicBezTo>
                  <a:pt x="188082" y="299703"/>
                  <a:pt x="97613" y="299703"/>
                  <a:pt x="41858" y="243892"/>
                </a:cubicBezTo>
                <a:cubicBezTo>
                  <a:pt x="-13897" y="188082"/>
                  <a:pt x="-13953" y="97668"/>
                  <a:pt x="41858" y="41858"/>
                </a:cubicBezTo>
                <a:cubicBezTo>
                  <a:pt x="97613" y="-13897"/>
                  <a:pt x="187914" y="-13953"/>
                  <a:pt x="243725" y="41690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50608" y="3842389"/>
            <a:ext cx="695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Epochs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9120" y="4271014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Maximum: 50 epochs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with early stopping to prevent overfitting and save computation.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9120" y="4880614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0" y="0"/>
                </a:moveTo>
                <a:lnTo>
                  <a:pt x="3286125" y="0"/>
                </a:lnTo>
                <a:lnTo>
                  <a:pt x="3286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93420" y="4994914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Early Stopping: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Patience = 10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3420" y="5185414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Monitor: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Validation Loss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58270" y="3638546"/>
            <a:ext cx="3674745" cy="2045970"/>
          </a:xfrm>
          <a:custGeom>
            <a:avLst/>
            <a:gdLst/>
            <a:ahLst/>
            <a:cxnLst/>
            <a:rect l="l" t="t" r="r" b="b"/>
            <a:pathLst>
              <a:path w="3674745" h="2045970">
                <a:moveTo>
                  <a:pt x="0" y="0"/>
                </a:moveTo>
                <a:lnTo>
                  <a:pt x="3674745" y="0"/>
                </a:lnTo>
                <a:lnTo>
                  <a:pt x="3674745" y="2045970"/>
                </a:lnTo>
                <a:lnTo>
                  <a:pt x="0" y="2045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490680" y="383286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24068" y="3842389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Regularization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52580" y="4271014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Dropout (0.5)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and Batch Normalization to prevent overfitting and stabilize training.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52580" y="4880614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0" y="0"/>
                </a:moveTo>
                <a:lnTo>
                  <a:pt x="3286125" y="0"/>
                </a:lnTo>
                <a:lnTo>
                  <a:pt x="3286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66880" y="4994914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Dropout Rate: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0.5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66880" y="5185414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Batch Norm: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After pooling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31731" y="3638546"/>
            <a:ext cx="3674745" cy="2045970"/>
          </a:xfrm>
          <a:custGeom>
            <a:avLst/>
            <a:gdLst/>
            <a:ahLst/>
            <a:cxnLst/>
            <a:rect l="l" t="t" r="r" b="b"/>
            <a:pathLst>
              <a:path w="3674745" h="2045970">
                <a:moveTo>
                  <a:pt x="0" y="0"/>
                </a:moveTo>
                <a:lnTo>
                  <a:pt x="3674745" y="0"/>
                </a:lnTo>
                <a:lnTo>
                  <a:pt x="3674745" y="2045970"/>
                </a:lnTo>
                <a:lnTo>
                  <a:pt x="0" y="2045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382000" y="383286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94041" y="0"/>
                </a:moveTo>
                <a:cubicBezTo>
                  <a:pt x="86618" y="0"/>
                  <a:pt x="80646" y="5972"/>
                  <a:pt x="80646" y="13395"/>
                </a:cubicBezTo>
                <a:cubicBezTo>
                  <a:pt x="80646" y="20817"/>
                  <a:pt x="86618" y="26789"/>
                  <a:pt x="94041" y="26789"/>
                </a:cubicBezTo>
                <a:lnTo>
                  <a:pt x="111900" y="26789"/>
                </a:lnTo>
                <a:lnTo>
                  <a:pt x="111900" y="40909"/>
                </a:lnTo>
                <a:cubicBezTo>
                  <a:pt x="51625" y="47551"/>
                  <a:pt x="4744" y="98673"/>
                  <a:pt x="4744" y="160734"/>
                </a:cubicBezTo>
                <a:cubicBezTo>
                  <a:pt x="4744" y="227316"/>
                  <a:pt x="58713" y="281285"/>
                  <a:pt x="125295" y="281285"/>
                </a:cubicBezTo>
                <a:cubicBezTo>
                  <a:pt x="191877" y="281285"/>
                  <a:pt x="245845" y="227316"/>
                  <a:pt x="245845" y="160734"/>
                </a:cubicBezTo>
                <a:cubicBezTo>
                  <a:pt x="245845" y="138522"/>
                  <a:pt x="239818" y="117704"/>
                  <a:pt x="229326" y="99789"/>
                </a:cubicBezTo>
                <a:lnTo>
                  <a:pt x="245064" y="84051"/>
                </a:lnTo>
                <a:cubicBezTo>
                  <a:pt x="252040" y="77074"/>
                  <a:pt x="252040" y="65745"/>
                  <a:pt x="245064" y="58769"/>
                </a:cubicBezTo>
                <a:cubicBezTo>
                  <a:pt x="238088" y="51792"/>
                  <a:pt x="226758" y="51792"/>
                  <a:pt x="219782" y="58769"/>
                </a:cubicBezTo>
                <a:lnTo>
                  <a:pt x="206722" y="71828"/>
                </a:lnTo>
                <a:cubicBezTo>
                  <a:pt x="188361" y="54973"/>
                  <a:pt x="164753" y="43755"/>
                  <a:pt x="138633" y="40853"/>
                </a:cubicBezTo>
                <a:lnTo>
                  <a:pt x="138633" y="26733"/>
                </a:lnTo>
                <a:lnTo>
                  <a:pt x="156493" y="26733"/>
                </a:lnTo>
                <a:cubicBezTo>
                  <a:pt x="163916" y="26733"/>
                  <a:pt x="169887" y="20762"/>
                  <a:pt x="169887" y="13339"/>
                </a:cubicBezTo>
                <a:cubicBezTo>
                  <a:pt x="169887" y="5916"/>
                  <a:pt x="163916" y="-56"/>
                  <a:pt x="156493" y="-56"/>
                </a:cubicBezTo>
                <a:lnTo>
                  <a:pt x="93985" y="-56"/>
                </a:lnTo>
                <a:close/>
                <a:moveTo>
                  <a:pt x="138689" y="102691"/>
                </a:moveTo>
                <a:lnTo>
                  <a:pt x="138689" y="160734"/>
                </a:lnTo>
                <a:cubicBezTo>
                  <a:pt x="138689" y="168157"/>
                  <a:pt x="132717" y="174129"/>
                  <a:pt x="125295" y="174129"/>
                </a:cubicBezTo>
                <a:cubicBezTo>
                  <a:pt x="117872" y="174129"/>
                  <a:pt x="111900" y="168157"/>
                  <a:pt x="111900" y="160734"/>
                </a:cubicBezTo>
                <a:lnTo>
                  <a:pt x="111900" y="102691"/>
                </a:lnTo>
                <a:cubicBezTo>
                  <a:pt x="111900" y="95269"/>
                  <a:pt x="117872" y="89297"/>
                  <a:pt x="125295" y="89297"/>
                </a:cubicBezTo>
                <a:cubicBezTo>
                  <a:pt x="132717" y="89297"/>
                  <a:pt x="138689" y="95269"/>
                  <a:pt x="138689" y="102691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97528" y="3842389"/>
            <a:ext cx="1314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Early Stopping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26041" y="4271014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Monitor validation loss</a:t>
            </a:r>
            <a:r>
              <a:rPr lang="en-US" sz="12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and stop training when performance saturates to avoid overfitting.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6041" y="4880614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0" y="0"/>
                </a:moveTo>
                <a:lnTo>
                  <a:pt x="3286125" y="0"/>
                </a:lnTo>
                <a:lnTo>
                  <a:pt x="3286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440341" y="4994914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Patience: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10 epochs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40341" y="5185414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Restore:</a:t>
            </a: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Best weights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1000" y="5688341"/>
            <a:ext cx="11430000" cy="952500"/>
          </a:xfrm>
          <a:custGeom>
            <a:avLst/>
            <a:gdLst/>
            <a:ahLst/>
            <a:cxnLst/>
            <a:rect l="l" t="t" r="r" b="b"/>
            <a:pathLst>
              <a:path w="11430000" h="952500">
                <a:moveTo>
                  <a:pt x="0" y="0"/>
                </a:moveTo>
                <a:lnTo>
                  <a:pt x="11430000" y="0"/>
                </a:lnTo>
                <a:lnTo>
                  <a:pt x="114300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35794" y="5993141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107156"/>
                </a:lnTo>
                <a:cubicBezTo>
                  <a:pt x="0" y="130798"/>
                  <a:pt x="19221" y="150019"/>
                  <a:pt x="42863" y="150019"/>
                </a:cubicBezTo>
                <a:lnTo>
                  <a:pt x="257175" y="150019"/>
                </a:lnTo>
                <a:cubicBezTo>
                  <a:pt x="280816" y="150019"/>
                  <a:pt x="300038" y="130798"/>
                  <a:pt x="300038" y="107156"/>
                </a:cubicBezTo>
                <a:lnTo>
                  <a:pt x="300038" y="64294"/>
                </a:lnTo>
                <a:cubicBezTo>
                  <a:pt x="300038" y="40652"/>
                  <a:pt x="280816" y="21431"/>
                  <a:pt x="257175" y="21431"/>
                </a:cubicBezTo>
                <a:lnTo>
                  <a:pt x="42863" y="21431"/>
                </a:lnTo>
                <a:close/>
                <a:moveTo>
                  <a:pt x="187523" y="69652"/>
                </a:moveTo>
                <a:cubicBezTo>
                  <a:pt x="196395" y="69652"/>
                  <a:pt x="203597" y="76854"/>
                  <a:pt x="203597" y="85725"/>
                </a:cubicBezTo>
                <a:cubicBezTo>
                  <a:pt x="203597" y="94596"/>
                  <a:pt x="196395" y="101798"/>
                  <a:pt x="187523" y="101798"/>
                </a:cubicBezTo>
                <a:cubicBezTo>
                  <a:pt x="178652" y="101798"/>
                  <a:pt x="171450" y="94596"/>
                  <a:pt x="171450" y="85725"/>
                </a:cubicBezTo>
                <a:cubicBezTo>
                  <a:pt x="171450" y="76854"/>
                  <a:pt x="178652" y="69652"/>
                  <a:pt x="187523" y="69652"/>
                </a:cubicBezTo>
                <a:close/>
                <a:moveTo>
                  <a:pt x="225028" y="85725"/>
                </a:moveTo>
                <a:cubicBezTo>
                  <a:pt x="225028" y="76854"/>
                  <a:pt x="232230" y="69652"/>
                  <a:pt x="241102" y="69652"/>
                </a:cubicBezTo>
                <a:cubicBezTo>
                  <a:pt x="249973" y="69652"/>
                  <a:pt x="257175" y="76854"/>
                  <a:pt x="257175" y="85725"/>
                </a:cubicBezTo>
                <a:cubicBezTo>
                  <a:pt x="257175" y="94596"/>
                  <a:pt x="249973" y="101798"/>
                  <a:pt x="241102" y="101798"/>
                </a:cubicBezTo>
                <a:cubicBezTo>
                  <a:pt x="232230" y="101798"/>
                  <a:pt x="225028" y="94596"/>
                  <a:pt x="225028" y="85725"/>
                </a:cubicBezTo>
                <a:close/>
                <a:moveTo>
                  <a:pt x="42863" y="192881"/>
                </a:moveTo>
                <a:cubicBezTo>
                  <a:pt x="19221" y="192881"/>
                  <a:pt x="0" y="212102"/>
                  <a:pt x="0" y="235744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257175" y="321469"/>
                </a:lnTo>
                <a:cubicBezTo>
                  <a:pt x="280816" y="321469"/>
                  <a:pt x="300038" y="302248"/>
                  <a:pt x="300038" y="278606"/>
                </a:cubicBezTo>
                <a:lnTo>
                  <a:pt x="300038" y="235744"/>
                </a:lnTo>
                <a:cubicBezTo>
                  <a:pt x="300038" y="212102"/>
                  <a:pt x="280816" y="192881"/>
                  <a:pt x="257175" y="192881"/>
                </a:cubicBezTo>
                <a:lnTo>
                  <a:pt x="42863" y="192881"/>
                </a:lnTo>
                <a:close/>
                <a:moveTo>
                  <a:pt x="187523" y="241102"/>
                </a:moveTo>
                <a:cubicBezTo>
                  <a:pt x="196395" y="241102"/>
                  <a:pt x="203597" y="248304"/>
                  <a:pt x="203597" y="257175"/>
                </a:cubicBezTo>
                <a:cubicBezTo>
                  <a:pt x="203597" y="266046"/>
                  <a:pt x="196395" y="273248"/>
                  <a:pt x="187523" y="273248"/>
                </a:cubicBezTo>
                <a:cubicBezTo>
                  <a:pt x="178652" y="273248"/>
                  <a:pt x="171450" y="266046"/>
                  <a:pt x="171450" y="257175"/>
                </a:cubicBezTo>
                <a:cubicBezTo>
                  <a:pt x="171450" y="248304"/>
                  <a:pt x="178652" y="241102"/>
                  <a:pt x="187523" y="241102"/>
                </a:cubicBezTo>
                <a:close/>
                <a:moveTo>
                  <a:pt x="225028" y="257175"/>
                </a:moveTo>
                <a:cubicBezTo>
                  <a:pt x="225028" y="248304"/>
                  <a:pt x="232230" y="241102"/>
                  <a:pt x="241102" y="241102"/>
                </a:cubicBezTo>
                <a:cubicBezTo>
                  <a:pt x="249973" y="241102"/>
                  <a:pt x="257175" y="248304"/>
                  <a:pt x="257175" y="257175"/>
                </a:cubicBezTo>
                <a:cubicBezTo>
                  <a:pt x="257175" y="266046"/>
                  <a:pt x="249973" y="273248"/>
                  <a:pt x="241102" y="273248"/>
                </a:cubicBezTo>
                <a:cubicBezTo>
                  <a:pt x="232230" y="273248"/>
                  <a:pt x="225028" y="266046"/>
                  <a:pt x="225028" y="257175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152525" y="5916941"/>
            <a:ext cx="4095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Training Environment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52525" y="6183641"/>
            <a:ext cx="4076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GPU-accelerated training with TensorFlow/Keras framework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757535" y="5878841"/>
            <a:ext cx="866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~30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824210" y="6221741"/>
            <a:ext cx="800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min/epoch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333500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Performance Measurement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790588"/>
            <a:ext cx="115157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Multiple metrics are used to comprehensively assess model performance, providing both quantitative and qualitative insights into classification effectiveness.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2637007"/>
            <a:ext cx="2160270" cy="2103120"/>
          </a:xfrm>
          <a:custGeom>
            <a:avLst/>
            <a:gdLst/>
            <a:ahLst/>
            <a:cxnLst/>
            <a:rect l="l" t="t" r="r" b="b"/>
            <a:pathLst>
              <a:path w="2160270" h="2103120">
                <a:moveTo>
                  <a:pt x="0" y="0"/>
                </a:moveTo>
                <a:lnTo>
                  <a:pt x="2160270" y="0"/>
                </a:lnTo>
                <a:lnTo>
                  <a:pt x="2160270" y="2103120"/>
                </a:lnTo>
                <a:lnTo>
                  <a:pt x="0" y="2103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8240" y="28313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48740" y="30218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6257" y="3555206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020" y="3898106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Overall correctness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4202906"/>
            <a:ext cx="1771650" cy="342900"/>
          </a:xfrm>
          <a:custGeom>
            <a:avLst/>
            <a:gdLst/>
            <a:ahLst/>
            <a:cxnLst/>
            <a:rect l="l" t="t" r="r" b="b"/>
            <a:pathLst>
              <a:path w="1771650" h="342900">
                <a:moveTo>
                  <a:pt x="0" y="0"/>
                </a:moveTo>
                <a:lnTo>
                  <a:pt x="1771650" y="0"/>
                </a:lnTo>
                <a:lnTo>
                  <a:pt x="17716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5782" y="4202906"/>
            <a:ext cx="1838325" cy="3429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(TP+TN)/(Total)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01290" y="2637007"/>
            <a:ext cx="2160270" cy="2103120"/>
          </a:xfrm>
          <a:custGeom>
            <a:avLst/>
            <a:gdLst/>
            <a:ahLst/>
            <a:cxnLst/>
            <a:rect l="l" t="t" r="r" b="b"/>
            <a:pathLst>
              <a:path w="2160270" h="2103120">
                <a:moveTo>
                  <a:pt x="0" y="0"/>
                </a:moveTo>
                <a:lnTo>
                  <a:pt x="2160270" y="0"/>
                </a:lnTo>
                <a:lnTo>
                  <a:pt x="2160270" y="2103120"/>
                </a:lnTo>
                <a:lnTo>
                  <a:pt x="0" y="2103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74720" y="28313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0933" y="302180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852738" y="3555206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57500" y="3898106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Minimize false positives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95600" y="4202906"/>
            <a:ext cx="1771650" cy="342900"/>
          </a:xfrm>
          <a:custGeom>
            <a:avLst/>
            <a:gdLst/>
            <a:ahLst/>
            <a:cxnLst/>
            <a:rect l="l" t="t" r="r" b="b"/>
            <a:pathLst>
              <a:path w="1771650" h="342900">
                <a:moveTo>
                  <a:pt x="0" y="0"/>
                </a:moveTo>
                <a:lnTo>
                  <a:pt x="1771650" y="0"/>
                </a:lnTo>
                <a:lnTo>
                  <a:pt x="17716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862263" y="4202906"/>
            <a:ext cx="1838325" cy="3429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TP/(TP+FP)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17770" y="2637007"/>
            <a:ext cx="2160270" cy="2103120"/>
          </a:xfrm>
          <a:custGeom>
            <a:avLst/>
            <a:gdLst/>
            <a:ahLst/>
            <a:cxnLst/>
            <a:rect l="l" t="t" r="r" b="b"/>
            <a:pathLst>
              <a:path w="2160270" h="2103120">
                <a:moveTo>
                  <a:pt x="0" y="0"/>
                </a:moveTo>
                <a:lnTo>
                  <a:pt x="2160270" y="0"/>
                </a:lnTo>
                <a:lnTo>
                  <a:pt x="2160270" y="2103120"/>
                </a:lnTo>
                <a:lnTo>
                  <a:pt x="0" y="2103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791200" y="28313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981700" y="30218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69218" y="3555206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Recall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73980" y="3898106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Minimize false negatives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12080" y="4202906"/>
            <a:ext cx="1771650" cy="342900"/>
          </a:xfrm>
          <a:custGeom>
            <a:avLst/>
            <a:gdLst/>
            <a:ahLst/>
            <a:cxnLst/>
            <a:rect l="l" t="t" r="r" b="b"/>
            <a:pathLst>
              <a:path w="1771650" h="342900">
                <a:moveTo>
                  <a:pt x="0" y="0"/>
                </a:moveTo>
                <a:lnTo>
                  <a:pt x="1771650" y="0"/>
                </a:lnTo>
                <a:lnTo>
                  <a:pt x="17716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78743" y="4202906"/>
            <a:ext cx="1838325" cy="3429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TP/(TP+FN)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34250" y="2637007"/>
            <a:ext cx="2160270" cy="2103120"/>
          </a:xfrm>
          <a:custGeom>
            <a:avLst/>
            <a:gdLst/>
            <a:ahLst/>
            <a:cxnLst/>
            <a:rect l="l" t="t" r="r" b="b"/>
            <a:pathLst>
              <a:path w="2160270" h="2103120">
                <a:moveTo>
                  <a:pt x="0" y="0"/>
                </a:moveTo>
                <a:lnTo>
                  <a:pt x="2160270" y="0"/>
                </a:lnTo>
                <a:lnTo>
                  <a:pt x="2160270" y="2103120"/>
                </a:lnTo>
                <a:lnTo>
                  <a:pt x="0" y="2103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107680" y="28313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69605" y="302180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485698" y="3555206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F1-Score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90460" y="3898106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Harmonic mean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28560" y="4202906"/>
            <a:ext cx="1771650" cy="342900"/>
          </a:xfrm>
          <a:custGeom>
            <a:avLst/>
            <a:gdLst/>
            <a:ahLst/>
            <a:cxnLst/>
            <a:rect l="l" t="t" r="r" b="b"/>
            <a:pathLst>
              <a:path w="1771650" h="342900">
                <a:moveTo>
                  <a:pt x="0" y="0"/>
                </a:moveTo>
                <a:lnTo>
                  <a:pt x="1771650" y="0"/>
                </a:lnTo>
                <a:lnTo>
                  <a:pt x="17716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5223" y="4202906"/>
            <a:ext cx="1838325" cy="3429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2×(P×R)/(P+R)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650730" y="2637007"/>
            <a:ext cx="2160270" cy="2103120"/>
          </a:xfrm>
          <a:custGeom>
            <a:avLst/>
            <a:gdLst/>
            <a:ahLst/>
            <a:cxnLst/>
            <a:rect l="l" t="t" r="r" b="b"/>
            <a:pathLst>
              <a:path w="2160270" h="2103120">
                <a:moveTo>
                  <a:pt x="0" y="0"/>
                </a:moveTo>
                <a:lnTo>
                  <a:pt x="2160270" y="0"/>
                </a:lnTo>
                <a:lnTo>
                  <a:pt x="2160270" y="2103120"/>
                </a:lnTo>
                <a:lnTo>
                  <a:pt x="0" y="21031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424160" y="28313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0628948" y="302180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42863"/>
                </a:moveTo>
                <a:lnTo>
                  <a:pt x="171450" y="71438"/>
                </a:lnTo>
                <a:lnTo>
                  <a:pt x="142875" y="71438"/>
                </a:lnTo>
                <a:lnTo>
                  <a:pt x="142875" y="42863"/>
                </a:lnTo>
                <a:lnTo>
                  <a:pt x="171450" y="42863"/>
                </a:lnTo>
                <a:close/>
                <a:moveTo>
                  <a:pt x="171450" y="100013"/>
                </a:moveTo>
                <a:lnTo>
                  <a:pt x="171450" y="128588"/>
                </a:lnTo>
                <a:lnTo>
                  <a:pt x="142875" y="128588"/>
                </a:lnTo>
                <a:lnTo>
                  <a:pt x="142875" y="100013"/>
                </a:lnTo>
                <a:lnTo>
                  <a:pt x="171450" y="100013"/>
                </a:lnTo>
                <a:close/>
                <a:moveTo>
                  <a:pt x="171450" y="157163"/>
                </a:moveTo>
                <a:lnTo>
                  <a:pt x="171450" y="185738"/>
                </a:lnTo>
                <a:lnTo>
                  <a:pt x="142875" y="185738"/>
                </a:lnTo>
                <a:lnTo>
                  <a:pt x="142875" y="157163"/>
                </a:lnTo>
                <a:lnTo>
                  <a:pt x="171450" y="157163"/>
                </a:lnTo>
                <a:close/>
                <a:moveTo>
                  <a:pt x="114300" y="128588"/>
                </a:moveTo>
                <a:lnTo>
                  <a:pt x="85725" y="128588"/>
                </a:lnTo>
                <a:lnTo>
                  <a:pt x="85725" y="100013"/>
                </a:lnTo>
                <a:lnTo>
                  <a:pt x="114300" y="100013"/>
                </a:lnTo>
                <a:lnTo>
                  <a:pt x="114300" y="128588"/>
                </a:lnTo>
                <a:close/>
                <a:moveTo>
                  <a:pt x="85725" y="157163"/>
                </a:moveTo>
                <a:lnTo>
                  <a:pt x="114300" y="157163"/>
                </a:lnTo>
                <a:lnTo>
                  <a:pt x="114300" y="185738"/>
                </a:lnTo>
                <a:lnTo>
                  <a:pt x="85725" y="185738"/>
                </a:lnTo>
                <a:lnTo>
                  <a:pt x="85725" y="157163"/>
                </a:lnTo>
                <a:close/>
                <a:moveTo>
                  <a:pt x="57150" y="128588"/>
                </a:moveTo>
                <a:lnTo>
                  <a:pt x="28575" y="128588"/>
                </a:lnTo>
                <a:lnTo>
                  <a:pt x="28575" y="100013"/>
                </a:lnTo>
                <a:lnTo>
                  <a:pt x="57150" y="100013"/>
                </a:lnTo>
                <a:lnTo>
                  <a:pt x="57150" y="128588"/>
                </a:lnTo>
                <a:close/>
                <a:moveTo>
                  <a:pt x="28575" y="157163"/>
                </a:moveTo>
                <a:lnTo>
                  <a:pt x="57150" y="157163"/>
                </a:lnTo>
                <a:lnTo>
                  <a:pt x="57150" y="185738"/>
                </a:lnTo>
                <a:lnTo>
                  <a:pt x="28575" y="185738"/>
                </a:lnTo>
                <a:lnTo>
                  <a:pt x="28575" y="157163"/>
                </a:lnTo>
                <a:close/>
                <a:moveTo>
                  <a:pt x="28575" y="71438"/>
                </a:moveTo>
                <a:lnTo>
                  <a:pt x="28575" y="42863"/>
                </a:lnTo>
                <a:lnTo>
                  <a:pt x="57150" y="42863"/>
                </a:lnTo>
                <a:lnTo>
                  <a:pt x="57150" y="71438"/>
                </a:lnTo>
                <a:lnTo>
                  <a:pt x="28575" y="71438"/>
                </a:lnTo>
                <a:close/>
                <a:moveTo>
                  <a:pt x="85725" y="71438"/>
                </a:moveTo>
                <a:lnTo>
                  <a:pt x="85725" y="42863"/>
                </a:lnTo>
                <a:lnTo>
                  <a:pt x="114300" y="42863"/>
                </a:lnTo>
                <a:lnTo>
                  <a:pt x="114300" y="71438"/>
                </a:lnTo>
                <a:lnTo>
                  <a:pt x="85725" y="71438"/>
                </a:lnTo>
                <a:close/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802177" y="3555206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806940" y="3898106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Per-class analysis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845040" y="4202906"/>
            <a:ext cx="1771650" cy="342900"/>
          </a:xfrm>
          <a:custGeom>
            <a:avLst/>
            <a:gdLst/>
            <a:ahLst/>
            <a:cxnLst/>
            <a:rect l="l" t="t" r="r" b="b"/>
            <a:pathLst>
              <a:path w="1771650" h="342900">
                <a:moveTo>
                  <a:pt x="0" y="0"/>
                </a:moveTo>
                <a:lnTo>
                  <a:pt x="1771650" y="0"/>
                </a:lnTo>
                <a:lnTo>
                  <a:pt x="17716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811702" y="4202906"/>
            <a:ext cx="1838325" cy="3429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Detailed breakdown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48768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09600" y="4876800"/>
            <a:ext cx="5467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Why Multiple Metrics?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19125" y="5359285"/>
            <a:ext cx="54483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 medical diagnosis, </a:t>
            </a: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accuracy alone is insufficient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. We need to minimize both false positives (unnecessary treatment) and false negatives (missed diagnosis). Precision and recall provide a complete picture of model reliability.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0300" y="4876800"/>
            <a:ext cx="5600700" cy="1600200"/>
          </a:xfrm>
          <a:custGeom>
            <a:avLst/>
            <a:gdLst/>
            <a:ahLst/>
            <a:cxnLst/>
            <a:rect l="l" t="t" r="r" b="b"/>
            <a:pathLst>
              <a:path w="5600700" h="1600200">
                <a:moveTo>
                  <a:pt x="0" y="0"/>
                </a:moveTo>
                <a:lnTo>
                  <a:pt x="5600700" y="0"/>
                </a:lnTo>
                <a:lnTo>
                  <a:pt x="56007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00800" y="5067300"/>
            <a:ext cx="531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Clinical Significance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19850" y="5486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667500" y="5448300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High Precision:</a:t>
            </a: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Reduces unnecessary treatments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9850" y="5791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667500" y="5753100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High Recall:</a:t>
            </a: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Minimizes missed diagnoses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19850" y="609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667500" y="6057900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F1-Score:</a:t>
            </a: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Balances both concerns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825" y="323825"/>
            <a:ext cx="11601020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kern="0" spc="89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3825" y="550502"/>
            <a:ext cx="11738645" cy="38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6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Results: Model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3825" y="1133386"/>
            <a:ext cx="7885131" cy="2542024"/>
          </a:xfrm>
          <a:custGeom>
            <a:avLst/>
            <a:gdLst/>
            <a:ahLst/>
            <a:cxnLst/>
            <a:rect l="l" t="t" r="r" b="b"/>
            <a:pathLst>
              <a:path w="7885131" h="2542024">
                <a:moveTo>
                  <a:pt x="0" y="0"/>
                </a:moveTo>
                <a:lnTo>
                  <a:pt x="7885131" y="0"/>
                </a:lnTo>
                <a:lnTo>
                  <a:pt x="7885131" y="2542024"/>
                </a:lnTo>
                <a:lnTo>
                  <a:pt x="0" y="254202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69546" y="1327681"/>
            <a:ext cx="7593689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3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Key Achievement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3825" y="1716176"/>
            <a:ext cx="7885131" cy="7771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12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98.92%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546" y="2622885"/>
            <a:ext cx="7593689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3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Validation 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1689" y="3011364"/>
            <a:ext cx="7569402" cy="4776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45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proposed EfficientNet-B0 based model achieves exceptional performance, demonstrating strong learning ability and excellent feature discrimination among leukemia subtypes.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3825" y="3971654"/>
            <a:ext cx="7982279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Performance Highlights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4450" y="4526958"/>
            <a:ext cx="3868086" cy="848421"/>
          </a:xfrm>
          <a:custGeom>
            <a:avLst/>
            <a:gdLst/>
            <a:ahLst/>
            <a:cxnLst/>
            <a:rect l="l" t="t" r="r" b="b"/>
            <a:pathLst>
              <a:path w="3868086" h="848421">
                <a:moveTo>
                  <a:pt x="0" y="0"/>
                </a:moveTo>
                <a:lnTo>
                  <a:pt x="3868086" y="0"/>
                </a:lnTo>
                <a:lnTo>
                  <a:pt x="3868086" y="848421"/>
                </a:lnTo>
                <a:lnTo>
                  <a:pt x="0" y="8484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4358" y="4659733"/>
            <a:ext cx="3748271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95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99%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836" y="5048322"/>
            <a:ext cx="3667315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Training Accuracy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0870" y="4526958"/>
            <a:ext cx="3868086" cy="848421"/>
          </a:xfrm>
          <a:custGeom>
            <a:avLst/>
            <a:gdLst/>
            <a:ahLst/>
            <a:cxnLst/>
            <a:rect l="l" t="t" r="r" b="b"/>
            <a:pathLst>
              <a:path w="3868086" h="848421">
                <a:moveTo>
                  <a:pt x="0" y="0"/>
                </a:moveTo>
                <a:lnTo>
                  <a:pt x="3868086" y="0"/>
                </a:lnTo>
                <a:lnTo>
                  <a:pt x="3868086" y="848421"/>
                </a:lnTo>
                <a:lnTo>
                  <a:pt x="0" y="8484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00777" y="4659733"/>
            <a:ext cx="3748271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95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98.92%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41256" y="5048322"/>
            <a:ext cx="3667315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Validation Accuracy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4450" y="5511398"/>
            <a:ext cx="3868086" cy="848421"/>
          </a:xfrm>
          <a:custGeom>
            <a:avLst/>
            <a:gdLst/>
            <a:ahLst/>
            <a:cxnLst/>
            <a:rect l="l" t="t" r="r" b="b"/>
            <a:pathLst>
              <a:path w="3868086" h="848421">
                <a:moveTo>
                  <a:pt x="0" y="0"/>
                </a:moveTo>
                <a:lnTo>
                  <a:pt x="3868086" y="0"/>
                </a:lnTo>
                <a:lnTo>
                  <a:pt x="3868086" y="848421"/>
                </a:lnTo>
                <a:lnTo>
                  <a:pt x="0" y="8484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94358" y="5644157"/>
            <a:ext cx="3748271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95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0.08%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836" y="6032746"/>
            <a:ext cx="3667315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Accuracy Gap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40870" y="5511398"/>
            <a:ext cx="3868086" cy="848421"/>
          </a:xfrm>
          <a:custGeom>
            <a:avLst/>
            <a:gdLst/>
            <a:ahLst/>
            <a:cxnLst/>
            <a:rect l="l" t="t" r="r" b="b"/>
            <a:pathLst>
              <a:path w="3868086" h="848421">
                <a:moveTo>
                  <a:pt x="0" y="0"/>
                </a:moveTo>
                <a:lnTo>
                  <a:pt x="3868086" y="0"/>
                </a:lnTo>
                <a:lnTo>
                  <a:pt x="3868086" y="848421"/>
                </a:lnTo>
                <a:lnTo>
                  <a:pt x="0" y="8484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00777" y="5644157"/>
            <a:ext cx="3748271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95" b="1" dirty="0">
                <a:solidFill>
                  <a:srgbClr val="8B0000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~20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1256" y="6032746"/>
            <a:ext cx="3667315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Epochs to Converge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66195" y="1133386"/>
            <a:ext cx="3400159" cy="4015426"/>
          </a:xfrm>
          <a:custGeom>
            <a:avLst/>
            <a:gdLst/>
            <a:ahLst/>
            <a:cxnLst/>
            <a:rect l="l" t="t" r="r" b="b"/>
            <a:pathLst>
              <a:path w="3400159" h="4015426">
                <a:moveTo>
                  <a:pt x="0" y="0"/>
                </a:moveTo>
                <a:lnTo>
                  <a:pt x="3400159" y="0"/>
                </a:lnTo>
                <a:lnTo>
                  <a:pt x="3400159" y="4015426"/>
                </a:lnTo>
                <a:lnTo>
                  <a:pt x="0" y="401542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60489" y="1327681"/>
            <a:ext cx="3108717" cy="259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Why This Performance Matters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60489" y="1716176"/>
            <a:ext cx="3084430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Clinical Applicability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60489" y="2007618"/>
            <a:ext cx="3076335" cy="420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High accuracy ensures reliable diagnostic support in real-world clinical environments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60489" y="2558120"/>
            <a:ext cx="3084430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Reduced Workload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60489" y="2849563"/>
            <a:ext cx="3076335" cy="420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Automated classification decreases manual analysis burden on pathologists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60489" y="3400064"/>
            <a:ext cx="3084430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Faster Diagnosis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60489" y="3691507"/>
            <a:ext cx="3076335" cy="420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Near-instant classification accelerates treatment planning and patient care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60489" y="4242009"/>
            <a:ext cx="3084430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60489" y="4533451"/>
            <a:ext cx="3076335" cy="420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AI eliminates inter-observer variation, providing uniform diagnostic standards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72671" y="5284724"/>
            <a:ext cx="3388825" cy="1502547"/>
          </a:xfrm>
          <a:custGeom>
            <a:avLst/>
            <a:gdLst/>
            <a:ahLst/>
            <a:cxnLst/>
            <a:rect l="l" t="t" r="r" b="b"/>
            <a:pathLst>
              <a:path w="3388825" h="1502547">
                <a:moveTo>
                  <a:pt x="0" y="0"/>
                </a:moveTo>
                <a:lnTo>
                  <a:pt x="3388825" y="0"/>
                </a:lnTo>
                <a:lnTo>
                  <a:pt x="3388825" y="1502547"/>
                </a:lnTo>
                <a:lnTo>
                  <a:pt x="0" y="15025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641060" y="5453110"/>
            <a:ext cx="3133004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Comparison with Literature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41060" y="5776935"/>
            <a:ext cx="1198151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Rehman et al. (2020)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366855" y="5776935"/>
            <a:ext cx="388590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98.6%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41060" y="6035994"/>
            <a:ext cx="623363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Loey et al.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87195" y="6035994"/>
            <a:ext cx="372398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98.1%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41060" y="6295054"/>
            <a:ext cx="3052048" cy="323825"/>
          </a:xfrm>
          <a:custGeom>
            <a:avLst/>
            <a:gdLst/>
            <a:ahLst/>
            <a:cxnLst/>
            <a:rect l="l" t="t" r="r" b="b"/>
            <a:pathLst>
              <a:path w="3052048" h="323825">
                <a:moveTo>
                  <a:pt x="0" y="0"/>
                </a:moveTo>
                <a:lnTo>
                  <a:pt x="3052048" y="0"/>
                </a:lnTo>
                <a:lnTo>
                  <a:pt x="3052048" y="323825"/>
                </a:lnTo>
                <a:lnTo>
                  <a:pt x="0" y="3238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705825" y="6359819"/>
            <a:ext cx="769084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Our Method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42891" y="6359819"/>
            <a:ext cx="445259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98.92%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855" y="330855"/>
            <a:ext cx="11588190" cy="165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kern="0" spc="91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855" y="562453"/>
            <a:ext cx="11728803" cy="3970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25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Confusion Matrix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0855" y="1157992"/>
            <a:ext cx="7890887" cy="264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Per-Class 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0855" y="1554921"/>
            <a:ext cx="7866073" cy="4880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confusion matrix provides detailed insight into classification performance across all four leukemia categories, revealing the model's ability to distinguish between similar malignant stages.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4874" y="2377440"/>
            <a:ext cx="7781705" cy="3574538"/>
          </a:xfrm>
          <a:custGeom>
            <a:avLst/>
            <a:gdLst/>
            <a:ahLst/>
            <a:cxnLst/>
            <a:rect l="l" t="t" r="r" b="b"/>
            <a:pathLst>
              <a:path w="7781705" h="2587285">
                <a:moveTo>
                  <a:pt x="0" y="0"/>
                </a:moveTo>
                <a:lnTo>
                  <a:pt x="7781705" y="0"/>
                </a:lnTo>
                <a:lnTo>
                  <a:pt x="7781705" y="2587285"/>
                </a:lnTo>
                <a:lnTo>
                  <a:pt x="0" y="25872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60549" y="6192492"/>
            <a:ext cx="7781705" cy="370557"/>
          </a:xfrm>
          <a:custGeom>
            <a:avLst/>
            <a:gdLst/>
            <a:ahLst/>
            <a:cxnLst/>
            <a:rect l="l" t="t" r="r" b="b"/>
            <a:pathLst>
              <a:path w="7781705" h="370557">
                <a:moveTo>
                  <a:pt x="0" y="0"/>
                </a:moveTo>
                <a:lnTo>
                  <a:pt x="7781705" y="0"/>
                </a:lnTo>
                <a:lnTo>
                  <a:pt x="7781705" y="370557"/>
                </a:lnTo>
                <a:lnTo>
                  <a:pt x="0" y="3705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8488" y="6332461"/>
            <a:ext cx="7634475" cy="165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0" b="1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Figure 8:</a:t>
            </a:r>
            <a:r>
              <a:rPr lang="en-US" sz="910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Confusion matrix showing classification performance across four diagnostic categories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85309" y="1157992"/>
            <a:ext cx="3473976" cy="3887544"/>
          </a:xfrm>
          <a:custGeom>
            <a:avLst/>
            <a:gdLst/>
            <a:ahLst/>
            <a:cxnLst/>
            <a:rect l="l" t="t" r="r" b="b"/>
            <a:pathLst>
              <a:path w="3473976" h="3887544">
                <a:moveTo>
                  <a:pt x="0" y="0"/>
                </a:moveTo>
                <a:lnTo>
                  <a:pt x="3473976" y="0"/>
                </a:lnTo>
                <a:lnTo>
                  <a:pt x="3473976" y="3887544"/>
                </a:lnTo>
                <a:lnTo>
                  <a:pt x="0" y="388754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583822" y="1356505"/>
            <a:ext cx="3176206" cy="264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Matrix Interpretation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83822" y="1753434"/>
            <a:ext cx="3151392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High Diagonal Dominance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83822" y="2051203"/>
            <a:ext cx="3143121" cy="64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Strong diagonal values indicate </a:t>
            </a:r>
            <a:r>
              <a:rPr lang="en-US" sz="104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correct categorization</a:t>
            </a:r>
            <a:r>
              <a:rPr lang="en-US" sz="104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across all four classes, demonstrating the model's accuracy.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83822" y="2828712"/>
            <a:ext cx="3151392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Low Off-Diagonal Values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83822" y="3126481"/>
            <a:ext cx="3143121" cy="64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Minimal misclassification shows the model's ability to </a:t>
            </a:r>
            <a:r>
              <a:rPr lang="en-US" sz="104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distinguish between similar malignant stages</a:t>
            </a:r>
            <a:r>
              <a:rPr lang="en-US" sz="104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effectively.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83822" y="3903990"/>
            <a:ext cx="3151392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Balanced Performance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83822" y="4201759"/>
            <a:ext cx="3143121" cy="64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Consistent accuracy across all classes indicates </a:t>
            </a:r>
            <a:r>
              <a:rPr lang="en-US" sz="104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unbiased learning</a:t>
            </a:r>
            <a:r>
              <a:rPr lang="en-US" sz="104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without favoring any particular category.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85309" y="5100389"/>
            <a:ext cx="3462396" cy="1667508"/>
          </a:xfrm>
          <a:custGeom>
            <a:avLst/>
            <a:gdLst/>
            <a:ahLst/>
            <a:cxnLst/>
            <a:rect l="l" t="t" r="r" b="b"/>
            <a:pathLst>
              <a:path w="3462396" h="1667508">
                <a:moveTo>
                  <a:pt x="0" y="0"/>
                </a:moveTo>
                <a:lnTo>
                  <a:pt x="3462396" y="0"/>
                </a:lnTo>
                <a:lnTo>
                  <a:pt x="3462396" y="1667508"/>
                </a:lnTo>
                <a:lnTo>
                  <a:pt x="0" y="16675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563970" y="5356439"/>
            <a:ext cx="3201020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Class-wise Accuracy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63970" y="5687294"/>
            <a:ext cx="471468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Benign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354628" y="5687294"/>
            <a:ext cx="388754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99.2%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63970" y="5951978"/>
            <a:ext cx="1000836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Pro-B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369413" y="5951978"/>
            <a:ext cx="380483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98.5%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63970" y="6216662"/>
            <a:ext cx="992564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Pre-B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348527" y="6216662"/>
            <a:ext cx="397026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98.8%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563970" y="6481346"/>
            <a:ext cx="1315148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Early Pre-B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371583" y="6481346"/>
            <a:ext cx="372212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99.1%</a:t>
            </a:r>
            <a:endParaRPr lang="en-US" sz="16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rcRect l="6963" r="12415"/>
          <a:stretch>
            <a:fillRect/>
          </a:stretch>
        </p:blipFill>
        <p:spPr>
          <a:xfrm>
            <a:off x="1371784" y="2560380"/>
            <a:ext cx="4954013" cy="326684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38" y="368338"/>
            <a:ext cx="11519782" cy="184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kern="0" spc="102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338" y="626175"/>
            <a:ext cx="11676326" cy="442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Training Curves: Loss &amp; Accuracy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43284" y="1588266"/>
            <a:ext cx="7237851" cy="3850589"/>
          </a:xfrm>
          <a:custGeom>
            <a:avLst/>
            <a:gdLst/>
            <a:ahLst/>
            <a:cxnLst/>
            <a:rect l="l" t="t" r="r" b="b"/>
            <a:pathLst>
              <a:path w="5615318" h="2880406">
                <a:moveTo>
                  <a:pt x="0" y="0"/>
                </a:moveTo>
                <a:lnTo>
                  <a:pt x="5615318" y="0"/>
                </a:lnTo>
                <a:lnTo>
                  <a:pt x="5615318" y="2880406"/>
                </a:lnTo>
                <a:lnTo>
                  <a:pt x="0" y="28804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https://kimi-img.moonshot.cn/pub/slides/26-03-24-12:09:55-d710t4sriic7tln57o9g.png"/>
          <p:cNvPicPr>
            <a:picLocks noChangeAspect="1"/>
          </p:cNvPicPr>
          <p:nvPr/>
        </p:nvPicPr>
        <p:blipFill>
          <a:blip r:embed="rId1"/>
          <a:srcRect t="36" b="36"/>
          <a:stretch>
            <a:fillRect/>
          </a:stretch>
        </p:blipFill>
        <p:spPr>
          <a:xfrm>
            <a:off x="1894304" y="1871449"/>
            <a:ext cx="6819776" cy="3446819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9243753" y="4294318"/>
            <a:ext cx="1870364" cy="1145266"/>
          </a:xfrm>
          <a:custGeom>
            <a:avLst/>
            <a:gdLst/>
            <a:ahLst/>
            <a:cxnLst/>
            <a:rect l="l" t="t" r="r" b="b"/>
            <a:pathLst>
              <a:path w="5615318" h="412539">
                <a:moveTo>
                  <a:pt x="0" y="0"/>
                </a:moveTo>
                <a:lnTo>
                  <a:pt x="5615318" y="0"/>
                </a:lnTo>
                <a:lnTo>
                  <a:pt x="5615318" y="412539"/>
                </a:lnTo>
                <a:lnTo>
                  <a:pt x="0" y="412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9337225" y="4365869"/>
            <a:ext cx="1590534" cy="1002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b="1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Figure 10:</a:t>
            </a:r>
            <a:r>
              <a:rPr lang="en-US" sz="1015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Training and validation accuracy curves demonstrating learning progress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21313" y="5571011"/>
            <a:ext cx="74220" cy="1086598"/>
          </a:xfrm>
          <a:custGeom>
            <a:avLst/>
            <a:gdLst/>
            <a:ahLst/>
            <a:cxnLst/>
            <a:rect l="l" t="t" r="r" b="b"/>
            <a:pathLst>
              <a:path w="36834" h="1086598">
                <a:moveTo>
                  <a:pt x="0" y="0"/>
                </a:moveTo>
                <a:lnTo>
                  <a:pt x="36834" y="0"/>
                </a:lnTo>
                <a:lnTo>
                  <a:pt x="36834" y="1086598"/>
                </a:lnTo>
                <a:lnTo>
                  <a:pt x="0" y="10865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723899" y="5571011"/>
            <a:ext cx="11058715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Accuracy Curve Analysis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23900" y="5939349"/>
            <a:ext cx="11021605" cy="718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Accuracy curves show </a:t>
            </a: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steady improvement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throughout training, reaching near-optimal performance within 20 epochs. The minimal gap between curves validates the model's ability to learn </a:t>
            </a: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meaningful and discriminative features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Box 21"/>
          <p:cNvSpPr txBox="1"/>
          <p:nvPr/>
        </p:nvSpPr>
        <p:spPr>
          <a:xfrm>
            <a:off x="368338" y="1113736"/>
            <a:ext cx="349965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orts Mill Goudy" panose="02000503000000000000" pitchFamily="34" charset="0"/>
              </a:rPr>
              <a:t>Training vs Accuracy curve</a:t>
            </a:r>
            <a:endParaRPr lang="en-IN" sz="1700" b="1" dirty="0">
              <a:solidFill>
                <a:schemeClr val="tx1">
                  <a:lumMod val="95000"/>
                  <a:lumOff val="5000"/>
                </a:schemeClr>
              </a:solidFill>
              <a:latin typeface="Sorts Mill Goudy" panose="02000503000000000000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779948" y="1610457"/>
            <a:ext cx="7796314" cy="3682211"/>
          </a:xfrm>
          <a:custGeom>
            <a:avLst/>
            <a:gdLst/>
            <a:ahLst/>
            <a:cxnLst/>
            <a:rect l="l" t="t" r="r" b="b"/>
            <a:pathLst>
              <a:path w="5615318" h="2880406">
                <a:moveTo>
                  <a:pt x="0" y="0"/>
                </a:moveTo>
                <a:lnTo>
                  <a:pt x="5615318" y="0"/>
                </a:lnTo>
                <a:lnTo>
                  <a:pt x="5615318" y="2880406"/>
                </a:lnTo>
                <a:lnTo>
                  <a:pt x="0" y="28804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3" name="Image 0" descr="https://kimi-img.moonshot.cn/pub/slides/26-03-24-12:09:52-d710t46k31qk6d5kk6og.png"/>
          <p:cNvPicPr>
            <a:picLocks noChangeAspect="1"/>
          </p:cNvPicPr>
          <p:nvPr/>
        </p:nvPicPr>
        <p:blipFill>
          <a:blip r:embed="rId1"/>
          <a:srcRect t="36" b="36"/>
          <a:stretch>
            <a:fillRect/>
          </a:stretch>
        </p:blipFill>
        <p:spPr>
          <a:xfrm>
            <a:off x="2278931" y="1749507"/>
            <a:ext cx="6755863" cy="3414516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4"/>
          <p:cNvSpPr/>
          <p:nvPr/>
        </p:nvSpPr>
        <p:spPr>
          <a:xfrm>
            <a:off x="9863773" y="4165261"/>
            <a:ext cx="1599477" cy="1143314"/>
          </a:xfrm>
          <a:custGeom>
            <a:avLst/>
            <a:gdLst/>
            <a:ahLst/>
            <a:cxnLst/>
            <a:rect l="l" t="t" r="r" b="b"/>
            <a:pathLst>
              <a:path w="5615318" h="412539">
                <a:moveTo>
                  <a:pt x="0" y="0"/>
                </a:moveTo>
                <a:lnTo>
                  <a:pt x="5615318" y="0"/>
                </a:lnTo>
                <a:lnTo>
                  <a:pt x="5615318" y="412539"/>
                </a:lnTo>
                <a:lnTo>
                  <a:pt x="0" y="412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9954340" y="4321564"/>
            <a:ext cx="1418341" cy="9513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b="1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Figure 9:</a:t>
            </a:r>
            <a:r>
              <a:rPr lang="en-US" sz="1015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Training and validation loss curves showing convergence behavior</a:t>
            </a:r>
            <a:endParaRPr lang="en-US" sz="1600" dirty="0"/>
          </a:p>
        </p:txBody>
      </p:sp>
      <p:sp>
        <p:nvSpPr>
          <p:cNvPr id="6" name="Shape 8"/>
          <p:cNvSpPr/>
          <p:nvPr/>
        </p:nvSpPr>
        <p:spPr>
          <a:xfrm flipH="1">
            <a:off x="512490" y="5582767"/>
            <a:ext cx="96724" cy="927639"/>
          </a:xfrm>
          <a:custGeom>
            <a:avLst/>
            <a:gdLst/>
            <a:ahLst/>
            <a:cxnLst/>
            <a:rect l="l" t="t" r="r" b="b"/>
            <a:pathLst>
              <a:path w="36834" h="1086598">
                <a:moveTo>
                  <a:pt x="0" y="0"/>
                </a:moveTo>
                <a:lnTo>
                  <a:pt x="36834" y="0"/>
                </a:lnTo>
                <a:lnTo>
                  <a:pt x="36834" y="1086598"/>
                </a:lnTo>
                <a:lnTo>
                  <a:pt x="0" y="10865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9"/>
          <p:cNvSpPr/>
          <p:nvPr/>
        </p:nvSpPr>
        <p:spPr>
          <a:xfrm>
            <a:off x="700653" y="5591376"/>
            <a:ext cx="10918772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Loss Curve Analysis</a:t>
            </a:r>
            <a:endParaRPr lang="en-US" sz="1600" dirty="0"/>
          </a:p>
        </p:txBody>
      </p:sp>
      <p:sp>
        <p:nvSpPr>
          <p:cNvPr id="8" name="Text 10"/>
          <p:cNvSpPr/>
          <p:nvPr/>
        </p:nvSpPr>
        <p:spPr>
          <a:xfrm>
            <a:off x="700653" y="5872695"/>
            <a:ext cx="10882132" cy="718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Both curves exhibit </a:t>
            </a: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rapid decrease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during initial epochs followed by gradual convergence, indicating efficient optimization. The close alignment between training and validation loss confirms </a:t>
            </a: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minimal overfitting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and good generalization.</a:t>
            </a:r>
            <a:endParaRPr lang="en-US" sz="1300" dirty="0"/>
          </a:p>
        </p:txBody>
      </p:sp>
      <p:sp>
        <p:nvSpPr>
          <p:cNvPr id="13" name="Text 0"/>
          <p:cNvSpPr/>
          <p:nvPr/>
        </p:nvSpPr>
        <p:spPr>
          <a:xfrm>
            <a:off x="368338" y="368338"/>
            <a:ext cx="11519782" cy="184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kern="0" spc="102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12</a:t>
            </a:r>
            <a:endParaRPr lang="en-US" sz="1600" dirty="0"/>
          </a:p>
        </p:txBody>
      </p:sp>
      <p:sp>
        <p:nvSpPr>
          <p:cNvPr id="14" name="Text 1"/>
          <p:cNvSpPr/>
          <p:nvPr/>
        </p:nvSpPr>
        <p:spPr>
          <a:xfrm>
            <a:off x="368338" y="626175"/>
            <a:ext cx="11676326" cy="442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Training Curves: Loss &amp; Accuracy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368338" y="1113736"/>
            <a:ext cx="349965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orts Mill Goudy" panose="02000503000000000000" pitchFamily="34" charset="0"/>
              </a:rPr>
              <a:t>Training vs Loss curve</a:t>
            </a:r>
            <a:endParaRPr lang="en-IN" sz="1700" b="1" dirty="0">
              <a:solidFill>
                <a:schemeClr val="tx1">
                  <a:lumMod val="95000"/>
                  <a:lumOff val="5000"/>
                </a:schemeClr>
              </a:solidFill>
              <a:latin typeface="Sorts Mill Goudy" panose="02000503000000000000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42" y="333342"/>
            <a:ext cx="11583650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kern="0" spc="92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3342" y="566682"/>
            <a:ext cx="11725321" cy="4000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Sample Prediction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342" y="1166699"/>
            <a:ext cx="7858548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Real-World Inference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342" y="1566612"/>
            <a:ext cx="7833548" cy="49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The model demonstrates strong generalization capability on real-world blood smear images, providing not only class labels but also </a:t>
            </a: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confidence scores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that indicate prediction reliability.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553" y="2577482"/>
            <a:ext cx="3806771" cy="2449322"/>
          </a:xfrm>
          <a:custGeom>
            <a:avLst/>
            <a:gdLst/>
            <a:ahLst/>
            <a:cxnLst/>
            <a:rect l="l" t="t" r="r" b="b"/>
            <a:pathLst>
              <a:path w="3806771" h="1990054">
                <a:moveTo>
                  <a:pt x="0" y="0"/>
                </a:moveTo>
                <a:lnTo>
                  <a:pt x="3806771" y="0"/>
                </a:lnTo>
                <a:lnTo>
                  <a:pt x="3806771" y="1990054"/>
                </a:lnTo>
                <a:lnTo>
                  <a:pt x="0" y="19900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531889" y="4448372"/>
            <a:ext cx="3541763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Input Image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1891" y="4652847"/>
            <a:ext cx="3533430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Blood smear microscopic image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055" y="4793881"/>
            <a:ext cx="3525096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8B000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224×224 pixels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36577" y="2584150"/>
            <a:ext cx="3816771" cy="2449322"/>
          </a:xfrm>
          <a:custGeom>
            <a:avLst/>
            <a:gdLst/>
            <a:ahLst/>
            <a:cxnLst/>
            <a:rect l="l" t="t" r="r" b="b"/>
            <a:pathLst>
              <a:path w="3816771" h="2000055">
                <a:moveTo>
                  <a:pt x="0" y="0"/>
                </a:moveTo>
                <a:lnTo>
                  <a:pt x="3816771" y="0"/>
                </a:lnTo>
                <a:lnTo>
                  <a:pt x="3816771" y="2000055"/>
                </a:lnTo>
                <a:lnTo>
                  <a:pt x="0" y="200005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36577" y="2816434"/>
            <a:ext cx="3733435" cy="500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5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0747" y="3376576"/>
            <a:ext cx="3558431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0747" y="3702140"/>
            <a:ext cx="3550097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11579" y="3985770"/>
            <a:ext cx="3608432" cy="300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97%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09289" y="4396590"/>
            <a:ext cx="3541763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9FAFB">
                    <a:alpha val="80000"/>
                  </a:srgbClr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342" y="5479742"/>
            <a:ext cx="11583650" cy="1110448"/>
          </a:xfrm>
          <a:custGeom>
            <a:avLst/>
            <a:gdLst/>
            <a:ahLst/>
            <a:cxnLst/>
            <a:rect l="l" t="t" r="r" b="b"/>
            <a:pathLst>
              <a:path w="7741878" h="1100030">
                <a:moveTo>
                  <a:pt x="0" y="0"/>
                </a:moveTo>
                <a:lnTo>
                  <a:pt x="7741878" y="0"/>
                </a:lnTo>
                <a:lnTo>
                  <a:pt x="7741878" y="1100030"/>
                </a:lnTo>
                <a:lnTo>
                  <a:pt x="0" y="110003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09178" y="5568287"/>
            <a:ext cx="49875" cy="933358"/>
          </a:xfrm>
          <a:custGeom>
            <a:avLst/>
            <a:gdLst/>
            <a:ahLst/>
            <a:cxnLst/>
            <a:rect l="l" t="t" r="r" b="b"/>
            <a:pathLst>
              <a:path w="33334" h="1100030">
                <a:moveTo>
                  <a:pt x="0" y="0"/>
                </a:moveTo>
                <a:lnTo>
                  <a:pt x="33334" y="0"/>
                </a:lnTo>
                <a:lnTo>
                  <a:pt x="33334" y="1100030"/>
                </a:lnTo>
                <a:lnTo>
                  <a:pt x="0" y="110003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6680" y="5646413"/>
            <a:ext cx="11184644" cy="197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Clinical Decision Support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80" y="6062078"/>
            <a:ext cx="11159706" cy="3869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Confidence-based outputs</a:t>
            </a:r>
            <a:r>
              <a:rPr lang="en-US" sz="130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assist medical professionals in assessing diagnostic certainty. High confidence scores (&gt;90%) indicate reliable predictions, while lower scores may warrant additional expert review.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59396" y="1166699"/>
            <a:ext cx="3500096" cy="3866772"/>
          </a:xfrm>
          <a:custGeom>
            <a:avLst/>
            <a:gdLst/>
            <a:ahLst/>
            <a:cxnLst/>
            <a:rect l="l" t="t" r="r" b="b"/>
            <a:pathLst>
              <a:path w="3500096" h="3866772">
                <a:moveTo>
                  <a:pt x="0" y="0"/>
                </a:moveTo>
                <a:lnTo>
                  <a:pt x="3500096" y="0"/>
                </a:lnTo>
                <a:lnTo>
                  <a:pt x="3500096" y="3866772"/>
                </a:lnTo>
                <a:lnTo>
                  <a:pt x="0" y="386677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559400" y="1366704"/>
            <a:ext cx="3200087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Prediction Examples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59400" y="1766617"/>
            <a:ext cx="3100085" cy="666685"/>
          </a:xfrm>
          <a:custGeom>
            <a:avLst/>
            <a:gdLst/>
            <a:ahLst/>
            <a:cxnLst/>
            <a:rect l="l" t="t" r="r" b="b"/>
            <a:pathLst>
              <a:path w="3100085" h="666685">
                <a:moveTo>
                  <a:pt x="0" y="0"/>
                </a:moveTo>
                <a:lnTo>
                  <a:pt x="3100085" y="0"/>
                </a:lnTo>
                <a:lnTo>
                  <a:pt x="3100085" y="666685"/>
                </a:lnTo>
                <a:lnTo>
                  <a:pt x="0" y="666685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692737" y="1916507"/>
            <a:ext cx="533348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Benign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214474" y="1899954"/>
            <a:ext cx="408344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97%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92737" y="2233183"/>
            <a:ext cx="2833411" cy="66668"/>
          </a:xfrm>
          <a:custGeom>
            <a:avLst/>
            <a:gdLst/>
            <a:ahLst/>
            <a:cxnLst/>
            <a:rect l="l" t="t" r="r" b="b"/>
            <a:pathLst>
              <a:path w="2833411" h="66668">
                <a:moveTo>
                  <a:pt x="0" y="0"/>
                </a:moveTo>
                <a:lnTo>
                  <a:pt x="2833411" y="0"/>
                </a:lnTo>
                <a:lnTo>
                  <a:pt x="2833411" y="66668"/>
                </a:lnTo>
                <a:lnTo>
                  <a:pt x="0" y="666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692737" y="2233183"/>
            <a:ext cx="2750075" cy="66668"/>
          </a:xfrm>
          <a:custGeom>
            <a:avLst/>
            <a:gdLst/>
            <a:ahLst/>
            <a:cxnLst/>
            <a:rect l="l" t="t" r="r" b="b"/>
            <a:pathLst>
              <a:path w="2750075" h="66668">
                <a:moveTo>
                  <a:pt x="0" y="0"/>
                </a:moveTo>
                <a:lnTo>
                  <a:pt x="2750075" y="0"/>
                </a:lnTo>
                <a:lnTo>
                  <a:pt x="2750075" y="66668"/>
                </a:lnTo>
                <a:lnTo>
                  <a:pt x="0" y="666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59400" y="2566525"/>
            <a:ext cx="3100085" cy="666685"/>
          </a:xfrm>
          <a:custGeom>
            <a:avLst/>
            <a:gdLst/>
            <a:ahLst/>
            <a:cxnLst/>
            <a:rect l="l" t="t" r="r" b="b"/>
            <a:pathLst>
              <a:path w="3100085" h="666685">
                <a:moveTo>
                  <a:pt x="0" y="0"/>
                </a:moveTo>
                <a:lnTo>
                  <a:pt x="3100085" y="0"/>
                </a:lnTo>
                <a:lnTo>
                  <a:pt x="3100085" y="666685"/>
                </a:lnTo>
                <a:lnTo>
                  <a:pt x="0" y="666685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692737" y="2716432"/>
            <a:ext cx="1141698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Pro-B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209057" y="2699862"/>
            <a:ext cx="416678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95%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92737" y="3033107"/>
            <a:ext cx="2833411" cy="66668"/>
          </a:xfrm>
          <a:custGeom>
            <a:avLst/>
            <a:gdLst/>
            <a:ahLst/>
            <a:cxnLst/>
            <a:rect l="l" t="t" r="r" b="b"/>
            <a:pathLst>
              <a:path w="2833411" h="66668">
                <a:moveTo>
                  <a:pt x="0" y="0"/>
                </a:moveTo>
                <a:lnTo>
                  <a:pt x="2833411" y="0"/>
                </a:lnTo>
                <a:lnTo>
                  <a:pt x="2833411" y="66668"/>
                </a:lnTo>
                <a:lnTo>
                  <a:pt x="0" y="666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692737" y="3033107"/>
            <a:ext cx="2691740" cy="66668"/>
          </a:xfrm>
          <a:custGeom>
            <a:avLst/>
            <a:gdLst/>
            <a:ahLst/>
            <a:cxnLst/>
            <a:rect l="l" t="t" r="r" b="b"/>
            <a:pathLst>
              <a:path w="2691740" h="66668">
                <a:moveTo>
                  <a:pt x="0" y="0"/>
                </a:moveTo>
                <a:lnTo>
                  <a:pt x="2691740" y="0"/>
                </a:lnTo>
                <a:lnTo>
                  <a:pt x="2691740" y="66668"/>
                </a:lnTo>
                <a:lnTo>
                  <a:pt x="0" y="666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559400" y="3366449"/>
            <a:ext cx="3100085" cy="666685"/>
          </a:xfrm>
          <a:custGeom>
            <a:avLst/>
            <a:gdLst/>
            <a:ahLst/>
            <a:cxnLst/>
            <a:rect l="l" t="t" r="r" b="b"/>
            <a:pathLst>
              <a:path w="3100085" h="666685">
                <a:moveTo>
                  <a:pt x="0" y="0"/>
                </a:moveTo>
                <a:lnTo>
                  <a:pt x="3100085" y="0"/>
                </a:lnTo>
                <a:lnTo>
                  <a:pt x="3100085" y="666685"/>
                </a:lnTo>
                <a:lnTo>
                  <a:pt x="0" y="666685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692737" y="3516356"/>
            <a:ext cx="1125031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Pre-B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04057" y="3499786"/>
            <a:ext cx="425012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96%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92737" y="3833031"/>
            <a:ext cx="2833411" cy="66668"/>
          </a:xfrm>
          <a:custGeom>
            <a:avLst/>
            <a:gdLst/>
            <a:ahLst/>
            <a:cxnLst/>
            <a:rect l="l" t="t" r="r" b="b"/>
            <a:pathLst>
              <a:path w="2833411" h="66668">
                <a:moveTo>
                  <a:pt x="0" y="0"/>
                </a:moveTo>
                <a:lnTo>
                  <a:pt x="2833411" y="0"/>
                </a:lnTo>
                <a:lnTo>
                  <a:pt x="2833411" y="66668"/>
                </a:lnTo>
                <a:lnTo>
                  <a:pt x="0" y="666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692737" y="3833031"/>
            <a:ext cx="2716741" cy="66668"/>
          </a:xfrm>
          <a:custGeom>
            <a:avLst/>
            <a:gdLst/>
            <a:ahLst/>
            <a:cxnLst/>
            <a:rect l="l" t="t" r="r" b="b"/>
            <a:pathLst>
              <a:path w="2716741" h="66668">
                <a:moveTo>
                  <a:pt x="0" y="0"/>
                </a:moveTo>
                <a:lnTo>
                  <a:pt x="2716741" y="0"/>
                </a:lnTo>
                <a:lnTo>
                  <a:pt x="2716741" y="66668"/>
                </a:lnTo>
                <a:lnTo>
                  <a:pt x="0" y="666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559400" y="4166374"/>
            <a:ext cx="3100085" cy="666685"/>
          </a:xfrm>
          <a:custGeom>
            <a:avLst/>
            <a:gdLst/>
            <a:ahLst/>
            <a:cxnLst/>
            <a:rect l="l" t="t" r="r" b="b"/>
            <a:pathLst>
              <a:path w="3100085" h="666685">
                <a:moveTo>
                  <a:pt x="0" y="0"/>
                </a:moveTo>
                <a:lnTo>
                  <a:pt x="3100085" y="0"/>
                </a:lnTo>
                <a:lnTo>
                  <a:pt x="3100085" y="666685"/>
                </a:lnTo>
                <a:lnTo>
                  <a:pt x="0" y="666685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692737" y="4316264"/>
            <a:ext cx="1491707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Malignant Early Pre-B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01139" y="4299711"/>
            <a:ext cx="425012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F9FAFB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98%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692737" y="4632939"/>
            <a:ext cx="2833411" cy="66668"/>
          </a:xfrm>
          <a:custGeom>
            <a:avLst/>
            <a:gdLst/>
            <a:ahLst/>
            <a:cxnLst/>
            <a:rect l="l" t="t" r="r" b="b"/>
            <a:pathLst>
              <a:path w="2833411" h="66668">
                <a:moveTo>
                  <a:pt x="0" y="0"/>
                </a:moveTo>
                <a:lnTo>
                  <a:pt x="2833411" y="0"/>
                </a:lnTo>
                <a:lnTo>
                  <a:pt x="2833411" y="66668"/>
                </a:lnTo>
                <a:lnTo>
                  <a:pt x="0" y="666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692737" y="4632939"/>
            <a:ext cx="2775076" cy="66668"/>
          </a:xfrm>
          <a:custGeom>
            <a:avLst/>
            <a:gdLst/>
            <a:ahLst/>
            <a:cxnLst/>
            <a:rect l="l" t="t" r="r" b="b"/>
            <a:pathLst>
              <a:path w="2775076" h="66668">
                <a:moveTo>
                  <a:pt x="0" y="0"/>
                </a:moveTo>
                <a:lnTo>
                  <a:pt x="2775076" y="0"/>
                </a:lnTo>
                <a:lnTo>
                  <a:pt x="2775076" y="66668"/>
                </a:lnTo>
                <a:lnTo>
                  <a:pt x="0" y="666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en-IN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043" y="2721707"/>
            <a:ext cx="2090078" cy="16877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5285" y="1281131"/>
            <a:ext cx="11430000" cy="1235151"/>
          </a:xfrm>
          <a:custGeom>
            <a:avLst/>
            <a:gdLst/>
            <a:ahLst/>
            <a:cxnLst/>
            <a:rect l="l" t="t" r="r" b="b"/>
            <a:pathLst>
              <a:path w="11430000" h="1466850">
                <a:moveTo>
                  <a:pt x="0" y="0"/>
                </a:moveTo>
                <a:lnTo>
                  <a:pt x="11430000" y="0"/>
                </a:lnTo>
                <a:lnTo>
                  <a:pt x="114300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3885" y="1395431"/>
            <a:ext cx="1108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Summary of Achievements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885" y="1852519"/>
            <a:ext cx="110585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This study presented an </a:t>
            </a:r>
            <a:r>
              <a:rPr lang="en-US" sz="135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efficient and accurate deep learning framework</a:t>
            </a:r>
            <a:r>
              <a:rPr lang="en-US" sz="135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for blood cancer classification using EfficientNet-B0. The proposed system successfully addresses the limitations of manual diagnosis while maintaining clinical applicability.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2761741"/>
            <a:ext cx="8892063" cy="2741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Key Contributions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4353" y="3224944"/>
            <a:ext cx="347347" cy="198119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2025" y="3262071"/>
            <a:ext cx="8073870" cy="457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Four-Class 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2025" y="3490671"/>
            <a:ext cx="8073870" cy="457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Successfully categorizes blood cells into four clinically significant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352" y="3805617"/>
            <a:ext cx="347347" cy="236219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2025" y="3833571"/>
            <a:ext cx="6838861" cy="457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High Accuracy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2025" y="4062171"/>
            <a:ext cx="6838861" cy="457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Achieved 98.92% validation accuracy with strong generalization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2025" y="4405071"/>
            <a:ext cx="6807986" cy="457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2025" y="4633671"/>
            <a:ext cx="6807986" cy="457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Effectively leveraged pretrained knowledge for medical imaging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2025" y="4869891"/>
            <a:ext cx="6128731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Computational Efficiency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2025" y="5205171"/>
            <a:ext cx="6128731" cy="457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Lightweight architecture suitable for clinical deployment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88620" y="5586171"/>
            <a:ext cx="11416665" cy="1097262"/>
          </a:xfrm>
          <a:custGeom>
            <a:avLst/>
            <a:gdLst/>
            <a:ahLst/>
            <a:cxnLst/>
            <a:rect l="l" t="t" r="r" b="b"/>
            <a:pathLst>
              <a:path w="11416665" h="1329690">
                <a:moveTo>
                  <a:pt x="0" y="0"/>
                </a:moveTo>
                <a:lnTo>
                  <a:pt x="11416665" y="0"/>
                </a:lnTo>
                <a:lnTo>
                  <a:pt x="11416665" y="1329690"/>
                </a:lnTo>
                <a:lnTo>
                  <a:pt x="0" y="132969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 w="203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34353" y="58799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170980" y="5639526"/>
            <a:ext cx="10544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Research Significance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70980" y="6020395"/>
            <a:ext cx="10515600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By minimizing human dependency and diagnostic variability, the proposed framework serves as a </a:t>
            </a:r>
            <a:r>
              <a:rPr lang="en-US" sz="1350" b="1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valuable decision-support tool</a:t>
            </a:r>
            <a:r>
              <a:rPr lang="en-US" sz="1350" dirty="0">
                <a:solidFill>
                  <a:srgbClr val="1F2937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 for hematologists and medical practitioners, with potential to improve diagnostic efficiency and accuracy in early leukemia detection.</a:t>
            </a:r>
            <a:endParaRPr lang="en-US" sz="1600" dirty="0"/>
          </a:p>
        </p:txBody>
      </p:sp>
      <p:sp>
        <p:nvSpPr>
          <p:cNvPr id="39" name="Shape 10"/>
          <p:cNvSpPr/>
          <p:nvPr/>
        </p:nvSpPr>
        <p:spPr>
          <a:xfrm>
            <a:off x="534353" y="4295158"/>
            <a:ext cx="347347" cy="236219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Shape 10"/>
          <p:cNvSpPr/>
          <p:nvPr/>
        </p:nvSpPr>
        <p:spPr>
          <a:xfrm>
            <a:off x="534353" y="4849288"/>
            <a:ext cx="347347" cy="236219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anose="02000506080000020003" pitchFamily="34" charset="0"/>
              </a:rPr>
              <a:t>Accepted Journals</a:t>
            </a:r>
            <a:endParaRPr lang="en-US" sz="1600" dirty="0"/>
          </a:p>
        </p:txBody>
      </p:sp>
      <p:sp>
        <p:nvSpPr>
          <p:cNvPr id="4" name="Shape 15"/>
          <p:cNvSpPr/>
          <p:nvPr/>
        </p:nvSpPr>
        <p:spPr>
          <a:xfrm>
            <a:off x="1339183" y="1614324"/>
            <a:ext cx="8112389" cy="3406563"/>
          </a:xfrm>
          <a:custGeom>
            <a:avLst/>
            <a:gdLst/>
            <a:ahLst/>
            <a:cxnLst/>
            <a:rect l="l" t="t" r="r" b="b"/>
            <a:pathLst>
              <a:path w="7741878" h="1100030">
                <a:moveTo>
                  <a:pt x="0" y="0"/>
                </a:moveTo>
                <a:lnTo>
                  <a:pt x="7741878" y="0"/>
                </a:lnTo>
                <a:lnTo>
                  <a:pt x="7741878" y="1100030"/>
                </a:lnTo>
                <a:lnTo>
                  <a:pt x="0" y="110003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760219" y="1969669"/>
            <a:ext cx="63197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i="0" dirty="0">
                <a:solidFill>
                  <a:srgbClr val="212121"/>
                </a:solidFill>
                <a:effectLst/>
                <a:latin typeface="Sorts Mill Goudy" panose="02000503000000000000" pitchFamily="34" charset="0"/>
              </a:rPr>
              <a:t>IJISRT (International Journal of Innovative Science and Research Technology) </a:t>
            </a:r>
            <a:endParaRPr lang="en-US" sz="1500" b="1" i="0" dirty="0">
              <a:solidFill>
                <a:srgbClr val="212121"/>
              </a:solidFill>
              <a:effectLst/>
              <a:latin typeface="Sorts Mill Goudy" panose="02000503000000000000" pitchFamily="34" charset="0"/>
            </a:endParaRPr>
          </a:p>
          <a:p>
            <a:endParaRPr lang="en-US" sz="1500" b="1" i="0" dirty="0">
              <a:solidFill>
                <a:srgbClr val="212121"/>
              </a:solidFill>
              <a:effectLst/>
              <a:latin typeface="Sorts Mill Goudy" panose="02000503000000000000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Sorts Mill Goudy" panose="02000503000000000000" pitchFamily="34" charset="0"/>
              </a:rPr>
              <a:t>Tuijin Jishu/Journal of Propulsion Technology</a:t>
            </a:r>
            <a:endParaRPr lang="en-US" sz="1500" b="1" dirty="0">
              <a:latin typeface="Sorts Mill Goudy" panose="02000503000000000000" pitchFamily="34" charset="0"/>
            </a:endParaRPr>
          </a:p>
          <a:p>
            <a:endParaRPr lang="en-US" sz="1500" b="1" dirty="0">
              <a:latin typeface="Sorts Mill Goudy" panose="02000503000000000000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i="0" dirty="0">
                <a:solidFill>
                  <a:srgbClr val="212121"/>
                </a:solidFill>
                <a:effectLst/>
                <a:latin typeface="Sorts Mill Goudy" panose="02000503000000000000" pitchFamily="34" charset="0"/>
              </a:rPr>
              <a:t>ICANITS ( 1</a:t>
            </a:r>
            <a:r>
              <a:rPr lang="en-US" sz="1500" b="1" i="0" baseline="30000" dirty="0">
                <a:solidFill>
                  <a:srgbClr val="212121"/>
                </a:solidFill>
                <a:effectLst/>
                <a:latin typeface="Sorts Mill Goudy" panose="02000503000000000000" pitchFamily="34" charset="0"/>
              </a:rPr>
              <a:t>st</a:t>
            </a:r>
            <a:r>
              <a:rPr lang="en-US" sz="1500" b="1" i="0" dirty="0">
                <a:solidFill>
                  <a:srgbClr val="212121"/>
                </a:solidFill>
                <a:effectLst/>
                <a:latin typeface="Sorts Mill Goudy" panose="02000503000000000000" pitchFamily="34" charset="0"/>
              </a:rPr>
              <a:t> International Conference on Advances in Networkin</a:t>
            </a:r>
            <a:r>
              <a:rPr lang="en-US" sz="1500" b="1" dirty="0">
                <a:solidFill>
                  <a:srgbClr val="212121"/>
                </a:solidFill>
                <a:latin typeface="Sorts Mill Goudy" panose="02000503000000000000" pitchFamily="34" charset="0"/>
              </a:rPr>
              <a:t>g, Intelligence and Technological  Systems</a:t>
            </a:r>
            <a:r>
              <a:rPr lang="en-US" sz="1500" b="1" i="0" dirty="0">
                <a:solidFill>
                  <a:srgbClr val="212121"/>
                </a:solidFill>
                <a:effectLst/>
                <a:latin typeface="Sorts Mill Goudy" panose="02000503000000000000" pitchFamily="34" charset="0"/>
              </a:rPr>
              <a:t>)</a:t>
            </a:r>
            <a:endParaRPr lang="en-US" sz="1500" b="1" i="0" dirty="0">
              <a:solidFill>
                <a:srgbClr val="212121"/>
              </a:solidFill>
              <a:effectLst/>
              <a:latin typeface="Sorts Mill Goudy" panose="02000503000000000000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b="1" dirty="0">
              <a:latin typeface="Sorts Mill Goudy" panose="02000503000000000000" pitchFamily="34" charset="0"/>
            </a:endParaRPr>
          </a:p>
        </p:txBody>
      </p:sp>
      <p:sp>
        <p:nvSpPr>
          <p:cNvPr id="9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8B00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13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0000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8B0000">
                  <a:alpha val="500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165753" y="3595536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537238" y="2478252"/>
            <a:ext cx="4476231" cy="1265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1F293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65753" y="2367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65123" y="4078410"/>
            <a:ext cx="3143250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83800" y="5008959"/>
            <a:ext cx="6619875" cy="1076325"/>
          </a:xfrm>
          <a:custGeom>
            <a:avLst/>
            <a:gdLst/>
            <a:ahLst/>
            <a:cxnLst/>
            <a:rect l="l" t="t" r="r" b="b"/>
            <a:pathLst>
              <a:path w="6619875" h="1076325">
                <a:moveTo>
                  <a:pt x="0" y="0"/>
                </a:moveTo>
                <a:lnTo>
                  <a:pt x="6619875" y="0"/>
                </a:lnTo>
                <a:lnTo>
                  <a:pt x="66198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17175" y="5237559"/>
            <a:ext cx="5953125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Blood Cell Cancer Classification Using EfficientNet-B0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9FAFB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Deep Learning Approach for Acute Lymphoblastic Leukemia Detection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24388</Words>
  <Application>WPS Presentation</Application>
  <PresentationFormat>Widescreen</PresentationFormat>
  <Paragraphs>1317</Paragraphs>
  <Slides>30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2" baseType="lpstr">
      <vt:lpstr>Arial</vt:lpstr>
      <vt:lpstr>SimSun</vt:lpstr>
      <vt:lpstr>Wingdings</vt:lpstr>
      <vt:lpstr>Oranienbaum</vt:lpstr>
      <vt:lpstr>Oranienbaum</vt:lpstr>
      <vt:lpstr>Oranienbaum</vt:lpstr>
      <vt:lpstr>Sorts Mill Goudy</vt:lpstr>
      <vt:lpstr>Sorts Mill Goudy</vt:lpstr>
      <vt:lpstr>Sorts Mill Goudy</vt:lpstr>
      <vt:lpstr>Times New Roman</vt:lpstr>
      <vt:lpstr>Quattrocento Sans</vt:lpstr>
      <vt:lpstr>Quattrocento Sans</vt:lpstr>
      <vt:lpstr>Quattrocento Sans</vt:lpstr>
      <vt:lpstr>Calibri</vt:lpstr>
      <vt:lpstr>Microsoft YaHei</vt:lpstr>
      <vt:lpstr>Arial Unicode MS</vt:lpstr>
      <vt:lpstr>Noto Sans SC</vt:lpstr>
      <vt:lpstr>Noto Sans SC</vt:lpstr>
      <vt:lpstr>MiSans</vt:lpstr>
      <vt:lpstr>MiSans</vt:lpstr>
      <vt:lpstr>Microsoft YaHei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Cell Cancer Classification Using EfficientNet-B0</dc:title>
  <dc:creator>Kimi</dc:creator>
  <dc:subject>Blood Cell Cancer Classification Using EfficientNet-B0</dc:subject>
  <cp:lastModifiedBy>Kanumuri Mamatha</cp:lastModifiedBy>
  <cp:revision>11</cp:revision>
  <dcterms:created xsi:type="dcterms:W3CDTF">2026-03-24T04:16:00Z</dcterms:created>
  <dcterms:modified xsi:type="dcterms:W3CDTF">2026-07-01T05:18:56Z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{"Label":"Blood Cell Cancer Classification Using EfficientNet-B0","ContentProducer":"001191110108MACG2KBH8F10000","ProduceID":"19d1dfde-90c2-87b4-8000-0000f975910e","ReservedCode1":"","ContentPropagator":"001191110108MACG2KBH8F20000","PropagateID":"19d1dfde-90c2-87b4-8000-0000f975910e","ReservedCode2":""}</vt:lpwstr>
  </property>
  <property fmtid="{D5CDD505-2E9C-101B-9397-08002B2CF9AE}" pid="3" name="ICV">
    <vt:lpwstr>738CAA728AA249FD907E00243A9B7381_12</vt:lpwstr>
  </property>
  <property fmtid="{D5CDD505-2E9C-101B-9397-08002B2CF9AE}" pid="4" name="KSOProductBuildVer">
    <vt:lpwstr>1033-12.1.0.26880</vt:lpwstr>
  </property>
</Properties>
</file>